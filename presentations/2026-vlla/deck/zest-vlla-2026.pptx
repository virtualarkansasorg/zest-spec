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1" Type="http://schemas.openxmlformats.org/officeDocument/2006/relationships/slide" Target="slides/slide17.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a:p/>
          <a:p>
            <a:r>
              <a:t>[Kyle: add a photo in the circle, and update anything that's changed.]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Keep your hand up if you've figured out how to grade them.</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3:00)</a:t>
            </a:r>
          </a:p>
          <a:p/>
          <a:p>
            <a:r>
              <a:t>Here's one sentence a teacher could type. (Read it.)</a:t>
            </a:r>
          </a:p>
          <a:p/>
          <a:p>
            <a:r>
              <a:t>That's the whole prompt. The activity on the left is what came out: students predict a launch angle, fire, and see where it lands. The teacher sets the target distances. It's auto-graded.</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6:00)</a:t>
            </a:r>
          </a:p>
          <a:p/>
          <a:p>
            <a:r>
              <a:t>PLAY THE BUILD RECORDING. It's sped up; talk over it.</a:t>
            </a:r>
          </a:p>
          <a:p/>
          <a:p>
            <a:r>
              <a:t>- This is Claude Code with our zest-creator template. The teacher types /zest-new and the sentence you just saw.</a:t>
            </a:r>
          </a:p>
          <a:p>
            <a:r>
              <a:t>- It asks a few plain questions. Graded or not? Should it save progress? What should the teacher be able to change?</a:t>
            </a:r>
          </a:p>
          <a:p>
            <a:r>
              <a:t>- Then it builds the activity. This part is sped up a lot.</a:t>
            </a:r>
          </a:p>
          <a:p>
            <a:r>
              <a:t>- /zest-build checks the package and makes a .zest file.</a:t>
            </a:r>
          </a:p>
          <a:p>
            <a:r>
              <a:t>- (If the recording includes it) The file gets uploaded in Canvas and a student plays it.</a:t>
            </a:r>
          </a:p>
          <a:p/>
          <a:p>
            <a:r>
              <a:t>Notice there's no code on screen that the teacher has to read. They describe it, answer a few questions, and test it.</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7:15)</a:t>
            </a:r>
          </a:p>
          <a:p/>
          <a:p>
            <a:r>
              <a:t>So what's the catch? An interactive on its own is just a web page.</a:t>
            </a:r>
          </a:p>
          <a:p/>
          <a:p>
            <a:r>
              <a:t>- There's no grade in the gradebook. Somebody has to copy scores over, or it just doesn't count.</a:t>
            </a:r>
          </a:p>
          <a:p>
            <a:r>
              <a:t>- There's no record of what the student did. The teacher can't see the work.</a:t>
            </a:r>
          </a:p>
          <a:p>
            <a:r>
              <a:t>- And it's usually another login, or another vendor with another contract.</a:t>
            </a:r>
          </a:p>
          <a:p/>
          <a:p>
            <a:r>
              <a:t>That's the problem Zest solves.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9:00)</a:t>
            </a:r>
          </a:p>
          <a:p/>
          <a:p>
            <a:r>
              <a:t>Zest is an LTI 1.3 tool we built at Virtual Arkansas. It runs on our own server and plugs into Canvas.</a:t>
            </a:r>
          </a:p>
          <a:p/>
          <a:p>
            <a:r>
              <a:t>Walk the three boxes:</a:t>
            </a:r>
          </a:p>
          <a:p>
            <a:r>
              <a:t>1. In Canvas, the teacher clicks Embed Interactive Content in the editor and uploads or picks a zest.</a:t>
            </a:r>
          </a:p>
          <a:p>
            <a:r>
              <a:t>2. Zest runs the activity. It can be a graded assignment, auto-graded or teacher-graded, or just a live element on a page.</a:t>
            </a:r>
          </a:p>
          <a:p>
            <a:r>
              <a:t>3. The grade goes to the gradebook, and the teacher sees the student's actual work in SpeedGrader.</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10:00)</a:t>
            </a:r>
          </a:p>
          <a:p/>
          <a:p>
            <a:r>
              <a:t>How it started. We needed coding tools for our computer science courses, and the system we had was expensive. So we built our own.</a:t>
            </a:r>
          </a:p>
          <a:p/>
          <a:p>
            <a:r>
              <a:t>Then we added our keyboarding class, which is what I'm about to show you.</a:t>
            </a:r>
          </a:p>
          <a:p/>
          <a:p>
            <a:r>
              <a:t>And now we're going to keep adding more. Anything that runs in a browser can be a zest.</a:t>
            </a:r>
          </a:p>
          <a:p/>
          <a:p>
            <a:r>
              <a:t>[Kyle: the session title says "From PhET to Keyboarding". If you want, mention where PhET-style simulations fit here.]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13:00)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This is the package's own review page, so you see what the student actually typed.</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14:00)</a:t>
            </a:r>
          </a:p>
          <a:p/>
          <a:p>
            <a:r>
              <a:t>- Each course can set up the same zest differently. For keyboarding, that's a different passage.</a:t>
            </a:r>
          </a:p>
          <a:p>
            <a:r>
              <a:t>- When we found a bug, we fixed the package once and updated every copy at once. No broken links, and no student lost any work.</a:t>
            </a:r>
          </a:p>
          <a:p>
            <a:r>
              <a:t>- It works on managed Chromebooks that block third-party cookies. That one took some doing.</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14:20)</a:t>
            </a:r>
          </a:p>
          <a:p/>
          <a:p>
            <a:r>
              <a:t>So what else can you make? Every one of these came from a prompt, the same way you saw in the recording. They're on my sandbox. The next four slides have QR codes, so try them on your phone while I talk. On a phone they open in a preview mode, so nothing gets saved.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1:10 (clock 15:30)</a:t>
            </a:r>
          </a:p>
          <a:p/>
          <a:p>
            <a:r>
              <a:t>Launch Lab. Physics.</a:t>
            </a:r>
          </a:p>
          <a:p/>
          <a:p>
            <a:r>
              <a:t>The prompt is on the slide. Students lock in a predicted angle, then take one scored launch. After that they can take practice shots. A lot of them discover that two different angles hit the same target, which is a nice conversation starter.</a:t>
            </a:r>
          </a:p>
          <a:p/>
          <a:p>
            <a:r>
              <a:t>The teacher sets the target distances, the launch speed and how close counts as a hit. It's auto-graded. In SpeedGrader the teacher sees every scored shot drawn on one field.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1:10 (clock 16:40)</a:t>
            </a:r>
          </a:p>
          <a:p/>
          <a:p>
            <a:r>
              <a:t>Graph Match. Algebra 2.</a:t>
            </a:r>
          </a:p>
          <a:p/>
          <a:p>
            <a:r>
              <a:t>Students move a, h and k until their curve covers the target. The equation updates as they go.</a:t>
            </a:r>
          </a:p>
          <a:p/>
          <a:p>
            <a:r>
              <a:t>The part I want you to notice: the teacher picks the target functions on a settings page. The AI built that settings page too, from "I want to pick the target functions myself." One package, set up differently for each class.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1:10 (clock 17:50)</a:t>
            </a:r>
          </a:p>
          <a:p/>
          <a:p>
            <a:r>
              <a:t>Sketch and Label. Life science. This one is teacher-graded.</a:t>
            </a:r>
          </a:p>
          <a:p/>
          <a:p>
            <a:r>
              <a:t>Students draw arrows and write labels right on a plant cell, then explain what the chloroplast does.</a:t>
            </a:r>
          </a:p>
          <a:p/>
          <a:p>
            <a:r>
              <a:t>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1:10 (clock 19:00)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SpeedGrader shows a timeline of every wrong try and hint, so you can see where a student got stuck.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19:45)</a:t>
            </a:r>
          </a:p>
          <a:p/>
          <a:p>
            <a:r>
              <a:t>Why build it ourselves instead of buying something?</a:t>
            </a:r>
          </a:p>
          <a:p/>
          <a:p>
            <a:r>
              <a:t>- We needed the grades and the student's work inside Canvas, not in another tool.</a:t>
            </a:r>
          </a:p>
          <a:p>
            <a:r>
              <a:t>- Student data stays on our server.</a:t>
            </a:r>
          </a:p>
          <a:p>
            <a:r>
              <a:t>- No per-seat license.</a:t>
            </a:r>
          </a:p>
          <a:p>
            <a:r>
              <a:t>- We already had content that needed a home.</a:t>
            </a:r>
          </a:p>
          <a:p/>
          <a:p>
            <a:r>
              <a:t>[Kyle: replace with your real reasons.]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21:15)</a:t>
            </a:r>
          </a:p>
          <a:p/>
          <a:p>
            <a:r>
              <a:t>This is the part I want you to take home.</a:t>
            </a:r>
          </a:p>
          <a:p/>
          <a:p>
            <a:r>
              <a:t>A zest is one file. Any program running Zest can upload it, and grading and review work the same way on their server. Your keyboarding activity can be my keyboarding activity.</a:t>
            </a:r>
          </a:p>
          <a:p/>
          <a:p>
            <a:r>
              <a:t>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[Kyle: decide whether to show the GitHub links for zest-spec and zest-creator.]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22:00)</a:t>
            </a:r>
          </a:p>
          <a:p/>
          <a:p>
            <a:r>
              <a:t>It wasn't all easy.</a:t>
            </a:r>
          </a:p>
          <a:p/>
          <a:p>
            <a:r>
              <a:t>- LTI and Canvas integration was most of the work. Again.</a:t>
            </a:r>
          </a:p>
          <a:p>
            <a:r>
              <a:t>- Canvas silently blocks pop-up alerts inside assignments, and assignment frames can't resize. Every zest has to be built around that.</a:t>
            </a:r>
          </a:p>
          <a:p>
            <a:r>
              <a:t>- Managed Chromebooks block third-party cookies, so launches had to work without them.</a:t>
            </a:r>
          </a:p>
          <a:p>
            <a:r>
              <a:t>- Rule number one was never lose student work. We test every change with fake teachers, students and admins going through real launches.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23:15)</a:t>
            </a:r>
          </a:p>
          <a:p/>
          <a:p>
            <a:r>
              <a:t>The fair question: can you trust what the AI made?</a:t>
            </a:r>
          </a:p>
          <a:p/>
          <a:p>
            <a:r>
              <a:t>- Every package gets checked when it's built, and a separate review looks for anything that sends data out or tracks students.</a:t>
            </a:r>
          </a:p>
          <a:p>
            <a:r>
              <a:t>- Zest runs every package in a sandbox, with permissions off by default.</a:t>
            </a:r>
          </a:p>
          <a:p>
            <a:r>
              <a:t>- But somebody still has to test it as a student, and a subject expert should check the content. AI can get a fact or an answer key wrong.</a:t>
            </a:r>
          </a:p>
          <a:p>
            <a:r>
              <a:t>- Auto-graded scores are calculated in the browser. A student who knows what they're doing could fake one. For anything high stakes, use teacher grading.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24:00)</a:t>
            </a:r>
          </a:p>
          <a:p/>
          <a:p>
            <a:r>
              <a:t>What's next:</a:t>
            </a:r>
          </a:p>
          <a:p>
            <a:r>
              <a:t>- We're releasing the server code under the MIT license.</a:t>
            </a:r>
          </a:p>
          <a:p>
            <a:r>
              <a:t>- Next security step: serving packages from a separate domain.</a:t>
            </a:r>
          </a:p>
          <a:p>
            <a:r>
              <a:t>- An accessibility review. I'm not claiming WCAG conformance yet.</a:t>
            </a:r>
          </a:p>
          <a:p>
            <a:r>
              <a:t>- Other LMSs. We've done the research on Brightspace, Schoology and Buzz, but Canvas is the only one today.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24:45)</a:t>
            </a:r>
          </a:p>
          <a:p/>
          <a:p>
            <a:r>
              <a:t>If you want the code when it's released, scan this and fill out the form. And if you build zests, I want to trade.</a:t>
            </a:r>
          </a:p>
          <a:p/>
          <a:p>
            <a:r>
              <a:t>Thank you for your time.</a:t>
            </a:r>
          </a:p>
          <a:p/>
          <a:p>
            <a:r>
              <a:t>[FORM URL PLACEHOLDER: replace the QR box with the real QR code.]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(clock 30:00). Leave the QR code up.</a:t>
            </a:r>
          </a:p>
          <a:p/>
          <a:p>
            <a:r>
              <a:t>LIKELY QUESTIONS, SHORT ANSWERS</a:t>
            </a:r>
          </a:p>
          <a:p/>
          <a:p>
            <a:r>
              <a:t>What does Claude Code cost?</a:t>
            </a:r>
          </a:p>
          <a:p>
            <a:r>
              <a:t>It needs a paid Claude plan. Check current pricing; it's a per-person subscription, not per student.</a:t>
            </a:r>
          </a:p>
          <a:p/>
          <a:p>
            <a:r>
              <a:t>Does student data go to the AI?</a:t>
            </a:r>
          </a:p>
          <a:p>
            <a:r>
              <a:t>No. The AI only sees what the teacher types while building the activity. The Zest server has no AI in it and doesn't send student work anywhere.</a:t>
            </a:r>
          </a:p>
          <a:p/>
          <a:p>
            <a:r>
              <a:t>Who checks what the AI builds? Can it be wrong?</a:t>
            </a:r>
          </a:p>
          <a:p>
            <a:r>
              <a:t>Yes, it can be wrong. The build checks and the security review catch technical problems. A teacher tests it as a student, and a subject expert checks the content, same as any material we'd put in a course.</a:t>
            </a:r>
          </a:p>
          <a:p/>
          <a:p>
            <a:r>
              <a:t>Hosting and cost?</a:t>
            </a:r>
          </a:p>
          <a:p>
            <a:r>
              <a:t>It runs on your own server (Docker and PostgreSQL), with encrypted nightly backups. No per-seat license.</a:t>
            </a:r>
          </a:p>
          <a:p/>
          <a:p>
            <a:r>
              <a:t>Can we share zests with you, or use yours?</a:t>
            </a:r>
          </a:p>
          <a:p>
            <a:r>
              <a:t>Yes. That's the point of the spec. A zest built for one Zest server runs on any other.</a:t>
            </a:r>
          </a:p>
          <a:p/>
          <a:p>
            <a:r>
              <a:t>Other LMSs?</a:t>
            </a:r>
          </a:p>
          <a:p>
            <a:r>
              <a:t>Canvas only for now. We've researched Brightspace, Schoology and Buzz.</a:t>
            </a:r>
          </a:p>
          <a:p/>
          <a:p>
            <a:r>
              <a:t>Accessibility?</a:t>
            </a:r>
          </a:p>
          <a:p>
            <a:r>
              <a:t>A review is planned. Zests are plain HTML, so they can be built accessibly, but I'm not claiming conformance yet.</a:t>
            </a:r>
          </a:p>
          <a:p/>
          <a:p>
            <a:r>
              <a:t>Can students cheat on auto-graded ones?</a:t>
            </a:r>
          </a:p>
          <a:p>
            <a:r>
              <a:t>Scores are calculated in the browser, so a determined student could. Use teacher grading for high stakes.</a:t>
            </a:r>
          </a:p>
          <a:p/>
          <a:p>
            <a:r>
              <a:t>Can we upload any zest someone sends us?</a:t>
            </a:r>
          </a:p>
          <a:p>
            <a:r>
              <a:t>Only upload packages you trust for now. Packages run on the same domain as the tool; a separate domain is the next security step.</a:t>
            </a:r>
          </a:p>
          <a:p/>
          <a:p>
            <a:r>
              <a:t>Support?</a:t>
            </a:r>
          </a:p>
          <a:p>
            <a:r>
              <a:t>[Kyle: your answer.]</a:t>
            </a:r>
          </a:p>
          <a:p/>
          <a:p>
            <a:r>
              <a:t>When does the server code come out?</a:t>
            </a:r>
          </a:p>
          <a:p>
            <a:r>
              <a:t>[Kyle: your answer.] Fill out the form and I'll let you know.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
        <p:nvSpPr>
          <p:cNvPr id="557" name="Oval 556"/>
          <p:cNvSpPr/>
          <p:nvPr/>
        </p:nvSpPr>
        <p:spPr>
          <a:xfrm>
            <a:off x="5486400" y="822960"/>
            <a:ext cx="2377440" cy="2377440"/>
          </a:xfrm>
          <a:prstGeom prst="ellipse">
            <a:avLst/>
          </a:prstGeom>
          <a:solidFill>
            <a:srgbClr val="EEEEEE"/>
          </a:solidFill>
          <a:ln w="19050">
            <a:solidFill>
              <a:srgbClr val="25AE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05F5E"/>
                </a:solidFill>
                <a:latin typeface="Roboto"/>
              </a:rPr>
              <a:t>Your photo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launch-lab-phone.png"/>
          <p:cNvPicPr>
            <a:picLocks noChangeAspect="1"/>
          </p:cNvPicPr>
          <p:nvPr/>
        </p:nvPicPr>
        <p:blipFill>
          <a:blip r:embed="rId2"/>
          <a:stretch>
            <a:fillRect/>
          </a:stretch>
        </p:blipFill>
        <p:spPr>
          <a:xfrm>
            <a:off x="1531273" y="649224"/>
            <a:ext cx="1774629" cy="3840480"/>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2194560"/>
          </a:xfrm>
          <a:prstGeom prst="rect">
            <a:avLst/>
          </a:prstGeom>
          <a:noFill/>
        </p:spPr>
        <p:txBody>
          <a:bodyPr wrap="square" anchor="t" lIns="0" rIns="0" tIns="0" bIns="0">
            <a:spAutoFit/>
          </a:bodyPr>
          <a:lstStyle/>
          <a:p>
            <a:pPr algn="l">
              <a:spcAft>
                <a:spcPts val="1400"/>
              </a:spcAft>
            </a:pPr>
            <a:r>
              <a:rPr sz="1600" b="0" i="1">
                <a:solidFill>
                  <a:srgbClr val="FFFFFF"/>
                </a:solidFill>
                <a:latin typeface="Roboto"/>
              </a:rPr>
              <a:t>“Make a projectile motion lab where students predict the launch angle to hit a target, auto-graded, with the target distance set by the teacher.”</a:t>
            </a:r>
          </a:p>
          <a:p>
            <a:pPr algn="l">
              <a:spcAft>
                <a:spcPts val="0"/>
              </a:spcAft>
            </a:pPr>
            <a:r>
              <a:rPr sz="1200" b="0" i="0">
                <a:solidFill>
                  <a:srgbClr val="FFFFFF"/>
                </a:solidFill>
                <a:latin typeface="Roboto"/>
              </a:rPr>
              <a:t>That is all the teacher typed.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sp>
        <p:nvSpPr>
          <p:cNvPr id="570" name="Rounded Rectangle 569"/>
          <p:cNvSpPr/>
          <p:nvPr/>
        </p:nvSpPr>
        <p:spPr>
          <a:xfrm>
            <a:off x="1097280" y="914400"/>
            <a:ext cx="6949440" cy="3749039"/>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Build recording (video goes here)</a:t>
            </a:r>
          </a:p>
        </p:txBody>
      </p:sp>
      <p:sp>
        <p:nvSpPr>
          <p:cNvPr id="571" name="TextBox 570"/>
          <p:cNvSpPr txBox="1"/>
          <p:nvPr/>
        </p:nvSpPr>
        <p:spPr>
          <a:xfrm>
            <a:off x="6583680" y="365760"/>
            <a:ext cx="21031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338328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2200"/>
              </a:spcAft>
            </a:pPr>
            <a:r>
              <a:rPr sz="1400" b="0" i="0">
                <a:solidFill>
                  <a:srgbClr val="605F5E"/>
                </a:solidFill>
                <a:latin typeface="Roboto"/>
              </a:rPr>
              <a:t>Someone copies scores by hand, or it does not count</a:t>
            </a:r>
          </a:p>
          <a:p>
            <a:pPr algn="l">
              <a:spcAft>
                <a:spcPts val="300"/>
              </a:spcAft>
            </a:pPr>
            <a:r>
              <a:rPr sz="2300" b="1" i="0">
                <a:solidFill>
                  <a:srgbClr val="605F5E"/>
                </a:solidFill>
                <a:latin typeface="League Spartan"/>
              </a:rPr>
              <a:t>No record of the work</a:t>
            </a:r>
          </a:p>
          <a:p>
            <a:pPr algn="l">
              <a:spcAft>
                <a:spcPts val="2200"/>
              </a:spcAft>
            </a:pPr>
            <a:r>
              <a:rPr sz="1400" b="0" i="0">
                <a:solidFill>
                  <a:srgbClr val="605F5E"/>
                </a:solidFill>
                <a:latin typeface="Roboto"/>
              </a:rPr>
              <a:t>The teacher cannot see what the student did</a:t>
            </a:r>
          </a:p>
          <a:p>
            <a:pPr algn="l">
              <a:spcAft>
                <a:spcPts val="300"/>
              </a:spcAft>
            </a:pPr>
            <a:r>
              <a:rPr sz="2300" b="1" i="0">
                <a:solidFill>
                  <a:srgbClr val="605F5E"/>
                </a:solidFill>
                <a:latin typeface="League Spartan"/>
              </a:rPr>
              <a:t>Another login</a:t>
            </a:r>
          </a:p>
          <a:p>
            <a:pPr algn="l">
              <a:spcAft>
                <a:spcPts val="0"/>
              </a:spcAft>
            </a:pPr>
            <a:r>
              <a:rPr sz="1400" b="0" i="0">
                <a:solidFill>
                  <a:srgbClr val="605F5E"/>
                </a:solidFill>
                <a:latin typeface="Roboto"/>
              </a:rPr>
              <a:t>Or another vendor, with another contract</a:t>
            </a:r>
          </a:p>
        </p:txBody>
      </p:sp>
      <p:sp>
        <p:nvSpPr>
          <p:cNvPr id="207" name="TextBox 206"/>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So What's the Catch?</a:t>
            </a:r>
          </a:p>
        </p:txBody>
      </p:sp>
      <p:sp>
        <p:nvSpPr>
          <p:cNvPr id="208" name="TextBox 207"/>
          <p:cNvSpPr txBox="1"/>
          <p:nvPr/>
        </p:nvSpPr>
        <p:spPr>
          <a:xfrm>
            <a:off x="5486400" y="1920240"/>
            <a:ext cx="3017520" cy="109728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An interactive on its own is just a web page.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work shows in SpeedGrader</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We built Zest for our own courses first, one need at a time.</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what the student typed</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600"/>
              </a:spcAft>
            </a:pPr>
            <a:r>
              <a:rPr sz="1000" b="0" i="0">
                <a:solidFill>
                  <a:srgbClr val="605F5E"/>
                </a:solidFill>
                <a:latin typeface="Roboto"/>
              </a:rPr>
              <a:t>Physics</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600"/>
              </a:spcAft>
            </a:pPr>
            <a:r>
              <a:rPr sz="1000" b="0" i="0">
                <a:solidFill>
                  <a:srgbClr val="605F5E"/>
                </a:solidFill>
                <a:latin typeface="Roboto"/>
              </a:rPr>
              <a:t>Algebra 2</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600"/>
              </a:spcAft>
            </a:pPr>
            <a:r>
              <a:rPr sz="1000" b="0" i="0">
                <a:solidFill>
                  <a:srgbClr val="605F5E"/>
                </a:solidFill>
                <a:latin typeface="Roboto"/>
              </a:rPr>
              <a:t>Life Science</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600"/>
              </a:spcAft>
            </a:pPr>
            <a:r>
              <a:rPr sz="1000" b="0" i="0">
                <a:solidFill>
                  <a:srgbClr val="605F5E"/>
                </a:solidFill>
                <a:latin typeface="Roboto"/>
              </a:rPr>
              <a:t>U.S. History</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74319" y="965477"/>
            <a:ext cx="4114800" cy="2732484"/>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The teacher sets the targets. SpeedGrader shows every shot.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74319" y="965477"/>
            <a:ext cx="4114800" cy="2732484"/>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The AI also built the settings page where the teacher picks the targets.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74319" y="965477"/>
            <a:ext cx="4114800" cy="2732484"/>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In SpeedGrader you can replay the drawing stroke by stroke.</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74319" y="965477"/>
            <a:ext cx="4114800" cy="2732484"/>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SpeedGrader shows every wrong try and hint on a timeline.</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4"/>
          <p:cNvSpPr/>
          <p:nvPr/>
        </p:nvSpPr>
        <p:spPr>
          <a:xfrm>
            <a:off x="0" y="4186673"/>
            <a:ext cx="9144000" cy="957000"/>
          </a:xfrm>
          <a:prstGeom prst="rect">
            <a:avLst/>
          </a:pr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24" name="Google Shape;324;p44"/>
          <p:cNvSpPr/>
          <p:nvPr/>
        </p:nvSpPr>
        <p:spPr>
          <a:xfrm>
            <a:off x="0" y="1942211"/>
            <a:ext cx="9144000" cy="22446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28" name="Google Shape;328;p44"/>
          <p:cNvPicPr preferRelativeResize="0"/>
          <p:nvPr/>
        </p:nvPicPr>
        <p:blipFill rotWithShape="1">
          <a:blip r:embed="rId3">
            <a:alphaModFix/>
          </a:blip>
          <a:srcRect b="0" l="0" r="0" t="0"/>
          <a:stretch/>
        </p:blipFill>
        <p:spPr>
          <a:xfrm rot="-5400000">
            <a:off x="8155279" y="0"/>
            <a:ext cx="988721" cy="988721"/>
          </a:xfrm>
          <a:prstGeom prst="rect">
            <a:avLst/>
          </a:prstGeom>
          <a:noFill/>
          <a:ln>
            <a:noFill/>
          </a:ln>
        </p:spPr>
      </p:pic>
      <p:pic>
        <p:nvPicPr>
          <p:cNvPr id="329" name="Google Shape;329;p44"/>
          <p:cNvPicPr preferRelativeResize="0"/>
          <p:nvPr/>
        </p:nvPicPr>
        <p:blipFill rotWithShape="1">
          <a:blip r:embed="rId4">
            <a:alphaModFix/>
          </a:blip>
          <a:srcRect b="0" l="0" r="0" t="0"/>
          <a:stretch/>
        </p:blipFill>
        <p:spPr>
          <a:xfrm>
            <a:off x="8251663" y="1753217"/>
            <a:ext cx="377988" cy="377988"/>
          </a:xfrm>
          <a:prstGeom prst="rect">
            <a:avLst/>
          </a:prstGeom>
          <a:noFill/>
          <a:ln>
            <a:noFill/>
          </a:ln>
        </p:spPr>
      </p:pic>
      <p:grpSp>
        <p:nvGrpSpPr>
          <p:cNvPr id="336" name="Google Shape;336;p44"/>
          <p:cNvGrpSpPr/>
          <p:nvPr/>
        </p:nvGrpSpPr>
        <p:grpSpPr>
          <a:xfrm>
            <a:off x="7704129" y="4183226"/>
            <a:ext cx="915496" cy="471026"/>
            <a:chOff x="61924" y="79616"/>
            <a:chExt cx="2441323" cy="1256068"/>
          </a:xfrm>
        </p:grpSpPr>
        <p:sp>
          <p:nvSpPr>
            <p:cNvPr id="337" name="Google Shape;337;p44"/>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38" name="Google Shape;338;p44"/>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39" name="Google Shape;339;p44"/>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40" name="Google Shape;340;p44"/>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41" name="TextBox 340"/>
          <p:cNvSpPr txBox="1"/>
          <p:nvPr/>
        </p:nvSpPr>
        <p:spPr>
          <a:xfrm>
            <a:off x="512064" y="502920"/>
            <a:ext cx="68580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Why Build It Ourselves?</a:t>
            </a:r>
          </a:p>
        </p:txBody>
      </p:sp>
      <p:sp>
        <p:nvSpPr>
          <p:cNvPr id="342" name="TextBox 341"/>
          <p:cNvSpPr txBox="1"/>
          <p:nvPr/>
        </p:nvSpPr>
        <p:spPr>
          <a:xfrm>
            <a:off x="512064" y="2331720"/>
            <a:ext cx="3840480" cy="164592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Grades inside Canvas</a:t>
            </a:r>
          </a:p>
          <a:p>
            <a:pPr algn="l">
              <a:spcAft>
                <a:spcPts val="1200"/>
              </a:spcAft>
            </a:pPr>
            <a:r>
              <a:rPr sz="1200" b="0" i="0">
                <a:solidFill>
                  <a:srgbClr val="FFFFFF"/>
                </a:solidFill>
                <a:latin typeface="Roboto"/>
              </a:rPr>
              <a:t>Not in another tool</a:t>
            </a:r>
          </a:p>
          <a:p>
            <a:pPr algn="l">
              <a:spcAft>
                <a:spcPts val="200"/>
              </a:spcAft>
            </a:pPr>
            <a:r>
              <a:rPr sz="1800" b="1" i="0">
                <a:solidFill>
                  <a:srgbClr val="FFFFFF"/>
                </a:solidFill>
                <a:latin typeface="League Spartan"/>
              </a:rPr>
              <a:t>Our data, our server</a:t>
            </a:r>
          </a:p>
          <a:p>
            <a:pPr algn="l">
              <a:spcAft>
                <a:spcPts val="0"/>
              </a:spcAft>
            </a:pPr>
            <a:r>
              <a:rPr sz="1200" b="0" i="0">
                <a:solidFill>
                  <a:srgbClr val="FFFFFF"/>
                </a:solidFill>
                <a:latin typeface="Roboto"/>
              </a:rPr>
              <a:t>Student work stays with us</a:t>
            </a:r>
          </a:p>
        </p:txBody>
      </p:sp>
      <p:sp>
        <p:nvSpPr>
          <p:cNvPr id="343" name="TextBox 342"/>
          <p:cNvSpPr txBox="1"/>
          <p:nvPr/>
        </p:nvSpPr>
        <p:spPr>
          <a:xfrm>
            <a:off x="5157216" y="2331720"/>
            <a:ext cx="3474720" cy="164592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No per-seat license</a:t>
            </a:r>
          </a:p>
          <a:p>
            <a:pPr algn="l">
              <a:spcAft>
                <a:spcPts val="1200"/>
              </a:spcAft>
            </a:pPr>
            <a:r>
              <a:rPr sz="1200" b="0" i="0">
                <a:solidFill>
                  <a:srgbClr val="FFFFFF"/>
                </a:solidFill>
                <a:latin typeface="Roboto"/>
              </a:rPr>
              <a:t>Add students without a new contract</a:t>
            </a:r>
          </a:p>
          <a:p>
            <a:pPr algn="l">
              <a:spcAft>
                <a:spcPts val="200"/>
              </a:spcAft>
            </a:pPr>
            <a:r>
              <a:rPr sz="1800" b="1" i="0">
                <a:solidFill>
                  <a:srgbClr val="FFFFFF"/>
                </a:solidFill>
                <a:latin typeface="League Spartan"/>
              </a:rPr>
              <a:t>Content needed a home</a:t>
            </a:r>
          </a:p>
          <a:p>
            <a:pPr algn="l">
              <a:spcAft>
                <a:spcPts val="0"/>
              </a:spcAft>
            </a:pPr>
            <a:r>
              <a:rPr sz="1200" b="0" i="0">
                <a:solidFill>
                  <a:srgbClr val="FFFFFF"/>
                </a:solidFill>
                <a:latin typeface="Roboto"/>
              </a:rPr>
              <a:t>We already had it</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1400"/>
              </a:spcAft>
            </a:pPr>
            <a:r>
              <a:rPr sz="1500" b="0" i="0">
                <a:solidFill>
                  <a:srgbClr val="FFFFFF"/>
                </a:solidFill>
                <a:latin typeface="Roboto"/>
              </a:rPr>
              <a:t>The package format is a published specification</a:t>
            </a:r>
          </a:p>
          <a:p>
            <a:pPr algn="l">
              <a:spcAft>
                <a:spcPts val="1400"/>
              </a:spcAft>
            </a:pPr>
            <a:r>
              <a:rPr sz="1500" b="0" i="0">
                <a:solidFill>
                  <a:srgbClr val="FFFFFF"/>
                </a:solidFill>
                <a:latin typeface="Roboto"/>
              </a:rPr>
              <a:t>The zest-creator template is public</a:t>
            </a:r>
          </a:p>
          <a:p>
            <a:pPr algn="l">
              <a:spcAft>
                <a:spcPts val="0"/>
              </a:spcAft>
            </a:pPr>
            <a:r>
              <a:rPr sz="1500" b="0" i="0">
                <a:solidFill>
                  <a:srgbClr val="FFFFFF"/>
                </a:solidFill>
                <a:latin typeface="Roboto"/>
              </a:rPr>
              <a:t>Picture a shared library of gradable activities across programs</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Rounded Rectangle 318"/>
          <p:cNvSpPr/>
          <p:nvPr/>
        </p:nvSpPr>
        <p:spPr>
          <a:xfrm>
            <a:off x="960120" y="1097280"/>
            <a:ext cx="2926080" cy="292608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for the Google Form
[FORM URL PLACEHOLDER]</a:t>
            </a:r>
          </a:p>
        </p:txBody>
      </p:sp>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1" name="TextBox 320"/>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[short link]</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2" name="TextBox 321"/>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Rounded Rectangle 205"/>
          <p:cNvSpPr/>
          <p:nvPr/>
        </p:nvSpPr>
        <p:spPr>
          <a:xfrm>
            <a:off x="1280160" y="1097280"/>
            <a:ext cx="2926080" cy="292608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Same QR code
[FORM URL PLACEHOLDER]</a:t>
            </a:r>
          </a:p>
        </p:txBody>
      </p:sp>
      <p:sp>
        <p:nvSpPr>
          <p:cNvPr id="207" name="TextBox 206"/>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8" name="TextBox 207"/>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