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4"/>
    <p:sldMasterId id="2147483682" r:id="rId5"/>
    <p:sldMasterId id="2147483683" r:id="rId6"/>
  </p:sldMasterIdLst>
  <p:notesMasterIdLst>
    <p:notesMasterId r:id="rId7"/>
  </p:notesMasterIdLst>
  <p:sldIdLst>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35" Type="http://schemas.openxmlformats.org/officeDocument/2006/relationships/slide" Target="slides/slide1.xml"/><Relationship Id="rId36" Type="http://schemas.openxmlformats.org/officeDocument/2006/relationships/slide" Target="slides/slide2.xml"/><Relationship Id="rId37" Type="http://schemas.openxmlformats.org/officeDocument/2006/relationships/slide" Target="slides/slide3.xml"/><Relationship Id="rId38" Type="http://schemas.openxmlformats.org/officeDocument/2006/relationships/slide" Target="slides/slide4.xml"/><Relationship Id="rId39" Type="http://schemas.openxmlformats.org/officeDocument/2006/relationships/slide" Target="slides/slide5.xml"/><Relationship Id="rId40" Type="http://schemas.openxmlformats.org/officeDocument/2006/relationships/slide" Target="slides/slide6.xml"/><Relationship Id="rId41" Type="http://schemas.openxmlformats.org/officeDocument/2006/relationships/slide" Target="slides/slide7.xml"/><Relationship Id="rId42" Type="http://schemas.openxmlformats.org/officeDocument/2006/relationships/slide" Target="slides/slide8.xml"/><Relationship Id="rId43" Type="http://schemas.openxmlformats.org/officeDocument/2006/relationships/slide" Target="slides/slide9.xml"/><Relationship Id="rId44" Type="http://schemas.openxmlformats.org/officeDocument/2006/relationships/slide" Target="slides/slide10.xml"/><Relationship Id="rId45" Type="http://schemas.openxmlformats.org/officeDocument/2006/relationships/slide" Target="slides/slide11.xml"/><Relationship Id="rId46" Type="http://schemas.openxmlformats.org/officeDocument/2006/relationships/slide" Target="slides/slide12.xml"/><Relationship Id="rId47" Type="http://schemas.openxmlformats.org/officeDocument/2006/relationships/slide" Target="slides/slide13.xml"/><Relationship Id="rId48" Type="http://schemas.openxmlformats.org/officeDocument/2006/relationships/slide" Target="slides/slide14.xml"/><Relationship Id="rId49" Type="http://schemas.openxmlformats.org/officeDocument/2006/relationships/slide" Target="slides/slide15.xml"/><Relationship Id="rId50" Type="http://schemas.openxmlformats.org/officeDocument/2006/relationships/slide" Target="slides/slide16.xml"/><Relationship Id="rId51" Type="http://schemas.openxmlformats.org/officeDocument/2006/relationships/slide" Target="slides/slide17.xml"/><Relationship Id="rId52" Type="http://schemas.openxmlformats.org/officeDocument/2006/relationships/slide" Target="slides/slide18.xml"/><Relationship Id="rId53" Type="http://schemas.openxmlformats.org/officeDocument/2006/relationships/slide" Target="slides/slide19.xml"/><Relationship Id="rId54" Type="http://schemas.openxmlformats.org/officeDocument/2006/relationships/slide" Target="slides/slide20.xml"/><Relationship Id="rId55" Type="http://schemas.openxmlformats.org/officeDocument/2006/relationships/slide" Target="slides/slide21.xml"/><Relationship Id="rId56" Type="http://schemas.openxmlformats.org/officeDocument/2006/relationships/slide" Target="slides/slide22.xml"/><Relationship Id="rId57"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0:15 (clock 0:15)</a:t>
            </a:r>
          </a:p>
          <a:p/>
          <a:p>
            <a:r>
              <a:t>Good morning. I'm Kyle Yancey from Virtual Arkansas. This session is about Zest, a tool we built that turns web interactives into graded Canvas assignments.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0:45 (clock 1:00)</a:t>
            </a:r>
          </a:p>
          <a:p/>
          <a:p>
            <a:r>
              <a:t>Quick background so you know where I'm coming from. I taught for about ten years: physics, chemistry, biology, physical science, business and computer science. I've been writing code for about 25 years. These days I'm the Data Science Specialist at Virtual Arkansas, and most of what I build is AI tools for our teachers and students.</a:t>
            </a:r>
          </a:p>
          <a:p/>
          <a:p>
            <a:r>
              <a:t>[Kyle: add a photo in the circle, and update anything that's changed.]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1:00 (clock 2:00)</a:t>
            </a:r>
          </a:p>
          <a:p/>
          <a:p>
            <a:r>
              <a:t>Show of hands. Is anyone here using AI to build their own interactives? Simulations, games, practice tools?</a:t>
            </a:r>
          </a:p>
          <a:p/>
          <a:p>
            <a:r>
              <a:t>(Pause. Count hands.)</a:t>
            </a:r>
          </a:p>
          <a:p/>
          <a:p>
            <a:r>
              <a:t>[CLICK] Keep your hand up if it puts a grade in your gradebook.</a:t>
            </a:r>
          </a:p>
          <a:p/>
          <a:p>
            <a:r>
              <a:t>That's the gap. AI can build the activity now. A teacher can describe something and get a working page back in a few minutes. Getting that page into the gradebook, with a record of what the student did, is the hard part. That's what I want to show you.</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1:00 (clock 3:00)</a:t>
            </a:r>
          </a:p>
          <a:p/>
          <a:p>
            <a:r>
              <a:t>Here's one sentence a teacher could type. (Read it.)</a:t>
            </a:r>
          </a:p>
          <a:p/>
          <a:p>
            <a:r>
              <a:t>That's the whole prompt.</a:t>
            </a:r>
          </a:p>
          <a:p/>
          <a:p>
            <a:r>
              <a:t>[CLICK] And this is what came out, about three minutes later. Students calculate a launch angle, fire, and see where it lands. It's auto-graded. It even put the range formula in a hint.</a:t>
            </a:r>
          </a:p>
          <a:p/>
          <a:p>
            <a:r>
              <a:t>Let me show you what happened in between.</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2:30 (clock 5:30)</a:t>
            </a:r>
          </a:p>
          <a:p/>
          <a:p>
            <a:r>
              <a:t>PLAY THE BUILD RECORDING (1:41). It's a real run, sped up; talk over it.</a:t>
            </a:r>
          </a:p>
          <a:p/>
          <a:p>
            <a:r>
              <a:t>- This is Claude Code with our zest-creator template. The teacher types /zest-new and the sentence you just saw.</a:t>
            </a:r>
          </a:p>
          <a:p>
            <a:r>
              <a:t>- It didn't ask me anything this time. It picked sensible defaults on its own: one target at 45 meters, three launches, full points on the first hit. (Sometimes it asks a couple of plain questions, like whether it should be graded.)</a:t>
            </a:r>
          </a:p>
          <a:p>
            <a:r>
              <a:t>- The thinking part is sped up 20 times. The whole build took under three minutes.</a:t>
            </a:r>
          </a:p>
          <a:p>
            <a:r>
              <a:t>- /zest-build checks the package and makes a .zest file.</a:t>
            </a:r>
          </a:p>
          <a:p>
            <a:r>
              <a:t>- Then the file goes into Canvas. This part is our stand-in Canvas, the test harness we use for every change. A student misses once, hits on the second try, and submits. The gradebook gets 8 out of 10.</a:t>
            </a:r>
          </a:p>
          <a:p/>
          <a:p>
            <a:r>
              <a:t>Notice there's no code on screen that the teacher has to read.</a:t>
            </a:r>
          </a:p>
          <a:p/>
          <a:p>
            <a:r>
              <a:t>[Backup: if the video won't play, use the stills in the media folder.]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1:15 (clock 6:45)</a:t>
            </a:r>
          </a:p>
          <a:p/>
          <a:p>
            <a:r>
              <a:t>So what's the catch?</a:t>
            </a:r>
          </a:p>
          <a:p/>
          <a:p>
            <a:r>
              <a:t>[CLICK] There's no grade in the gradebook. Somebody has to copy scores over, or it just doesn't count.</a:t>
            </a:r>
          </a:p>
          <a:p>
            <a:r>
              <a:t>[CLICK] There's no record of what the student did. The teacher can't see the work.</a:t>
            </a:r>
          </a:p>
          <a:p>
            <a:r>
              <a:t>[CLICK] And it's usually another login, or another vendor with another contract.</a:t>
            </a:r>
          </a:p>
          <a:p/>
          <a:p>
            <a:r>
              <a:t>[CLICK] An interactive on its own is just a web page. That's the problem Zest solves.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1:45 (clock 8:30)</a:t>
            </a:r>
          </a:p>
          <a:p/>
          <a:p>
            <a:r>
              <a:t>Zest is an LTI 1.3 tool we built at Virtual Arkansas. It runs on our own server and plugs into Canvas.</a:t>
            </a:r>
          </a:p>
          <a:p/>
          <a:p>
            <a:r>
              <a:t>Walk the three boxes, one click each:</a:t>
            </a:r>
          </a:p>
          <a:p>
            <a:r>
              <a:t>[CLICK] In Canvas, the teacher clicks Embed Interactive Content in the editor and uploads or picks a zest.</a:t>
            </a:r>
          </a:p>
          <a:p>
            <a:r>
              <a:t>[CLICK] Zest runs the activity. It can be a graded assignment, auto-graded or teacher-graded, or just a live element on a page.</a:t>
            </a:r>
          </a:p>
          <a:p>
            <a:r>
              <a:t>[CLICK] The grade goes to the gradebook, and the teacher gets a custom view in SpeedGrader that shows the student's actual work. I'll come back to that.</a:t>
            </a:r>
          </a:p>
          <a:p/>
          <a:p>
            <a:r>
              <a:t>A zest is a zip of plain HTML, CSS and JavaScript plus a small settings file. It can bring its own SpeedGrader view, a settings page for teachers, and an answer key students can't see.</a:t>
            </a:r>
          </a:p>
          <a:p/>
          <a:p>
            <a:r>
              <a:t>Work is saved as the student goes, so it follows them to another device.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1:00 (clock 9:30)</a:t>
            </a:r>
          </a:p>
          <a:p/>
          <a:p>
            <a:r>
              <a:t>How it started.</a:t>
            </a:r>
          </a:p>
          <a:p/>
          <a:p>
            <a:r>
              <a:t>[CLICK] We needed coding tools for our computer science courses, and the system we had was expensive. So we built our own.</a:t>
            </a:r>
          </a:p>
          <a:p/>
          <a:p>
            <a:r>
              <a:t>[CLICK] Then we added our keyboarding class, which is what I'm about to show you.</a:t>
            </a:r>
          </a:p>
          <a:p/>
          <a:p>
            <a:r>
              <a:t>[CLICK] And now we're going to keep adding more. Anything that runs in a browser can be a zest.</a:t>
            </a:r>
          </a:p>
          <a:p/>
          <a:p>
            <a:r>
              <a:t>[Kyle: the session title says "From PhET to Keyboarding". If you want, mention where PhET-style simulations fit here.]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3:00 (clock 12:30)</a:t>
            </a:r>
          </a:p>
          <a:p/>
          <a:p>
            <a:r>
              <a:t>LIVE DEMO in Canvas. Backup recording if the network is down.</a:t>
            </a:r>
          </a:p>
          <a:p/>
          <a:p>
            <a:r>
              <a:t>1. As a teacher: open a page or assignment, click Embed Interactive Content, pick Keyboarding Practice from the library, set the passage.</a:t>
            </a:r>
          </a:p>
          <a:p>
            <a:r>
              <a:t>2. As a student: type the passage and submit. Switch to the gradebook and show the grade.</a:t>
            </a:r>
          </a:p>
          <a:p>
            <a:r>
              <a:t>3. As the teacher: open SpeedGrader. Slow down here. This is the package's own review page inside SpeedGrader, so you see what the student actually typed, per attempt.</a:t>
            </a:r>
          </a:p>
          <a:p>
            <a:r>
              <a:t>4. Open it again as the student on another device (or another browser). The work is still there.</a:t>
            </a:r>
          </a:p>
          <a:p/>
          <a:p>
            <a:r>
              <a:t>Keep it moving. If something hangs for more than ten seconds, switch to the backup.</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1:00 (clock 13:30)</a:t>
            </a:r>
          </a:p>
          <a:p/>
          <a:p>
            <a:r>
              <a:t>This is the part teachers like most. Canvas SpeedGrader normally shows a file or a text box. With Zest, every activity can bring its own page for SpeedGrader, so the teacher sees the actual work.</a:t>
            </a:r>
          </a:p>
          <a:p/>
          <a:p>
            <a:r>
              <a:t>[CLICK] Launch Lab: every shot the student took, drawn on one field.</a:t>
            </a:r>
          </a:p>
          <a:p>
            <a:r>
              <a:t>[CLICK] Graph Match: the student's curve on top of the target, for each graph.</a:t>
            </a:r>
          </a:p>
          <a:p>
            <a:r>
              <a:t>[CLICK] Sketch &amp; Label: the drawing, with a replay of how they drew it.</a:t>
            </a:r>
          </a:p>
          <a:p>
            <a:r>
              <a:t>[CLICK] Escape the Archive: a timeline of every wrong try and hint.</a:t>
            </a:r>
          </a:p>
          <a:p/>
          <a:p>
            <a:r>
              <a:t>The AI builds these too. In the prompt for Sketch &amp; Label, the teacher just said "in SpeedGrader I want to see their drawing and watch how they drew it."</a:t>
            </a:r>
          </a:p>
          <a:p/>
          <a:p>
            <a:r>
              <a:t>[Kyle: once the zests are on your sandbox, a screenshot of one of these inside real Canvas SpeedGrader would be the strongest image for this slide.]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1:00 (clock 14:30)</a:t>
            </a:r>
          </a:p>
          <a:p/>
          <a:p>
            <a:r>
              <a:t>[CLICK] Each course can set up the same zest differently. For keyboarding, that's a different passage.</a:t>
            </a:r>
          </a:p>
          <a:p>
            <a:r>
              <a:t>[CLICK] When we found a bug, we fixed the package once and updated every copy at once. No broken links, and no student lost any work.</a:t>
            </a:r>
          </a:p>
          <a:p>
            <a:r>
              <a:t>[CLICK] It works on managed Chromebooks that block third-party cookies. That one took some doing.</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0:20 (clock 14:50)</a:t>
            </a:r>
          </a:p>
          <a:p/>
          <a:p>
            <a:r>
              <a:t>So what else can you make? Every one of these came from a prompt, the same way you saw in the recording. They're on my sandbox. The next four slides have QR codes, so try them on your phone while I talk. On a phone they open in a preview mode, so nothing gets saved.</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1:05 (clock 15:55)</a:t>
            </a:r>
          </a:p>
          <a:p/>
          <a:p>
            <a:r>
              <a:t>Launch Lab. Physics.</a:t>
            </a:r>
          </a:p>
          <a:p/>
          <a:p>
            <a:r>
              <a:t>Same sentence as the recording. This time I answered a few follow-up questions: five rounds, practice shots after each scored one, and settings for the targets, launch speed and how close counts as a hit. That's the difference between this one and the one you saw built.</a:t>
            </a:r>
          </a:p>
          <a:p/>
          <a:p>
            <a:r>
              <a:t>Students lock in a predicted angle, then take one scored launch. After that they can take practice shots. A lot of them discover that two different angles hit the same target, which is a nice conversation starter.</a:t>
            </a:r>
          </a:p>
          <a:p/>
          <a:p>
            <a:r>
              <a:t>[CLICK] And this is what the teacher sees in SpeedGrader: every scored shot drawn on one field, and a table of each round.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1:05 (clock 17:00)</a:t>
            </a:r>
          </a:p>
          <a:p/>
          <a:p>
            <a:r>
              <a:t>Graph Match. Algebra 2.</a:t>
            </a:r>
          </a:p>
          <a:p/>
          <a:p>
            <a:r>
              <a:t>Students move a, h and k until their curve covers the target. The equation updates as they go.</a:t>
            </a:r>
          </a:p>
          <a:p/>
          <a:p>
            <a:r>
              <a:t>The part I want you to notice: the teacher picks the target functions on a settings page. The AI built that settings page too, from "I want to pick the target functions myself." One package, set up differently for each class.</a:t>
            </a:r>
          </a:p>
          <a:p/>
          <a:p>
            <a:r>
              <a:t>[CLICK] In SpeedGrader: each graph, with the student's curve on top of the target.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1:05 (clock 18:05)</a:t>
            </a:r>
          </a:p>
          <a:p/>
          <a:p>
            <a:r>
              <a:t>Sketch and Label. Life science. This one is teacher-graded.</a:t>
            </a:r>
          </a:p>
          <a:p/>
          <a:p>
            <a:r>
              <a:t>Students draw arrows and write labels right on a plant cell, then explain what the chloroplast does.</a:t>
            </a:r>
          </a:p>
          <a:p/>
          <a:p>
            <a:r>
              <a:t>[CLICK] In SpeedGrader, the teacher can replay the drawing, stroke by stroke, and see how the student got there, including what they erased. On your phone, if you submit in preview, you can watch your own replay.</a:t>
            </a:r>
          </a:p>
          <a:p/>
          <a:p>
            <a:r>
              <a:t>(Two things the AI added that the prompt didn't ask for, and we kept: label suggestions while typing, and the replay link after a preview submit.)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1:05 (clock 19:10)</a:t>
            </a:r>
          </a:p>
          <a:p/>
          <a:p>
            <a:r>
              <a:t>Escape the Archive. U.S. History.</a:t>
            </a:r>
          </a:p>
          <a:p/>
          <a:p>
            <a:r>
              <a:t>Four locks, each opened with a clue from a primary source. One of them is the Little Rock Nine, and the lock quotes President Eisenhower's September 1957 address.</a:t>
            </a:r>
          </a:p>
          <a:p/>
          <a:p>
            <a:r>
              <a:t>Hints cost points, and the teacher can turn them off or set a time limit.</a:t>
            </a:r>
          </a:p>
          <a:p/>
          <a:p>
            <a:r>
              <a:t>[CLICK] SpeedGrader shows a timeline of every wrong try and hint, so you can see where a student got stuck.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0:45 (clock 19:55)</a:t>
            </a:r>
          </a:p>
          <a:p/>
          <a:p>
            <a:r>
              <a:t>Why build it ourselves instead of buying something?</a:t>
            </a:r>
          </a:p>
          <a:p/>
          <a:p>
            <a:r>
              <a:t>[CLICK] We needed the grades and the student's work inside Canvas, not in another tool.</a:t>
            </a:r>
          </a:p>
          <a:p>
            <a:r>
              <a:t>[CLICK] Student data stays on our server.</a:t>
            </a:r>
          </a:p>
          <a:p>
            <a:r>
              <a:t>[CLICK] No per-seat license.</a:t>
            </a:r>
          </a:p>
          <a:p>
            <a:r>
              <a:t>[CLICK] We already had content that needed a home.</a:t>
            </a:r>
          </a:p>
          <a:p/>
          <a:p>
            <a:r>
              <a:t>[Kyle: replace with your real reasons.]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1:30 (clock 21:25)</a:t>
            </a:r>
          </a:p>
          <a:p/>
          <a:p>
            <a:r>
              <a:t>This is the part I want you to take home.</a:t>
            </a:r>
          </a:p>
          <a:p/>
          <a:p>
            <a:r>
              <a:t>A zest is one file. Any program running Zest can upload it, and grading and review work the same way on their server. Your keyboarding activity can be my keyboarding activity.</a:t>
            </a:r>
          </a:p>
          <a:p/>
          <a:p>
            <a:r>
              <a:t>[CLICK] We wrote the package format down in a published specification so that stays true, and the zest-creator template you saw in the recording is public, so anyone can build them.</a:t>
            </a:r>
          </a:p>
          <a:p/>
          <a:p>
            <a:r>
              <a:t>Picture a shared library of gradable activities across virtual programs. That's where I'd like this to go.</a:t>
            </a:r>
          </a:p>
          <a:p/>
          <a:p>
            <a:r>
              <a:t>[Kyle: decide whether to show the GitHub links for zest-spec and zest-creator.]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0:45 (clock 22:10)</a:t>
            </a:r>
          </a:p>
          <a:p/>
          <a:p>
            <a:r>
              <a:t>It wasn't all easy.</a:t>
            </a:r>
          </a:p>
          <a:p/>
          <a:p>
            <a:r>
              <a:t>[CLICK] LTI and Canvas integration was most of the work. Again.</a:t>
            </a:r>
          </a:p>
          <a:p>
            <a:r>
              <a:t>[CLICK] Canvas silently blocks pop-up alerts inside assignments, and assignment frames can't resize. Every zest has to be built around that.</a:t>
            </a:r>
          </a:p>
          <a:p>
            <a:r>
              <a:t>[CLICK] Managed Chromebooks block third-party cookies, so launches had to work without them.</a:t>
            </a:r>
          </a:p>
          <a:p>
            <a:r>
              <a:t>[CLICK] Rule number one was never lose student work. We test every change with fake teachers, students and admins going through real launches.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1:15 (clock 23:25)</a:t>
            </a:r>
          </a:p>
          <a:p/>
          <a:p>
            <a:r>
              <a:t>The fair question: can you trust what the AI made?</a:t>
            </a:r>
          </a:p>
          <a:p/>
          <a:p>
            <a:r>
              <a:t>[CLICK] Every package gets checked when it's built, and a separate review looks for anything that sends data out or tracks students.</a:t>
            </a:r>
          </a:p>
          <a:p>
            <a:r>
              <a:t>[CLICK] Zest runs every package in a sandbox, with permissions off by default.</a:t>
            </a:r>
          </a:p>
          <a:p>
            <a:r>
              <a:t>[CLICK] But somebody still has to test it as a student, and a subject expert should check the content. AI can get a fact or an answer key wrong.</a:t>
            </a:r>
          </a:p>
          <a:p>
            <a:r>
              <a:t>Also on that last card: auto-graded scores are calculated in the browser. A student who knows what they're doing could fake one. For anything high stakes, use teacher grading.</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0:45 (clock 24:10)</a:t>
            </a:r>
          </a:p>
          <a:p/>
          <a:p>
            <a:r>
              <a:t>What's next:</a:t>
            </a:r>
          </a:p>
          <a:p>
            <a:r>
              <a:t>[CLICK] We're releasing the server code under the MIT license.</a:t>
            </a:r>
          </a:p>
          <a:p>
            <a:r>
              <a:t>[CLICK] Next security step: serving packages from a separate domain.</a:t>
            </a:r>
          </a:p>
          <a:p>
            <a:r>
              <a:t>[CLICK] An accessibility review. I'm not claiming WCAG conformance yet.</a:t>
            </a:r>
          </a:p>
          <a:p>
            <a:r>
              <a:t>[CLICK] Other LMSs. We've done the research on Brightspace, Schoology and Buzz, but Canvas is the only one today.</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0:45 (clock 24:55)</a:t>
            </a:r>
          </a:p>
          <a:p/>
          <a:p>
            <a:r>
              <a:t>If you want the code when it's released, scan this and fill out the form. And if you build zests, I want to trade.</a:t>
            </a:r>
          </a:p>
          <a:p/>
          <a:p>
            <a:r>
              <a:t>Thank you for your time.</a:t>
            </a:r>
          </a:p>
          <a:p/>
          <a:p>
            <a:r>
              <a:t>[FORM URL PLACEHOLDER: replace the QR box with the real QR code.]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TIME: 5:00 (clock 30:00). Leave the QR code up.</a:t>
            </a:r>
          </a:p>
          <a:p/>
          <a:p>
            <a:r>
              <a:t>LIKELY QUESTIONS, SHORT ANSWERS</a:t>
            </a:r>
          </a:p>
          <a:p/>
          <a:p>
            <a:r>
              <a:t>What does Claude Code cost?</a:t>
            </a:r>
          </a:p>
          <a:p>
            <a:r>
              <a:t>It needs a paid Claude plan. Check current pricing; it's a per-person subscription, not per student.</a:t>
            </a:r>
          </a:p>
          <a:p/>
          <a:p>
            <a:r>
              <a:t>Does student data go to the AI?</a:t>
            </a:r>
          </a:p>
          <a:p>
            <a:r>
              <a:t>No. The AI only sees what the teacher types while building the activity. The Zest server has no AI in it and doesn't send student work anywhere.</a:t>
            </a:r>
          </a:p>
          <a:p/>
          <a:p>
            <a:r>
              <a:t>Who checks what the AI builds? Can it be wrong?</a:t>
            </a:r>
          </a:p>
          <a:p>
            <a:r>
              <a:t>Yes, it can be wrong. The build checks and the security review catch technical problems. A teacher tests it as a student, and a subject expert checks the content, same as any material we'd put in a course.</a:t>
            </a:r>
          </a:p>
          <a:p/>
          <a:p>
            <a:r>
              <a:t>Hosting and cost?</a:t>
            </a:r>
          </a:p>
          <a:p>
            <a:r>
              <a:t>It runs on your own server (Docker and PostgreSQL), with encrypted nightly backups. No per-seat license.</a:t>
            </a:r>
          </a:p>
          <a:p/>
          <a:p>
            <a:r>
              <a:t>Can we share zests with you, or use yours?</a:t>
            </a:r>
          </a:p>
          <a:p>
            <a:r>
              <a:t>Yes. That's the point of the spec. A zest built for one Zest server runs on any other.</a:t>
            </a:r>
          </a:p>
          <a:p/>
          <a:p>
            <a:r>
              <a:t>Other LMSs?</a:t>
            </a:r>
          </a:p>
          <a:p>
            <a:r>
              <a:t>Canvas only for now. We've researched Brightspace, Schoology and Buzz.</a:t>
            </a:r>
          </a:p>
          <a:p/>
          <a:p>
            <a:r>
              <a:t>Accessibility?</a:t>
            </a:r>
          </a:p>
          <a:p>
            <a:r>
              <a:t>A review is planned. Zests are plain HTML, so they can be built accessibly, but I'm not claiming conformance yet.</a:t>
            </a:r>
          </a:p>
          <a:p/>
          <a:p>
            <a:r>
              <a:t>Can students cheat on auto-graded ones?</a:t>
            </a:r>
          </a:p>
          <a:p>
            <a:r>
              <a:t>Scores are calculated in the browser, so a determined student could. Use teacher grading for high stakes.</a:t>
            </a:r>
          </a:p>
          <a:p/>
          <a:p>
            <a:r>
              <a:t>Can we upload any zest someone sends us?</a:t>
            </a:r>
          </a:p>
          <a:p>
            <a:r>
              <a:t>Only upload packages you trust for now. Packages run on the same domain as the tool; a separate domain is the next security step.</a:t>
            </a:r>
          </a:p>
          <a:p/>
          <a:p>
            <a:r>
              <a:t>Support?</a:t>
            </a:r>
          </a:p>
          <a:p>
            <a:r>
              <a:t>[Kyle: your answer.]</a:t>
            </a:r>
          </a:p>
          <a:p/>
          <a:p>
            <a:r>
              <a:t>When does the server code come out?</a:t>
            </a:r>
          </a:p>
          <a:p>
            <a:r>
              <a:t>[Kyle: your answer.] Fill out the form and I'll let you know.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rtl="0" algn="ctr">
              <a:spcBef>
                <a:spcPts val="300"/>
              </a:spcBef>
              <a:spcAft>
                <a:spcPts val="0"/>
              </a:spcAft>
              <a:buClr>
                <a:srgbClr val="888888"/>
              </a:buClr>
              <a:buSzPts val="1600"/>
              <a:buNone/>
              <a:defRPr>
                <a:solidFill>
                  <a:srgbClr val="888888"/>
                </a:solidFill>
              </a:defRPr>
            </a:lvl1pPr>
            <a:lvl2pPr lvl="1" rtl="0" algn="ctr">
              <a:spcBef>
                <a:spcPts val="300"/>
              </a:spcBef>
              <a:spcAft>
                <a:spcPts val="0"/>
              </a:spcAft>
              <a:buClr>
                <a:srgbClr val="888888"/>
              </a:buClr>
              <a:buSzPts val="1400"/>
              <a:buNone/>
              <a:defRPr>
                <a:solidFill>
                  <a:srgbClr val="888888"/>
                </a:solidFill>
              </a:defRPr>
            </a:lvl2pPr>
            <a:lvl3pPr lvl="2" rtl="0" algn="ctr">
              <a:spcBef>
                <a:spcPts val="200"/>
              </a:spcBef>
              <a:spcAft>
                <a:spcPts val="0"/>
              </a:spcAft>
              <a:buClr>
                <a:srgbClr val="888888"/>
              </a:buClr>
              <a:buSzPts val="1200"/>
              <a:buNone/>
              <a:defRPr>
                <a:solidFill>
                  <a:srgbClr val="888888"/>
                </a:solidFill>
              </a:defRPr>
            </a:lvl3pPr>
            <a:lvl4pPr lvl="3" rtl="0" algn="ctr">
              <a:spcBef>
                <a:spcPts val="200"/>
              </a:spcBef>
              <a:spcAft>
                <a:spcPts val="0"/>
              </a:spcAft>
              <a:buClr>
                <a:srgbClr val="888888"/>
              </a:buClr>
              <a:buSzPts val="1000"/>
              <a:buNone/>
              <a:defRPr>
                <a:solidFill>
                  <a:srgbClr val="888888"/>
                </a:solidFill>
              </a:defRPr>
            </a:lvl4pPr>
            <a:lvl5pPr lvl="4" rtl="0" algn="ctr">
              <a:spcBef>
                <a:spcPts val="200"/>
              </a:spcBef>
              <a:spcAft>
                <a:spcPts val="0"/>
              </a:spcAft>
              <a:buClr>
                <a:srgbClr val="888888"/>
              </a:buClr>
              <a:buSzPts val="1000"/>
              <a:buNone/>
              <a:defRPr>
                <a:solidFill>
                  <a:srgbClr val="888888"/>
                </a:solidFill>
              </a:defRPr>
            </a:lvl5pPr>
            <a:lvl6pPr lvl="5" rtl="0" algn="ctr">
              <a:spcBef>
                <a:spcPts val="200"/>
              </a:spcBef>
              <a:spcAft>
                <a:spcPts val="0"/>
              </a:spcAft>
              <a:buClr>
                <a:srgbClr val="888888"/>
              </a:buClr>
              <a:buSzPts val="1000"/>
              <a:buNone/>
              <a:defRPr>
                <a:solidFill>
                  <a:srgbClr val="888888"/>
                </a:solidFill>
              </a:defRPr>
            </a:lvl6pPr>
            <a:lvl7pPr lvl="6" rtl="0" algn="ctr">
              <a:spcBef>
                <a:spcPts val="200"/>
              </a:spcBef>
              <a:spcAft>
                <a:spcPts val="0"/>
              </a:spcAft>
              <a:buClr>
                <a:srgbClr val="888888"/>
              </a:buClr>
              <a:buSzPts val="1000"/>
              <a:buNone/>
              <a:defRPr>
                <a:solidFill>
                  <a:srgbClr val="888888"/>
                </a:solidFill>
              </a:defRPr>
            </a:lvl7pPr>
            <a:lvl8pPr lvl="7" rtl="0" algn="ctr">
              <a:spcBef>
                <a:spcPts val="200"/>
              </a:spcBef>
              <a:spcAft>
                <a:spcPts val="0"/>
              </a:spcAft>
              <a:buClr>
                <a:srgbClr val="888888"/>
              </a:buClr>
              <a:buSzPts val="1000"/>
              <a:buNone/>
              <a:defRPr>
                <a:solidFill>
                  <a:srgbClr val="888888"/>
                </a:solidFill>
              </a:defRPr>
            </a:lvl8pPr>
            <a:lvl9pPr lvl="8" rtl="0"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68" name="Google Shape;68;p16"/>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rtl="0" algn="l">
              <a:spcBef>
                <a:spcPts val="200"/>
              </a:spcBef>
              <a:spcAft>
                <a:spcPts val="0"/>
              </a:spcAft>
              <a:buClr>
                <a:schemeClr val="dk1"/>
              </a:buClr>
              <a:buSzPts val="900"/>
              <a:buChar char="•"/>
              <a:defRPr/>
            </a:lvl1pPr>
            <a:lvl2pPr indent="-285750" lvl="1" marL="914400" rtl="0" algn="l">
              <a:spcBef>
                <a:spcPts val="200"/>
              </a:spcBef>
              <a:spcAft>
                <a:spcPts val="0"/>
              </a:spcAft>
              <a:buClr>
                <a:schemeClr val="dk1"/>
              </a:buClr>
              <a:buSzPts val="900"/>
              <a:buChar char="–"/>
              <a:defRPr/>
            </a:lvl2pPr>
            <a:lvl3pPr indent="-285750" lvl="2" marL="1371600" rtl="0" algn="l">
              <a:spcBef>
                <a:spcPts val="200"/>
              </a:spcBef>
              <a:spcAft>
                <a:spcPts val="0"/>
              </a:spcAft>
              <a:buClr>
                <a:schemeClr val="dk1"/>
              </a:buClr>
              <a:buSzPts val="900"/>
              <a:buChar char="•"/>
              <a:defRPr/>
            </a:lvl3pPr>
            <a:lvl4pPr indent="-285750" lvl="3" marL="1828800" rtl="0" algn="l">
              <a:spcBef>
                <a:spcPts val="200"/>
              </a:spcBef>
              <a:spcAft>
                <a:spcPts val="0"/>
              </a:spcAft>
              <a:buClr>
                <a:schemeClr val="dk1"/>
              </a:buClr>
              <a:buSzPts val="900"/>
              <a:buChar char="–"/>
              <a:defRPr/>
            </a:lvl4pPr>
            <a:lvl5pPr indent="-285750" lvl="4" marL="2286000" rtl="0" algn="l">
              <a:spcBef>
                <a:spcPts val="200"/>
              </a:spcBef>
              <a:spcAft>
                <a:spcPts val="0"/>
              </a:spcAft>
              <a:buClr>
                <a:schemeClr val="dk1"/>
              </a:buClr>
              <a:buSzPts val="900"/>
              <a:buChar char="»"/>
              <a:defRPr/>
            </a:lvl5pPr>
            <a:lvl6pPr indent="-285750" lvl="5" marL="2743200" rtl="0" algn="l">
              <a:spcBef>
                <a:spcPts val="200"/>
              </a:spcBef>
              <a:spcAft>
                <a:spcPts val="0"/>
              </a:spcAft>
              <a:buClr>
                <a:schemeClr val="dk1"/>
              </a:buClr>
              <a:buSzPts val="900"/>
              <a:buChar char="•"/>
              <a:defRPr/>
            </a:lvl6pPr>
            <a:lvl7pPr indent="-285750" lvl="6" marL="3200400" rtl="0" algn="l">
              <a:spcBef>
                <a:spcPts val="200"/>
              </a:spcBef>
              <a:spcAft>
                <a:spcPts val="0"/>
              </a:spcAft>
              <a:buClr>
                <a:schemeClr val="dk1"/>
              </a:buClr>
              <a:buSzPts val="900"/>
              <a:buChar char="•"/>
              <a:defRPr/>
            </a:lvl7pPr>
            <a:lvl8pPr indent="-285750" lvl="7" marL="3657600" rtl="0" algn="l">
              <a:spcBef>
                <a:spcPts val="200"/>
              </a:spcBef>
              <a:spcAft>
                <a:spcPts val="0"/>
              </a:spcAft>
              <a:buClr>
                <a:schemeClr val="dk1"/>
              </a:buClr>
              <a:buSzPts val="900"/>
              <a:buChar char="•"/>
              <a:defRPr/>
            </a:lvl8pPr>
            <a:lvl9pPr indent="-285750" lvl="8" marL="4114800" rtl="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rtl="0" algn="l">
              <a:spcBef>
                <a:spcPts val="0"/>
              </a:spcBef>
              <a:spcAft>
                <a:spcPts val="0"/>
              </a:spcAft>
              <a:buClr>
                <a:schemeClr val="dk1"/>
              </a:buClr>
              <a:buSzPts val="2000"/>
              <a:buFont typeface="Calibri"/>
              <a:buNone/>
              <a:defRPr b="1" sz="2000" cap="none"/>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74" name="Google Shape;74;p17"/>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rtl="0" algn="l">
              <a:spcBef>
                <a:spcPts val="200"/>
              </a:spcBef>
              <a:spcAft>
                <a:spcPts val="0"/>
              </a:spcAft>
              <a:buClr>
                <a:srgbClr val="888888"/>
              </a:buClr>
              <a:buSzPts val="1000"/>
              <a:buNone/>
              <a:defRPr sz="1000">
                <a:solidFill>
                  <a:srgbClr val="888888"/>
                </a:solidFill>
              </a:defRPr>
            </a:lvl1pPr>
            <a:lvl2pPr indent="-228600" lvl="1" marL="914400" rtl="0" algn="l">
              <a:spcBef>
                <a:spcPts val="200"/>
              </a:spcBef>
              <a:spcAft>
                <a:spcPts val="0"/>
              </a:spcAft>
              <a:buClr>
                <a:srgbClr val="888888"/>
              </a:buClr>
              <a:buSzPts val="900"/>
              <a:buNone/>
              <a:defRPr sz="900">
                <a:solidFill>
                  <a:srgbClr val="888888"/>
                </a:solidFill>
              </a:defRPr>
            </a:lvl2pPr>
            <a:lvl3pPr indent="-228600" lvl="2" marL="1371600" rtl="0" algn="l">
              <a:spcBef>
                <a:spcPts val="200"/>
              </a:spcBef>
              <a:spcAft>
                <a:spcPts val="0"/>
              </a:spcAft>
              <a:buClr>
                <a:srgbClr val="888888"/>
              </a:buClr>
              <a:buSzPts val="800"/>
              <a:buNone/>
              <a:defRPr sz="800">
                <a:solidFill>
                  <a:srgbClr val="888888"/>
                </a:solidFill>
              </a:defRPr>
            </a:lvl3pPr>
            <a:lvl4pPr indent="-228600" lvl="3" marL="1828800" rtl="0" algn="l">
              <a:spcBef>
                <a:spcPts val="100"/>
              </a:spcBef>
              <a:spcAft>
                <a:spcPts val="0"/>
              </a:spcAft>
              <a:buClr>
                <a:srgbClr val="888888"/>
              </a:buClr>
              <a:buSzPts val="700"/>
              <a:buNone/>
              <a:defRPr sz="700">
                <a:solidFill>
                  <a:srgbClr val="888888"/>
                </a:solidFill>
              </a:defRPr>
            </a:lvl4pPr>
            <a:lvl5pPr indent="-228600" lvl="4" marL="2286000" rtl="0" algn="l">
              <a:spcBef>
                <a:spcPts val="100"/>
              </a:spcBef>
              <a:spcAft>
                <a:spcPts val="0"/>
              </a:spcAft>
              <a:buClr>
                <a:srgbClr val="888888"/>
              </a:buClr>
              <a:buSzPts val="700"/>
              <a:buNone/>
              <a:defRPr sz="700">
                <a:solidFill>
                  <a:srgbClr val="888888"/>
                </a:solidFill>
              </a:defRPr>
            </a:lvl5pPr>
            <a:lvl6pPr indent="-228600" lvl="5" marL="2743200" rtl="0" algn="l">
              <a:spcBef>
                <a:spcPts val="100"/>
              </a:spcBef>
              <a:spcAft>
                <a:spcPts val="0"/>
              </a:spcAft>
              <a:buClr>
                <a:srgbClr val="888888"/>
              </a:buClr>
              <a:buSzPts val="700"/>
              <a:buNone/>
              <a:defRPr sz="700">
                <a:solidFill>
                  <a:srgbClr val="888888"/>
                </a:solidFill>
              </a:defRPr>
            </a:lvl6pPr>
            <a:lvl7pPr indent="-228600" lvl="6" marL="3200400" rtl="0" algn="l">
              <a:spcBef>
                <a:spcPts val="100"/>
              </a:spcBef>
              <a:spcAft>
                <a:spcPts val="0"/>
              </a:spcAft>
              <a:buClr>
                <a:srgbClr val="888888"/>
              </a:buClr>
              <a:buSzPts val="700"/>
              <a:buNone/>
              <a:defRPr sz="700">
                <a:solidFill>
                  <a:srgbClr val="888888"/>
                </a:solidFill>
              </a:defRPr>
            </a:lvl7pPr>
            <a:lvl8pPr indent="-228600" lvl="7" marL="3657600" rtl="0" algn="l">
              <a:spcBef>
                <a:spcPts val="100"/>
              </a:spcBef>
              <a:spcAft>
                <a:spcPts val="0"/>
              </a:spcAft>
              <a:buClr>
                <a:srgbClr val="888888"/>
              </a:buClr>
              <a:buSzPts val="700"/>
              <a:buNone/>
              <a:defRPr sz="700">
                <a:solidFill>
                  <a:srgbClr val="888888"/>
                </a:solidFill>
              </a:defRPr>
            </a:lvl8pPr>
            <a:lvl9pPr indent="-228600" lvl="8" marL="4114800" rtl="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80" name="Google Shape;80;p18"/>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rtl="0" algn="l">
              <a:spcBef>
                <a:spcPts val="300"/>
              </a:spcBef>
              <a:spcAft>
                <a:spcPts val="0"/>
              </a:spcAft>
              <a:buClr>
                <a:schemeClr val="dk1"/>
              </a:buClr>
              <a:buSzPts val="1400"/>
              <a:buChar char="•"/>
              <a:defRPr sz="1400"/>
            </a:lvl1pPr>
            <a:lvl2pPr indent="-304800" lvl="1" marL="914400" rtl="0" algn="l">
              <a:spcBef>
                <a:spcPts val="200"/>
              </a:spcBef>
              <a:spcAft>
                <a:spcPts val="0"/>
              </a:spcAft>
              <a:buClr>
                <a:schemeClr val="dk1"/>
              </a:buClr>
              <a:buSzPts val="1200"/>
              <a:buChar char="–"/>
              <a:defRPr sz="1200"/>
            </a:lvl2pPr>
            <a:lvl3pPr indent="-292100" lvl="2" marL="1371600" rtl="0" algn="l">
              <a:spcBef>
                <a:spcPts val="200"/>
              </a:spcBef>
              <a:spcAft>
                <a:spcPts val="0"/>
              </a:spcAft>
              <a:buClr>
                <a:schemeClr val="dk1"/>
              </a:buClr>
              <a:buSzPts val="1000"/>
              <a:buChar char="•"/>
              <a:defRPr sz="1000"/>
            </a:lvl3pPr>
            <a:lvl4pPr indent="-285750" lvl="3" marL="1828800" rtl="0" algn="l">
              <a:spcBef>
                <a:spcPts val="200"/>
              </a:spcBef>
              <a:spcAft>
                <a:spcPts val="0"/>
              </a:spcAft>
              <a:buClr>
                <a:schemeClr val="dk1"/>
              </a:buClr>
              <a:buSzPts val="900"/>
              <a:buChar char="–"/>
              <a:defRPr sz="900"/>
            </a:lvl4pPr>
            <a:lvl5pPr indent="-285750" lvl="4" marL="2286000" rtl="0" algn="l">
              <a:spcBef>
                <a:spcPts val="200"/>
              </a:spcBef>
              <a:spcAft>
                <a:spcPts val="0"/>
              </a:spcAft>
              <a:buClr>
                <a:schemeClr val="dk1"/>
              </a:buClr>
              <a:buSzPts val="900"/>
              <a:buChar char="»"/>
              <a:defRPr sz="900"/>
            </a:lvl5pPr>
            <a:lvl6pPr indent="-285750" lvl="5" marL="2743200" rtl="0" algn="l">
              <a:spcBef>
                <a:spcPts val="200"/>
              </a:spcBef>
              <a:spcAft>
                <a:spcPts val="0"/>
              </a:spcAft>
              <a:buClr>
                <a:schemeClr val="dk1"/>
              </a:buClr>
              <a:buSzPts val="900"/>
              <a:buChar char="•"/>
              <a:defRPr sz="900"/>
            </a:lvl6pPr>
            <a:lvl7pPr indent="-285750" lvl="6" marL="3200400" rtl="0" algn="l">
              <a:spcBef>
                <a:spcPts val="200"/>
              </a:spcBef>
              <a:spcAft>
                <a:spcPts val="0"/>
              </a:spcAft>
              <a:buClr>
                <a:schemeClr val="dk1"/>
              </a:buClr>
              <a:buSzPts val="900"/>
              <a:buChar char="•"/>
              <a:defRPr sz="900"/>
            </a:lvl7pPr>
            <a:lvl8pPr indent="-285750" lvl="7" marL="3657600" rtl="0" algn="l">
              <a:spcBef>
                <a:spcPts val="200"/>
              </a:spcBef>
              <a:spcAft>
                <a:spcPts val="0"/>
              </a:spcAft>
              <a:buClr>
                <a:schemeClr val="dk1"/>
              </a:buClr>
              <a:buSzPts val="900"/>
              <a:buChar char="•"/>
              <a:defRPr sz="900"/>
            </a:lvl8pPr>
            <a:lvl9pPr indent="-285750" lvl="8" marL="4114800" rtl="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rtl="0" algn="l">
              <a:spcBef>
                <a:spcPts val="300"/>
              </a:spcBef>
              <a:spcAft>
                <a:spcPts val="0"/>
              </a:spcAft>
              <a:buClr>
                <a:schemeClr val="dk1"/>
              </a:buClr>
              <a:buSzPts val="1400"/>
              <a:buChar char="•"/>
              <a:defRPr sz="1400"/>
            </a:lvl1pPr>
            <a:lvl2pPr indent="-304800" lvl="1" marL="914400" rtl="0" algn="l">
              <a:spcBef>
                <a:spcPts val="200"/>
              </a:spcBef>
              <a:spcAft>
                <a:spcPts val="0"/>
              </a:spcAft>
              <a:buClr>
                <a:schemeClr val="dk1"/>
              </a:buClr>
              <a:buSzPts val="1200"/>
              <a:buChar char="–"/>
              <a:defRPr sz="1200"/>
            </a:lvl2pPr>
            <a:lvl3pPr indent="-292100" lvl="2" marL="1371600" rtl="0" algn="l">
              <a:spcBef>
                <a:spcPts val="200"/>
              </a:spcBef>
              <a:spcAft>
                <a:spcPts val="0"/>
              </a:spcAft>
              <a:buClr>
                <a:schemeClr val="dk1"/>
              </a:buClr>
              <a:buSzPts val="1000"/>
              <a:buChar char="•"/>
              <a:defRPr sz="1000"/>
            </a:lvl3pPr>
            <a:lvl4pPr indent="-285750" lvl="3" marL="1828800" rtl="0" algn="l">
              <a:spcBef>
                <a:spcPts val="200"/>
              </a:spcBef>
              <a:spcAft>
                <a:spcPts val="0"/>
              </a:spcAft>
              <a:buClr>
                <a:schemeClr val="dk1"/>
              </a:buClr>
              <a:buSzPts val="900"/>
              <a:buChar char="–"/>
              <a:defRPr sz="900"/>
            </a:lvl4pPr>
            <a:lvl5pPr indent="-285750" lvl="4" marL="2286000" rtl="0" algn="l">
              <a:spcBef>
                <a:spcPts val="200"/>
              </a:spcBef>
              <a:spcAft>
                <a:spcPts val="0"/>
              </a:spcAft>
              <a:buClr>
                <a:schemeClr val="dk1"/>
              </a:buClr>
              <a:buSzPts val="900"/>
              <a:buChar char="»"/>
              <a:defRPr sz="900"/>
            </a:lvl5pPr>
            <a:lvl6pPr indent="-285750" lvl="5" marL="2743200" rtl="0" algn="l">
              <a:spcBef>
                <a:spcPts val="200"/>
              </a:spcBef>
              <a:spcAft>
                <a:spcPts val="0"/>
              </a:spcAft>
              <a:buClr>
                <a:schemeClr val="dk1"/>
              </a:buClr>
              <a:buSzPts val="900"/>
              <a:buChar char="•"/>
              <a:defRPr sz="900"/>
            </a:lvl6pPr>
            <a:lvl7pPr indent="-285750" lvl="6" marL="3200400" rtl="0" algn="l">
              <a:spcBef>
                <a:spcPts val="200"/>
              </a:spcBef>
              <a:spcAft>
                <a:spcPts val="0"/>
              </a:spcAft>
              <a:buClr>
                <a:schemeClr val="dk1"/>
              </a:buClr>
              <a:buSzPts val="900"/>
              <a:buChar char="•"/>
              <a:defRPr sz="900"/>
            </a:lvl7pPr>
            <a:lvl8pPr indent="-285750" lvl="7" marL="3657600" rtl="0" algn="l">
              <a:spcBef>
                <a:spcPts val="200"/>
              </a:spcBef>
              <a:spcAft>
                <a:spcPts val="0"/>
              </a:spcAft>
              <a:buClr>
                <a:schemeClr val="dk1"/>
              </a:buClr>
              <a:buSzPts val="900"/>
              <a:buChar char="•"/>
              <a:defRPr sz="900"/>
            </a:lvl8pPr>
            <a:lvl9pPr indent="-285750" lvl="8" marL="4114800" rtl="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2200"/>
              <a:buFont typeface="Calibri"/>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87" name="Google Shape;87;p19"/>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rtl="0" algn="l">
              <a:spcBef>
                <a:spcPts val="200"/>
              </a:spcBef>
              <a:spcAft>
                <a:spcPts val="0"/>
              </a:spcAft>
              <a:buClr>
                <a:schemeClr val="dk1"/>
              </a:buClr>
              <a:buSzPts val="1200"/>
              <a:buNone/>
              <a:defRPr b="1" sz="1200"/>
            </a:lvl1pPr>
            <a:lvl2pPr indent="-228600" lvl="1" marL="914400" rtl="0" algn="l">
              <a:spcBef>
                <a:spcPts val="200"/>
              </a:spcBef>
              <a:spcAft>
                <a:spcPts val="0"/>
              </a:spcAft>
              <a:buClr>
                <a:schemeClr val="dk1"/>
              </a:buClr>
              <a:buSzPts val="1000"/>
              <a:buNone/>
              <a:defRPr b="1" sz="1000"/>
            </a:lvl2pPr>
            <a:lvl3pPr indent="-228600" lvl="2" marL="1371600" rtl="0" algn="l">
              <a:spcBef>
                <a:spcPts val="200"/>
              </a:spcBef>
              <a:spcAft>
                <a:spcPts val="0"/>
              </a:spcAft>
              <a:buClr>
                <a:schemeClr val="dk1"/>
              </a:buClr>
              <a:buSzPts val="900"/>
              <a:buNone/>
              <a:defRPr b="1" sz="900"/>
            </a:lvl3pPr>
            <a:lvl4pPr indent="-228600" lvl="3" marL="1828800" rtl="0" algn="l">
              <a:spcBef>
                <a:spcPts val="200"/>
              </a:spcBef>
              <a:spcAft>
                <a:spcPts val="0"/>
              </a:spcAft>
              <a:buClr>
                <a:schemeClr val="dk1"/>
              </a:buClr>
              <a:buSzPts val="800"/>
              <a:buNone/>
              <a:defRPr b="1" sz="800"/>
            </a:lvl4pPr>
            <a:lvl5pPr indent="-228600" lvl="4" marL="2286000" rtl="0" algn="l">
              <a:spcBef>
                <a:spcPts val="200"/>
              </a:spcBef>
              <a:spcAft>
                <a:spcPts val="0"/>
              </a:spcAft>
              <a:buClr>
                <a:schemeClr val="dk1"/>
              </a:buClr>
              <a:buSzPts val="800"/>
              <a:buNone/>
              <a:defRPr b="1" sz="800"/>
            </a:lvl5pPr>
            <a:lvl6pPr indent="-228600" lvl="5" marL="2743200" rtl="0" algn="l">
              <a:spcBef>
                <a:spcPts val="200"/>
              </a:spcBef>
              <a:spcAft>
                <a:spcPts val="0"/>
              </a:spcAft>
              <a:buClr>
                <a:schemeClr val="dk1"/>
              </a:buClr>
              <a:buSzPts val="800"/>
              <a:buNone/>
              <a:defRPr b="1" sz="800"/>
            </a:lvl6pPr>
            <a:lvl7pPr indent="-228600" lvl="6" marL="3200400" rtl="0" algn="l">
              <a:spcBef>
                <a:spcPts val="200"/>
              </a:spcBef>
              <a:spcAft>
                <a:spcPts val="0"/>
              </a:spcAft>
              <a:buClr>
                <a:schemeClr val="dk1"/>
              </a:buClr>
              <a:buSzPts val="800"/>
              <a:buNone/>
              <a:defRPr b="1" sz="800"/>
            </a:lvl7pPr>
            <a:lvl8pPr indent="-228600" lvl="7" marL="3657600" rtl="0" algn="l">
              <a:spcBef>
                <a:spcPts val="200"/>
              </a:spcBef>
              <a:spcAft>
                <a:spcPts val="0"/>
              </a:spcAft>
              <a:buClr>
                <a:schemeClr val="dk1"/>
              </a:buClr>
              <a:buSzPts val="800"/>
              <a:buNone/>
              <a:defRPr b="1" sz="800"/>
            </a:lvl8pPr>
            <a:lvl9pPr indent="-228600" lvl="8" marL="4114800" rtl="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rtl="0" algn="l">
              <a:spcBef>
                <a:spcPts val="200"/>
              </a:spcBef>
              <a:spcAft>
                <a:spcPts val="0"/>
              </a:spcAft>
              <a:buClr>
                <a:schemeClr val="dk1"/>
              </a:buClr>
              <a:buSzPts val="1200"/>
              <a:buChar char="•"/>
              <a:defRPr sz="1200"/>
            </a:lvl1pPr>
            <a:lvl2pPr indent="-292100" lvl="1" marL="914400" rtl="0" algn="l">
              <a:spcBef>
                <a:spcPts val="200"/>
              </a:spcBef>
              <a:spcAft>
                <a:spcPts val="0"/>
              </a:spcAft>
              <a:buClr>
                <a:schemeClr val="dk1"/>
              </a:buClr>
              <a:buSzPts val="1000"/>
              <a:buChar char="–"/>
              <a:defRPr sz="1000"/>
            </a:lvl2pPr>
            <a:lvl3pPr indent="-285750" lvl="2" marL="1371600" rtl="0" algn="l">
              <a:spcBef>
                <a:spcPts val="200"/>
              </a:spcBef>
              <a:spcAft>
                <a:spcPts val="0"/>
              </a:spcAft>
              <a:buClr>
                <a:schemeClr val="dk1"/>
              </a:buClr>
              <a:buSzPts val="900"/>
              <a:buChar char="•"/>
              <a:defRPr sz="900"/>
            </a:lvl3pPr>
            <a:lvl4pPr indent="-279400" lvl="3" marL="1828800" rtl="0" algn="l">
              <a:spcBef>
                <a:spcPts val="200"/>
              </a:spcBef>
              <a:spcAft>
                <a:spcPts val="0"/>
              </a:spcAft>
              <a:buClr>
                <a:schemeClr val="dk1"/>
              </a:buClr>
              <a:buSzPts val="800"/>
              <a:buChar char="–"/>
              <a:defRPr sz="800"/>
            </a:lvl4pPr>
            <a:lvl5pPr indent="-279400" lvl="4" marL="2286000" rtl="0" algn="l">
              <a:spcBef>
                <a:spcPts val="200"/>
              </a:spcBef>
              <a:spcAft>
                <a:spcPts val="0"/>
              </a:spcAft>
              <a:buClr>
                <a:schemeClr val="dk1"/>
              </a:buClr>
              <a:buSzPts val="800"/>
              <a:buChar char="»"/>
              <a:defRPr sz="800"/>
            </a:lvl5pPr>
            <a:lvl6pPr indent="-279400" lvl="5" marL="2743200" rtl="0" algn="l">
              <a:spcBef>
                <a:spcPts val="200"/>
              </a:spcBef>
              <a:spcAft>
                <a:spcPts val="0"/>
              </a:spcAft>
              <a:buClr>
                <a:schemeClr val="dk1"/>
              </a:buClr>
              <a:buSzPts val="800"/>
              <a:buChar char="•"/>
              <a:defRPr sz="800"/>
            </a:lvl6pPr>
            <a:lvl7pPr indent="-279400" lvl="6" marL="3200400" rtl="0" algn="l">
              <a:spcBef>
                <a:spcPts val="200"/>
              </a:spcBef>
              <a:spcAft>
                <a:spcPts val="0"/>
              </a:spcAft>
              <a:buClr>
                <a:schemeClr val="dk1"/>
              </a:buClr>
              <a:buSzPts val="800"/>
              <a:buChar char="•"/>
              <a:defRPr sz="800"/>
            </a:lvl7pPr>
            <a:lvl8pPr indent="-279400" lvl="7" marL="3657600" rtl="0" algn="l">
              <a:spcBef>
                <a:spcPts val="200"/>
              </a:spcBef>
              <a:spcAft>
                <a:spcPts val="0"/>
              </a:spcAft>
              <a:buClr>
                <a:schemeClr val="dk1"/>
              </a:buClr>
              <a:buSzPts val="800"/>
              <a:buChar char="•"/>
              <a:defRPr sz="800"/>
            </a:lvl8pPr>
            <a:lvl9pPr indent="-279400" lvl="8" marL="4114800" rtl="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rtl="0" algn="l">
              <a:spcBef>
                <a:spcPts val="200"/>
              </a:spcBef>
              <a:spcAft>
                <a:spcPts val="0"/>
              </a:spcAft>
              <a:buClr>
                <a:schemeClr val="dk1"/>
              </a:buClr>
              <a:buSzPts val="1200"/>
              <a:buNone/>
              <a:defRPr b="1" sz="1200"/>
            </a:lvl1pPr>
            <a:lvl2pPr indent="-228600" lvl="1" marL="914400" rtl="0" algn="l">
              <a:spcBef>
                <a:spcPts val="200"/>
              </a:spcBef>
              <a:spcAft>
                <a:spcPts val="0"/>
              </a:spcAft>
              <a:buClr>
                <a:schemeClr val="dk1"/>
              </a:buClr>
              <a:buSzPts val="1000"/>
              <a:buNone/>
              <a:defRPr b="1" sz="1000"/>
            </a:lvl2pPr>
            <a:lvl3pPr indent="-228600" lvl="2" marL="1371600" rtl="0" algn="l">
              <a:spcBef>
                <a:spcPts val="200"/>
              </a:spcBef>
              <a:spcAft>
                <a:spcPts val="0"/>
              </a:spcAft>
              <a:buClr>
                <a:schemeClr val="dk1"/>
              </a:buClr>
              <a:buSzPts val="900"/>
              <a:buNone/>
              <a:defRPr b="1" sz="900"/>
            </a:lvl3pPr>
            <a:lvl4pPr indent="-228600" lvl="3" marL="1828800" rtl="0" algn="l">
              <a:spcBef>
                <a:spcPts val="200"/>
              </a:spcBef>
              <a:spcAft>
                <a:spcPts val="0"/>
              </a:spcAft>
              <a:buClr>
                <a:schemeClr val="dk1"/>
              </a:buClr>
              <a:buSzPts val="800"/>
              <a:buNone/>
              <a:defRPr b="1" sz="800"/>
            </a:lvl4pPr>
            <a:lvl5pPr indent="-228600" lvl="4" marL="2286000" rtl="0" algn="l">
              <a:spcBef>
                <a:spcPts val="200"/>
              </a:spcBef>
              <a:spcAft>
                <a:spcPts val="0"/>
              </a:spcAft>
              <a:buClr>
                <a:schemeClr val="dk1"/>
              </a:buClr>
              <a:buSzPts val="800"/>
              <a:buNone/>
              <a:defRPr b="1" sz="800"/>
            </a:lvl5pPr>
            <a:lvl6pPr indent="-228600" lvl="5" marL="2743200" rtl="0" algn="l">
              <a:spcBef>
                <a:spcPts val="200"/>
              </a:spcBef>
              <a:spcAft>
                <a:spcPts val="0"/>
              </a:spcAft>
              <a:buClr>
                <a:schemeClr val="dk1"/>
              </a:buClr>
              <a:buSzPts val="800"/>
              <a:buNone/>
              <a:defRPr b="1" sz="800"/>
            </a:lvl6pPr>
            <a:lvl7pPr indent="-228600" lvl="6" marL="3200400" rtl="0" algn="l">
              <a:spcBef>
                <a:spcPts val="200"/>
              </a:spcBef>
              <a:spcAft>
                <a:spcPts val="0"/>
              </a:spcAft>
              <a:buClr>
                <a:schemeClr val="dk1"/>
              </a:buClr>
              <a:buSzPts val="800"/>
              <a:buNone/>
              <a:defRPr b="1" sz="800"/>
            </a:lvl7pPr>
            <a:lvl8pPr indent="-228600" lvl="7" marL="3657600" rtl="0" algn="l">
              <a:spcBef>
                <a:spcPts val="200"/>
              </a:spcBef>
              <a:spcAft>
                <a:spcPts val="0"/>
              </a:spcAft>
              <a:buClr>
                <a:schemeClr val="dk1"/>
              </a:buClr>
              <a:buSzPts val="800"/>
              <a:buNone/>
              <a:defRPr b="1" sz="800"/>
            </a:lvl8pPr>
            <a:lvl9pPr indent="-228600" lvl="8" marL="4114800" rtl="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rtl="0" algn="l">
              <a:spcBef>
                <a:spcPts val="200"/>
              </a:spcBef>
              <a:spcAft>
                <a:spcPts val="0"/>
              </a:spcAft>
              <a:buClr>
                <a:schemeClr val="dk1"/>
              </a:buClr>
              <a:buSzPts val="1200"/>
              <a:buChar char="•"/>
              <a:defRPr sz="1200"/>
            </a:lvl1pPr>
            <a:lvl2pPr indent="-292100" lvl="1" marL="914400" rtl="0" algn="l">
              <a:spcBef>
                <a:spcPts val="200"/>
              </a:spcBef>
              <a:spcAft>
                <a:spcPts val="0"/>
              </a:spcAft>
              <a:buClr>
                <a:schemeClr val="dk1"/>
              </a:buClr>
              <a:buSzPts val="1000"/>
              <a:buChar char="–"/>
              <a:defRPr sz="1000"/>
            </a:lvl2pPr>
            <a:lvl3pPr indent="-285750" lvl="2" marL="1371600" rtl="0" algn="l">
              <a:spcBef>
                <a:spcPts val="200"/>
              </a:spcBef>
              <a:spcAft>
                <a:spcPts val="0"/>
              </a:spcAft>
              <a:buClr>
                <a:schemeClr val="dk1"/>
              </a:buClr>
              <a:buSzPts val="900"/>
              <a:buChar char="•"/>
              <a:defRPr sz="900"/>
            </a:lvl3pPr>
            <a:lvl4pPr indent="-279400" lvl="3" marL="1828800" rtl="0" algn="l">
              <a:spcBef>
                <a:spcPts val="200"/>
              </a:spcBef>
              <a:spcAft>
                <a:spcPts val="0"/>
              </a:spcAft>
              <a:buClr>
                <a:schemeClr val="dk1"/>
              </a:buClr>
              <a:buSzPts val="800"/>
              <a:buChar char="–"/>
              <a:defRPr sz="800"/>
            </a:lvl4pPr>
            <a:lvl5pPr indent="-279400" lvl="4" marL="2286000" rtl="0" algn="l">
              <a:spcBef>
                <a:spcPts val="200"/>
              </a:spcBef>
              <a:spcAft>
                <a:spcPts val="0"/>
              </a:spcAft>
              <a:buClr>
                <a:schemeClr val="dk1"/>
              </a:buClr>
              <a:buSzPts val="800"/>
              <a:buChar char="»"/>
              <a:defRPr sz="800"/>
            </a:lvl5pPr>
            <a:lvl6pPr indent="-279400" lvl="5" marL="2743200" rtl="0" algn="l">
              <a:spcBef>
                <a:spcPts val="200"/>
              </a:spcBef>
              <a:spcAft>
                <a:spcPts val="0"/>
              </a:spcAft>
              <a:buClr>
                <a:schemeClr val="dk1"/>
              </a:buClr>
              <a:buSzPts val="800"/>
              <a:buChar char="•"/>
              <a:defRPr sz="800"/>
            </a:lvl6pPr>
            <a:lvl7pPr indent="-279400" lvl="6" marL="3200400" rtl="0" algn="l">
              <a:spcBef>
                <a:spcPts val="200"/>
              </a:spcBef>
              <a:spcAft>
                <a:spcPts val="0"/>
              </a:spcAft>
              <a:buClr>
                <a:schemeClr val="dk1"/>
              </a:buClr>
              <a:buSzPts val="800"/>
              <a:buChar char="•"/>
              <a:defRPr sz="800"/>
            </a:lvl7pPr>
            <a:lvl8pPr indent="-279400" lvl="7" marL="3657600" rtl="0" algn="l">
              <a:spcBef>
                <a:spcPts val="200"/>
              </a:spcBef>
              <a:spcAft>
                <a:spcPts val="0"/>
              </a:spcAft>
              <a:buClr>
                <a:schemeClr val="dk1"/>
              </a:buClr>
              <a:buSzPts val="800"/>
              <a:buChar char="•"/>
              <a:defRPr sz="800"/>
            </a:lvl8pPr>
            <a:lvl9pPr indent="-279400" lvl="8" marL="4114800" rtl="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96" name="Google Shape;96;p2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rtl="0" algn="l">
              <a:spcBef>
                <a:spcPts val="0"/>
              </a:spcBef>
              <a:spcAft>
                <a:spcPts val="0"/>
              </a:spcAft>
              <a:buClr>
                <a:schemeClr val="dk1"/>
              </a:buClr>
              <a:buSzPts val="1000"/>
              <a:buFont typeface="Calibri"/>
              <a:buNone/>
              <a:defRPr b="1" sz="10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01" name="Google Shape;101;p21"/>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rtl="0" algn="l">
              <a:spcBef>
                <a:spcPts val="300"/>
              </a:spcBef>
              <a:spcAft>
                <a:spcPts val="0"/>
              </a:spcAft>
              <a:buClr>
                <a:schemeClr val="dk1"/>
              </a:buClr>
              <a:buSzPts val="1600"/>
              <a:buChar char="•"/>
              <a:defRPr sz="1600"/>
            </a:lvl1pPr>
            <a:lvl2pPr indent="-317500" lvl="1" marL="914400" rtl="0" algn="l">
              <a:spcBef>
                <a:spcPts val="300"/>
              </a:spcBef>
              <a:spcAft>
                <a:spcPts val="0"/>
              </a:spcAft>
              <a:buClr>
                <a:schemeClr val="dk1"/>
              </a:buClr>
              <a:buSzPts val="1400"/>
              <a:buChar char="–"/>
              <a:defRPr sz="1400"/>
            </a:lvl2pPr>
            <a:lvl3pPr indent="-304800" lvl="2" marL="1371600" rtl="0" algn="l">
              <a:spcBef>
                <a:spcPts val="200"/>
              </a:spcBef>
              <a:spcAft>
                <a:spcPts val="0"/>
              </a:spcAft>
              <a:buClr>
                <a:schemeClr val="dk1"/>
              </a:buClr>
              <a:buSzPts val="1200"/>
              <a:buChar char="•"/>
              <a:defRPr sz="1200"/>
            </a:lvl3pPr>
            <a:lvl4pPr indent="-292100" lvl="3" marL="1828800" rtl="0" algn="l">
              <a:spcBef>
                <a:spcPts val="200"/>
              </a:spcBef>
              <a:spcAft>
                <a:spcPts val="0"/>
              </a:spcAft>
              <a:buClr>
                <a:schemeClr val="dk1"/>
              </a:buClr>
              <a:buSzPts val="1000"/>
              <a:buChar char="–"/>
              <a:defRPr sz="1000"/>
            </a:lvl4pPr>
            <a:lvl5pPr indent="-292100" lvl="4" marL="2286000" rtl="0" algn="l">
              <a:spcBef>
                <a:spcPts val="200"/>
              </a:spcBef>
              <a:spcAft>
                <a:spcPts val="0"/>
              </a:spcAft>
              <a:buClr>
                <a:schemeClr val="dk1"/>
              </a:buClr>
              <a:buSzPts val="1000"/>
              <a:buChar char="»"/>
              <a:defRPr sz="1000"/>
            </a:lvl5pPr>
            <a:lvl6pPr indent="-292100" lvl="5" marL="2743200" rtl="0" algn="l">
              <a:spcBef>
                <a:spcPts val="200"/>
              </a:spcBef>
              <a:spcAft>
                <a:spcPts val="0"/>
              </a:spcAft>
              <a:buClr>
                <a:schemeClr val="dk1"/>
              </a:buClr>
              <a:buSzPts val="1000"/>
              <a:buChar char="•"/>
              <a:defRPr sz="1000"/>
            </a:lvl6pPr>
            <a:lvl7pPr indent="-292100" lvl="6" marL="3200400" rtl="0" algn="l">
              <a:spcBef>
                <a:spcPts val="200"/>
              </a:spcBef>
              <a:spcAft>
                <a:spcPts val="0"/>
              </a:spcAft>
              <a:buClr>
                <a:schemeClr val="dk1"/>
              </a:buClr>
              <a:buSzPts val="1000"/>
              <a:buChar char="•"/>
              <a:defRPr sz="1000"/>
            </a:lvl7pPr>
            <a:lvl8pPr indent="-292100" lvl="7" marL="3657600" rtl="0" algn="l">
              <a:spcBef>
                <a:spcPts val="200"/>
              </a:spcBef>
              <a:spcAft>
                <a:spcPts val="0"/>
              </a:spcAft>
              <a:buClr>
                <a:schemeClr val="dk1"/>
              </a:buClr>
              <a:buSzPts val="1000"/>
              <a:buChar char="•"/>
              <a:defRPr sz="1000"/>
            </a:lvl8pPr>
            <a:lvl9pPr indent="-292100" lvl="8" marL="4114800" rtl="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rtl="0" algn="l">
              <a:spcBef>
                <a:spcPts val="100"/>
              </a:spcBef>
              <a:spcAft>
                <a:spcPts val="0"/>
              </a:spcAft>
              <a:buClr>
                <a:schemeClr val="dk1"/>
              </a:buClr>
              <a:buSzPts val="700"/>
              <a:buNone/>
              <a:defRPr sz="700"/>
            </a:lvl1pPr>
            <a:lvl2pPr indent="-228600" lvl="1" marL="914400" rtl="0" algn="l">
              <a:spcBef>
                <a:spcPts val="100"/>
              </a:spcBef>
              <a:spcAft>
                <a:spcPts val="0"/>
              </a:spcAft>
              <a:buClr>
                <a:schemeClr val="dk1"/>
              </a:buClr>
              <a:buSzPts val="600"/>
              <a:buNone/>
              <a:defRPr sz="600"/>
            </a:lvl2pPr>
            <a:lvl3pPr indent="-228600" lvl="2" marL="1371600" rtl="0" algn="l">
              <a:spcBef>
                <a:spcPts val="100"/>
              </a:spcBef>
              <a:spcAft>
                <a:spcPts val="0"/>
              </a:spcAft>
              <a:buClr>
                <a:schemeClr val="dk1"/>
              </a:buClr>
              <a:buSzPts val="500"/>
              <a:buNone/>
              <a:defRPr sz="500"/>
            </a:lvl3pPr>
            <a:lvl4pPr indent="-228600" lvl="3" marL="1828800" rtl="0" algn="l">
              <a:spcBef>
                <a:spcPts val="100"/>
              </a:spcBef>
              <a:spcAft>
                <a:spcPts val="0"/>
              </a:spcAft>
              <a:buClr>
                <a:schemeClr val="dk1"/>
              </a:buClr>
              <a:buSzPts val="500"/>
              <a:buNone/>
              <a:defRPr sz="500"/>
            </a:lvl4pPr>
            <a:lvl5pPr indent="-228600" lvl="4" marL="2286000" rtl="0" algn="l">
              <a:spcBef>
                <a:spcPts val="100"/>
              </a:spcBef>
              <a:spcAft>
                <a:spcPts val="0"/>
              </a:spcAft>
              <a:buClr>
                <a:schemeClr val="dk1"/>
              </a:buClr>
              <a:buSzPts val="500"/>
              <a:buNone/>
              <a:defRPr sz="500"/>
            </a:lvl5pPr>
            <a:lvl6pPr indent="-228600" lvl="5" marL="2743200" rtl="0" algn="l">
              <a:spcBef>
                <a:spcPts val="100"/>
              </a:spcBef>
              <a:spcAft>
                <a:spcPts val="0"/>
              </a:spcAft>
              <a:buClr>
                <a:schemeClr val="dk1"/>
              </a:buClr>
              <a:buSzPts val="500"/>
              <a:buNone/>
              <a:defRPr sz="500"/>
            </a:lvl6pPr>
            <a:lvl7pPr indent="-228600" lvl="6" marL="3200400" rtl="0" algn="l">
              <a:spcBef>
                <a:spcPts val="100"/>
              </a:spcBef>
              <a:spcAft>
                <a:spcPts val="0"/>
              </a:spcAft>
              <a:buClr>
                <a:schemeClr val="dk1"/>
              </a:buClr>
              <a:buSzPts val="500"/>
              <a:buNone/>
              <a:defRPr sz="500"/>
            </a:lvl7pPr>
            <a:lvl8pPr indent="-228600" lvl="7" marL="3657600" rtl="0" algn="l">
              <a:spcBef>
                <a:spcPts val="100"/>
              </a:spcBef>
              <a:spcAft>
                <a:spcPts val="0"/>
              </a:spcAft>
              <a:buClr>
                <a:schemeClr val="dk1"/>
              </a:buClr>
              <a:buSzPts val="500"/>
              <a:buNone/>
              <a:defRPr sz="500"/>
            </a:lvl8pPr>
            <a:lvl9pPr indent="-228600" lvl="8" marL="4114800" rtl="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rtl="0" algn="l">
              <a:spcBef>
                <a:spcPts val="0"/>
              </a:spcBef>
              <a:spcAft>
                <a:spcPts val="0"/>
              </a:spcAft>
              <a:buClr>
                <a:schemeClr val="dk1"/>
              </a:buClr>
              <a:buSzPts val="1000"/>
              <a:buFont typeface="Calibri"/>
              <a:buNone/>
              <a:defRPr b="1" sz="10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rtl="0" algn="l">
              <a:spcBef>
                <a:spcPts val="100"/>
              </a:spcBef>
              <a:spcAft>
                <a:spcPts val="0"/>
              </a:spcAft>
              <a:buClr>
                <a:schemeClr val="dk1"/>
              </a:buClr>
              <a:buSzPts val="700"/>
              <a:buNone/>
              <a:defRPr sz="700"/>
            </a:lvl1pPr>
            <a:lvl2pPr indent="-228600" lvl="1" marL="914400" rtl="0" algn="l">
              <a:spcBef>
                <a:spcPts val="100"/>
              </a:spcBef>
              <a:spcAft>
                <a:spcPts val="0"/>
              </a:spcAft>
              <a:buClr>
                <a:schemeClr val="dk1"/>
              </a:buClr>
              <a:buSzPts val="600"/>
              <a:buNone/>
              <a:defRPr sz="600"/>
            </a:lvl2pPr>
            <a:lvl3pPr indent="-228600" lvl="2" marL="1371600" rtl="0" algn="l">
              <a:spcBef>
                <a:spcPts val="100"/>
              </a:spcBef>
              <a:spcAft>
                <a:spcPts val="0"/>
              </a:spcAft>
              <a:buClr>
                <a:schemeClr val="dk1"/>
              </a:buClr>
              <a:buSzPts val="500"/>
              <a:buNone/>
              <a:defRPr sz="500"/>
            </a:lvl3pPr>
            <a:lvl4pPr indent="-228600" lvl="3" marL="1828800" rtl="0" algn="l">
              <a:spcBef>
                <a:spcPts val="100"/>
              </a:spcBef>
              <a:spcAft>
                <a:spcPts val="0"/>
              </a:spcAft>
              <a:buClr>
                <a:schemeClr val="dk1"/>
              </a:buClr>
              <a:buSzPts val="500"/>
              <a:buNone/>
              <a:defRPr sz="500"/>
            </a:lvl4pPr>
            <a:lvl5pPr indent="-228600" lvl="4" marL="2286000" rtl="0" algn="l">
              <a:spcBef>
                <a:spcPts val="100"/>
              </a:spcBef>
              <a:spcAft>
                <a:spcPts val="0"/>
              </a:spcAft>
              <a:buClr>
                <a:schemeClr val="dk1"/>
              </a:buClr>
              <a:buSzPts val="500"/>
              <a:buNone/>
              <a:defRPr sz="500"/>
            </a:lvl5pPr>
            <a:lvl6pPr indent="-228600" lvl="5" marL="2743200" rtl="0" algn="l">
              <a:spcBef>
                <a:spcPts val="100"/>
              </a:spcBef>
              <a:spcAft>
                <a:spcPts val="0"/>
              </a:spcAft>
              <a:buClr>
                <a:schemeClr val="dk1"/>
              </a:buClr>
              <a:buSzPts val="500"/>
              <a:buNone/>
              <a:defRPr sz="500"/>
            </a:lvl6pPr>
            <a:lvl7pPr indent="-228600" lvl="6" marL="3200400" rtl="0" algn="l">
              <a:spcBef>
                <a:spcPts val="100"/>
              </a:spcBef>
              <a:spcAft>
                <a:spcPts val="0"/>
              </a:spcAft>
              <a:buClr>
                <a:schemeClr val="dk1"/>
              </a:buClr>
              <a:buSzPts val="500"/>
              <a:buNone/>
              <a:defRPr sz="500"/>
            </a:lvl7pPr>
            <a:lvl8pPr indent="-228600" lvl="7" marL="3657600" rtl="0" algn="l">
              <a:spcBef>
                <a:spcPts val="100"/>
              </a:spcBef>
              <a:spcAft>
                <a:spcPts val="0"/>
              </a:spcAft>
              <a:buClr>
                <a:schemeClr val="dk1"/>
              </a:buClr>
              <a:buSzPts val="500"/>
              <a:buNone/>
              <a:defRPr sz="500"/>
            </a:lvl8pPr>
            <a:lvl9pPr indent="-228600" lvl="8" marL="4114800" rtl="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15" name="Google Shape;115;p23"/>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rtl="0" algn="l">
              <a:spcBef>
                <a:spcPts val="200"/>
              </a:spcBef>
              <a:spcAft>
                <a:spcPts val="0"/>
              </a:spcAft>
              <a:buClr>
                <a:schemeClr val="dk1"/>
              </a:buClr>
              <a:buSzPts val="900"/>
              <a:buChar char="•"/>
              <a:defRPr/>
            </a:lvl1pPr>
            <a:lvl2pPr indent="-285750" lvl="1" marL="914400" rtl="0" algn="l">
              <a:spcBef>
                <a:spcPts val="200"/>
              </a:spcBef>
              <a:spcAft>
                <a:spcPts val="0"/>
              </a:spcAft>
              <a:buClr>
                <a:schemeClr val="dk1"/>
              </a:buClr>
              <a:buSzPts val="900"/>
              <a:buChar char="–"/>
              <a:defRPr/>
            </a:lvl2pPr>
            <a:lvl3pPr indent="-285750" lvl="2" marL="1371600" rtl="0" algn="l">
              <a:spcBef>
                <a:spcPts val="200"/>
              </a:spcBef>
              <a:spcAft>
                <a:spcPts val="0"/>
              </a:spcAft>
              <a:buClr>
                <a:schemeClr val="dk1"/>
              </a:buClr>
              <a:buSzPts val="900"/>
              <a:buChar char="•"/>
              <a:defRPr/>
            </a:lvl3pPr>
            <a:lvl4pPr indent="-285750" lvl="3" marL="1828800" rtl="0" algn="l">
              <a:spcBef>
                <a:spcPts val="200"/>
              </a:spcBef>
              <a:spcAft>
                <a:spcPts val="0"/>
              </a:spcAft>
              <a:buClr>
                <a:schemeClr val="dk1"/>
              </a:buClr>
              <a:buSzPts val="900"/>
              <a:buChar char="–"/>
              <a:defRPr/>
            </a:lvl4pPr>
            <a:lvl5pPr indent="-285750" lvl="4" marL="2286000" rtl="0" algn="l">
              <a:spcBef>
                <a:spcPts val="200"/>
              </a:spcBef>
              <a:spcAft>
                <a:spcPts val="0"/>
              </a:spcAft>
              <a:buClr>
                <a:schemeClr val="dk1"/>
              </a:buClr>
              <a:buSzPts val="900"/>
              <a:buChar char="»"/>
              <a:defRPr/>
            </a:lvl5pPr>
            <a:lvl6pPr indent="-285750" lvl="5" marL="2743200" rtl="0" algn="l">
              <a:spcBef>
                <a:spcPts val="200"/>
              </a:spcBef>
              <a:spcAft>
                <a:spcPts val="0"/>
              </a:spcAft>
              <a:buClr>
                <a:schemeClr val="dk1"/>
              </a:buClr>
              <a:buSzPts val="900"/>
              <a:buChar char="•"/>
              <a:defRPr/>
            </a:lvl6pPr>
            <a:lvl7pPr indent="-285750" lvl="6" marL="3200400" rtl="0" algn="l">
              <a:spcBef>
                <a:spcPts val="200"/>
              </a:spcBef>
              <a:spcAft>
                <a:spcPts val="0"/>
              </a:spcAft>
              <a:buClr>
                <a:schemeClr val="dk1"/>
              </a:buClr>
              <a:buSzPts val="900"/>
              <a:buChar char="•"/>
              <a:defRPr/>
            </a:lvl7pPr>
            <a:lvl8pPr indent="-285750" lvl="7" marL="3657600" rtl="0" algn="l">
              <a:spcBef>
                <a:spcPts val="200"/>
              </a:spcBef>
              <a:spcAft>
                <a:spcPts val="0"/>
              </a:spcAft>
              <a:buClr>
                <a:schemeClr val="dk1"/>
              </a:buClr>
              <a:buSzPts val="900"/>
              <a:buChar char="•"/>
              <a:defRPr/>
            </a:lvl8pPr>
            <a:lvl9pPr indent="-285750" lvl="8" marL="4114800" rtl="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rtl="0" algn="ctr">
              <a:spcBef>
                <a:spcPts val="0"/>
              </a:spcBef>
              <a:spcAft>
                <a:spcPts val="0"/>
              </a:spcAft>
              <a:buClr>
                <a:schemeClr val="dk1"/>
              </a:buClr>
              <a:buSzPts val="900"/>
              <a:buNone/>
              <a:defRPr/>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sp>
        <p:nvSpPr>
          <p:cNvPr id="121" name="Google Shape;121;p24"/>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rtl="0" algn="l">
              <a:spcBef>
                <a:spcPts val="200"/>
              </a:spcBef>
              <a:spcAft>
                <a:spcPts val="0"/>
              </a:spcAft>
              <a:buClr>
                <a:schemeClr val="dk1"/>
              </a:buClr>
              <a:buSzPts val="900"/>
              <a:buChar char="•"/>
              <a:defRPr/>
            </a:lvl1pPr>
            <a:lvl2pPr indent="-285750" lvl="1" marL="914400" rtl="0" algn="l">
              <a:spcBef>
                <a:spcPts val="200"/>
              </a:spcBef>
              <a:spcAft>
                <a:spcPts val="0"/>
              </a:spcAft>
              <a:buClr>
                <a:schemeClr val="dk1"/>
              </a:buClr>
              <a:buSzPts val="900"/>
              <a:buChar char="–"/>
              <a:defRPr/>
            </a:lvl2pPr>
            <a:lvl3pPr indent="-285750" lvl="2" marL="1371600" rtl="0" algn="l">
              <a:spcBef>
                <a:spcPts val="200"/>
              </a:spcBef>
              <a:spcAft>
                <a:spcPts val="0"/>
              </a:spcAft>
              <a:buClr>
                <a:schemeClr val="dk1"/>
              </a:buClr>
              <a:buSzPts val="900"/>
              <a:buChar char="•"/>
              <a:defRPr/>
            </a:lvl3pPr>
            <a:lvl4pPr indent="-285750" lvl="3" marL="1828800" rtl="0" algn="l">
              <a:spcBef>
                <a:spcPts val="200"/>
              </a:spcBef>
              <a:spcAft>
                <a:spcPts val="0"/>
              </a:spcAft>
              <a:buClr>
                <a:schemeClr val="dk1"/>
              </a:buClr>
              <a:buSzPts val="900"/>
              <a:buChar char="–"/>
              <a:defRPr/>
            </a:lvl4pPr>
            <a:lvl5pPr indent="-285750" lvl="4" marL="2286000" rtl="0" algn="l">
              <a:spcBef>
                <a:spcPts val="200"/>
              </a:spcBef>
              <a:spcAft>
                <a:spcPts val="0"/>
              </a:spcAft>
              <a:buClr>
                <a:schemeClr val="dk1"/>
              </a:buClr>
              <a:buSzPts val="900"/>
              <a:buChar char="»"/>
              <a:defRPr/>
            </a:lvl5pPr>
            <a:lvl6pPr indent="-285750" lvl="5" marL="2743200" rtl="0" algn="l">
              <a:spcBef>
                <a:spcPts val="200"/>
              </a:spcBef>
              <a:spcAft>
                <a:spcPts val="0"/>
              </a:spcAft>
              <a:buClr>
                <a:schemeClr val="dk1"/>
              </a:buClr>
              <a:buSzPts val="900"/>
              <a:buChar char="•"/>
              <a:defRPr/>
            </a:lvl6pPr>
            <a:lvl7pPr indent="-285750" lvl="6" marL="3200400" rtl="0" algn="l">
              <a:spcBef>
                <a:spcPts val="200"/>
              </a:spcBef>
              <a:spcAft>
                <a:spcPts val="0"/>
              </a:spcAft>
              <a:buClr>
                <a:schemeClr val="dk1"/>
              </a:buClr>
              <a:buSzPts val="900"/>
              <a:buChar char="•"/>
              <a:defRPr/>
            </a:lvl7pPr>
            <a:lvl8pPr indent="-285750" lvl="7" marL="3657600" rtl="0" algn="l">
              <a:spcBef>
                <a:spcPts val="200"/>
              </a:spcBef>
              <a:spcAft>
                <a:spcPts val="0"/>
              </a:spcAft>
              <a:buClr>
                <a:schemeClr val="dk1"/>
              </a:buClr>
              <a:buSzPts val="900"/>
              <a:buChar char="•"/>
              <a:defRPr/>
            </a:lvl8pPr>
            <a:lvl9pPr indent="-285750" lvl="8" marL="4114800" rtl="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rtl="0" algn="l">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rtl="0" algn="ctr">
              <a:spcBef>
                <a:spcPts val="0"/>
              </a:spcBef>
              <a:spcAft>
                <a:spcPts val="0"/>
              </a:spcAft>
              <a:buSzPts val="700"/>
              <a:buNone/>
              <a:defRPr/>
            </a:lvl1pPr>
            <a:lvl2pPr lvl="1" rtl="0" algn="l">
              <a:spcBef>
                <a:spcPts val="0"/>
              </a:spcBef>
              <a:spcAft>
                <a:spcPts val="0"/>
              </a:spcAft>
              <a:buSzPts val="700"/>
              <a:buNone/>
              <a:defRPr/>
            </a:lvl2pPr>
            <a:lvl3pPr lvl="2" rtl="0" algn="l">
              <a:spcBef>
                <a:spcPts val="0"/>
              </a:spcBef>
              <a:spcAft>
                <a:spcPts val="0"/>
              </a:spcAft>
              <a:buSzPts val="700"/>
              <a:buNone/>
              <a:defRPr/>
            </a:lvl3pPr>
            <a:lvl4pPr lvl="3" rtl="0" algn="l">
              <a:spcBef>
                <a:spcPts val="0"/>
              </a:spcBef>
              <a:spcAft>
                <a:spcPts val="0"/>
              </a:spcAft>
              <a:buSzPts val="700"/>
              <a:buNone/>
              <a:defRPr/>
            </a:lvl4pPr>
            <a:lvl5pPr lvl="4" rtl="0" algn="l">
              <a:spcBef>
                <a:spcPts val="0"/>
              </a:spcBef>
              <a:spcAft>
                <a:spcPts val="0"/>
              </a:spcAft>
              <a:buSzPts val="700"/>
              <a:buNone/>
              <a:defRPr/>
            </a:lvl5pPr>
            <a:lvl6pPr lvl="5" rtl="0" algn="l">
              <a:spcBef>
                <a:spcPts val="0"/>
              </a:spcBef>
              <a:spcAft>
                <a:spcPts val="0"/>
              </a:spcAft>
              <a:buSzPts val="700"/>
              <a:buNone/>
              <a:defRPr/>
            </a:lvl6pPr>
            <a:lvl7pPr lvl="6" rtl="0" algn="l">
              <a:spcBef>
                <a:spcPts val="0"/>
              </a:spcBef>
              <a:spcAft>
                <a:spcPts val="0"/>
              </a:spcAft>
              <a:buSzPts val="700"/>
              <a:buNone/>
              <a:defRPr/>
            </a:lvl7pPr>
            <a:lvl8pPr lvl="7" rtl="0" algn="l">
              <a:spcBef>
                <a:spcPts val="0"/>
              </a:spcBef>
              <a:spcAft>
                <a:spcPts val="0"/>
              </a:spcAft>
              <a:buSzPts val="700"/>
              <a:buNone/>
              <a:defRPr/>
            </a:lvl8pPr>
            <a:lvl9pPr lvl="8" rtl="0"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1" name="Google Shape;131;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2" name="Google Shape;13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5" name="Google Shape;13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6" name="Shape 136"/>
        <p:cNvGrpSpPr/>
        <p:nvPr/>
      </p:nvGrpSpPr>
      <p:grpSpPr>
        <a:xfrm>
          <a:off x="0" y="0"/>
          <a:ext cx="0" cy="0"/>
          <a:chOff x="0" y="0"/>
          <a:chExt cx="0" cy="0"/>
        </a:xfrm>
      </p:grpSpPr>
      <p:sp>
        <p:nvSpPr>
          <p:cNvPr id="137" name="Google Shape;137;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8" name="Google Shape;13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9" name="Google Shape;13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0" name="Shape 140"/>
        <p:cNvGrpSpPr/>
        <p:nvPr/>
      </p:nvGrpSpPr>
      <p:grpSpPr>
        <a:xfrm>
          <a:off x="0" y="0"/>
          <a:ext cx="0" cy="0"/>
          <a:chOff x="0" y="0"/>
          <a:chExt cx="0" cy="0"/>
        </a:xfrm>
      </p:grpSpPr>
      <p:sp>
        <p:nvSpPr>
          <p:cNvPr id="141" name="Google Shape;14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3" name="Google Shape;143;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4" name="Google Shape;14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 name="Shape 145"/>
        <p:cNvGrpSpPr/>
        <p:nvPr/>
      </p:nvGrpSpPr>
      <p:grpSpPr>
        <a:xfrm>
          <a:off x="0" y="0"/>
          <a:ext cx="0" cy="0"/>
          <a:chOff x="0" y="0"/>
          <a:chExt cx="0" cy="0"/>
        </a:xfrm>
      </p:grpSpPr>
      <p:sp>
        <p:nvSpPr>
          <p:cNvPr id="146" name="Google Shape;14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7" name="Google Shape;14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8" name="Shape 148"/>
        <p:cNvGrpSpPr/>
        <p:nvPr/>
      </p:nvGrpSpPr>
      <p:grpSpPr>
        <a:xfrm>
          <a:off x="0" y="0"/>
          <a:ext cx="0" cy="0"/>
          <a:chOff x="0" y="0"/>
          <a:chExt cx="0" cy="0"/>
        </a:xfrm>
      </p:grpSpPr>
      <p:sp>
        <p:nvSpPr>
          <p:cNvPr id="149" name="Google Shape;149;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0" name="Google Shape;150;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1" name="Google Shape;15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2" name="Shape 152"/>
        <p:cNvGrpSpPr/>
        <p:nvPr/>
      </p:nvGrpSpPr>
      <p:grpSpPr>
        <a:xfrm>
          <a:off x="0" y="0"/>
          <a:ext cx="0" cy="0"/>
          <a:chOff x="0" y="0"/>
          <a:chExt cx="0" cy="0"/>
        </a:xfrm>
      </p:grpSpPr>
      <p:sp>
        <p:nvSpPr>
          <p:cNvPr id="153" name="Google Shape;153;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54" name="Google Shape;15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5" name="Shape 155"/>
        <p:cNvGrpSpPr/>
        <p:nvPr/>
      </p:nvGrpSpPr>
      <p:grpSpPr>
        <a:xfrm>
          <a:off x="0" y="0"/>
          <a:ext cx="0" cy="0"/>
          <a:chOff x="0" y="0"/>
          <a:chExt cx="0" cy="0"/>
        </a:xfrm>
      </p:grpSpPr>
      <p:sp>
        <p:nvSpPr>
          <p:cNvPr id="156" name="Google Shape;156;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8" name="Google Shape;158;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9" name="Google Shape;159;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60" name="Google Shape;16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1" name="Shape 161"/>
        <p:cNvGrpSpPr/>
        <p:nvPr/>
      </p:nvGrpSpPr>
      <p:grpSpPr>
        <a:xfrm>
          <a:off x="0" y="0"/>
          <a:ext cx="0" cy="0"/>
          <a:chOff x="0" y="0"/>
          <a:chExt cx="0" cy="0"/>
        </a:xfrm>
      </p:grpSpPr>
      <p:sp>
        <p:nvSpPr>
          <p:cNvPr id="162" name="Google Shape;162;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4" name="Shape 164"/>
        <p:cNvGrpSpPr/>
        <p:nvPr/>
      </p:nvGrpSpPr>
      <p:grpSpPr>
        <a:xfrm>
          <a:off x="0" y="0"/>
          <a:ext cx="0" cy="0"/>
          <a:chOff x="0" y="0"/>
          <a:chExt cx="0" cy="0"/>
        </a:xfrm>
      </p:grpSpPr>
      <p:sp>
        <p:nvSpPr>
          <p:cNvPr id="165" name="Google Shape;165;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6" name="Google Shape;166;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7" name="Google Shape;16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sz="1400">
                <a:solidFill>
                  <a:schemeClr val="dk2"/>
                </a:solidFill>
              </a:defRPr>
            </a:lvl2pPr>
            <a:lvl3pPr indent="-317500" lvl="2" marL="1371600" rtl="0">
              <a:lnSpc>
                <a:spcPct val="115000"/>
              </a:lnSpc>
              <a:spcBef>
                <a:spcPts val="0"/>
              </a:spcBef>
              <a:spcAft>
                <a:spcPts val="0"/>
              </a:spcAft>
              <a:buClr>
                <a:schemeClr val="dk2"/>
              </a:buClr>
              <a:buSzPts val="1400"/>
              <a:buChar char="■"/>
              <a:defRPr sz="1400">
                <a:solidFill>
                  <a:schemeClr val="dk2"/>
                </a:solidFill>
              </a:defRPr>
            </a:lvl3pPr>
            <a:lvl4pPr indent="-317500" lvl="3" marL="1828800" rtl="0">
              <a:lnSpc>
                <a:spcPct val="115000"/>
              </a:lnSpc>
              <a:spcBef>
                <a:spcPts val="0"/>
              </a:spcBef>
              <a:spcAft>
                <a:spcPts val="0"/>
              </a:spcAft>
              <a:buClr>
                <a:schemeClr val="dk2"/>
              </a:buClr>
              <a:buSzPts val="1400"/>
              <a:buChar char="●"/>
              <a:defRPr sz="1400">
                <a:solidFill>
                  <a:schemeClr val="dk2"/>
                </a:solidFill>
              </a:defRPr>
            </a:lvl4pPr>
            <a:lvl5pPr indent="-317500" lvl="4" marL="2286000" rtl="0">
              <a:lnSpc>
                <a:spcPct val="115000"/>
              </a:lnSpc>
              <a:spcBef>
                <a:spcPts val="0"/>
              </a:spcBef>
              <a:spcAft>
                <a:spcPts val="0"/>
              </a:spcAft>
              <a:buClr>
                <a:schemeClr val="dk2"/>
              </a:buClr>
              <a:buSzPts val="1400"/>
              <a:buChar char="○"/>
              <a:defRPr sz="1400">
                <a:solidFill>
                  <a:schemeClr val="dk2"/>
                </a:solidFill>
              </a:defRPr>
            </a:lvl5pPr>
            <a:lvl6pPr indent="-317500" lvl="5" marL="2743200" rtl="0">
              <a:lnSpc>
                <a:spcPct val="115000"/>
              </a:lnSpc>
              <a:spcBef>
                <a:spcPts val="0"/>
              </a:spcBef>
              <a:spcAft>
                <a:spcPts val="0"/>
              </a:spcAft>
              <a:buClr>
                <a:schemeClr val="dk2"/>
              </a:buClr>
              <a:buSzPts val="1400"/>
              <a:buChar char="■"/>
              <a:defRPr sz="1400">
                <a:solidFill>
                  <a:schemeClr val="dk2"/>
                </a:solidFill>
              </a:defRPr>
            </a:lvl6pPr>
            <a:lvl7pPr indent="-317500" lvl="6" marL="3200400" rtl="0">
              <a:lnSpc>
                <a:spcPct val="115000"/>
              </a:lnSpc>
              <a:spcBef>
                <a:spcPts val="0"/>
              </a:spcBef>
              <a:spcAft>
                <a:spcPts val="0"/>
              </a:spcAft>
              <a:buClr>
                <a:schemeClr val="dk2"/>
              </a:buClr>
              <a:buSzPts val="1400"/>
              <a:buChar char="●"/>
              <a:defRPr sz="1400">
                <a:solidFill>
                  <a:schemeClr val="dk2"/>
                </a:solidFill>
              </a:defRPr>
            </a:lvl7pPr>
            <a:lvl8pPr indent="-317500" lvl="7" marL="3657600" rtl="0">
              <a:lnSpc>
                <a:spcPct val="115000"/>
              </a:lnSpc>
              <a:spcBef>
                <a:spcPts val="0"/>
              </a:spcBef>
              <a:spcAft>
                <a:spcPts val="0"/>
              </a:spcAft>
              <a:buClr>
                <a:schemeClr val="dk2"/>
              </a:buClr>
              <a:buSzPts val="1400"/>
              <a:buChar char="○"/>
              <a:defRPr sz="1400">
                <a:solidFill>
                  <a:schemeClr val="dk2"/>
                </a:solidFill>
              </a:defRPr>
            </a:lvl8pPr>
            <a:lvl9pPr indent="-317500" lvl="8" marL="4114800" rtl="0">
              <a:lnSpc>
                <a:spcPct val="115000"/>
              </a:lnSpc>
              <a:spcBef>
                <a:spcPts val="0"/>
              </a:spcBef>
              <a:spcAft>
                <a:spcPts val="0"/>
              </a:spcAft>
              <a:buClr>
                <a:schemeClr val="dk2"/>
              </a:buClr>
              <a:buSzPts val="1400"/>
              <a:buChar char="■"/>
              <a:defRPr sz="1400">
                <a:solidFill>
                  <a:schemeClr val="dk2"/>
                </a:solidFill>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4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41.jp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4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5.png"/><Relationship Id="rId4" Type="http://schemas.openxmlformats.org/officeDocument/2006/relationships/image" Target="../media/image15.png"/><Relationship Id="rId5" Type="http://schemas.openxmlformats.org/officeDocument/2006/relationships/image" Target="../media/image28.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7.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7.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47.png"/><Relationship Id="rId6" Type="http://schemas.openxmlformats.org/officeDocument/2006/relationships/image" Target="../media/image11.png"/><Relationship Id="rId7" Type="http://schemas.openxmlformats.org/officeDocument/2006/relationships/image" Target="../media/image44.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7.png"/><Relationship Id="rId8"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27.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4.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35.png"/><Relationship Id="rId5" Type="http://schemas.openxmlformats.org/officeDocument/2006/relationships/image" Target="../media/image46.png"/><Relationship Id="rId6" Type="http://schemas.openxmlformats.org/officeDocument/2006/relationships/image" Target="../media/image18.png"/><Relationship Id="rId7" Type="http://schemas.openxmlformats.org/officeDocument/2006/relationships/image" Target="../media/image1.png"/><Relationship Id="rId8" Type="http://schemas.openxmlformats.org/officeDocument/2006/relationships/image" Target="../media/image2.png"/><Relationship Id="rId9" Type="http://schemas.openxmlformats.org/officeDocument/2006/relationships/image" Target="../media/image27.png"/><Relationship Id="rId10"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6.png"/><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26.png"/><Relationship Id="rId8" Type="http://schemas.openxmlformats.org/officeDocument/2006/relationships/image" Target="../media/image30.png"/><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29.jpg"/><Relationship Id="rId7" Type="http://schemas.openxmlformats.org/officeDocument/2006/relationships/image" Target="../media/image13.png"/><Relationship Id="rId8" Type="http://schemas.openxmlformats.org/officeDocument/2006/relationships/image" Target="../media/image7.png"/><Relationship Id="rId9" Type="http://schemas.openxmlformats.org/officeDocument/2006/relationships/image" Target="../media/image6.png"/><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29.jpg"/><Relationship Id="rId7" Type="http://schemas.openxmlformats.org/officeDocument/2006/relationships/image" Target="../media/image13.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29.jpg"/><Relationship Id="rId7" Type="http://schemas.openxmlformats.org/officeDocument/2006/relationships/image" Target="../media/image13.png"/><Relationship Id="rId8" Type="http://schemas.openxmlformats.org/officeDocument/2006/relationships/image" Target="../media/image7.png"/><Relationship Id="rId9" Type="http://schemas.openxmlformats.org/officeDocument/2006/relationships/image" Target="../media/image9.png"/><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0.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29.jpg"/><Relationship Id="rId7" Type="http://schemas.openxmlformats.org/officeDocument/2006/relationships/image" Target="../media/image13.png"/><Relationship Id="rId8" Type="http://schemas.openxmlformats.org/officeDocument/2006/relationships/image" Target="../media/image7.png"/><Relationship Id="rId9" Type="http://schemas.openxmlformats.org/officeDocument/2006/relationships/image" Target="../media/image14.png"/><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19.png"/><Relationship Id="rId7" Type="http://schemas.openxmlformats.org/officeDocument/2006/relationships/image" Target="../media/image31.png"/><Relationship Id="rId8" Type="http://schemas.openxmlformats.org/officeDocument/2006/relationships/image" Target="../media/image39.png"/><Relationship Id="rId9" Type="http://schemas.openxmlformats.org/officeDocument/2006/relationships/image" Target="../media/image22.png"/><Relationship Id="rId10" Type="http://schemas.openxmlformats.org/officeDocument/2006/relationships/image" Target="../media/image27.png"/><Relationship Id="rId1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27.png"/><Relationship Id="rId9"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png"/><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7"/>
          <p:cNvPicPr preferRelativeResize="0"/>
          <p:nvPr/>
        </p:nvPicPr>
        <p:blipFill rotWithShape="1">
          <a:blip r:embed="rId3">
            <a:alphaModFix/>
          </a:blip>
          <a:srcRect b="0" l="0" r="0" t="0"/>
          <a:stretch/>
        </p:blipFill>
        <p:spPr>
          <a:xfrm rot="10800000">
            <a:off x="1" y="1"/>
            <a:ext cx="850856" cy="850856"/>
          </a:xfrm>
          <a:prstGeom prst="rect">
            <a:avLst/>
          </a:prstGeom>
          <a:noFill/>
          <a:ln>
            <a:noFill/>
          </a:ln>
        </p:spPr>
      </p:pic>
      <p:pic>
        <p:nvPicPr>
          <p:cNvPr id="175" name="Google Shape;175;p37"/>
          <p:cNvPicPr preferRelativeResize="0"/>
          <p:nvPr/>
        </p:nvPicPr>
        <p:blipFill rotWithShape="1">
          <a:blip r:embed="rId4">
            <a:alphaModFix/>
          </a:blip>
          <a:srcRect b="0" l="0" r="0" t="0"/>
          <a:stretch/>
        </p:blipFill>
        <p:spPr>
          <a:xfrm rot="5400000">
            <a:off x="6639590" y="953177"/>
            <a:ext cx="3339214" cy="1669606"/>
          </a:xfrm>
          <a:prstGeom prst="rect">
            <a:avLst/>
          </a:prstGeom>
          <a:noFill/>
          <a:ln>
            <a:noFill/>
          </a:ln>
        </p:spPr>
      </p:pic>
      <p:sp>
        <p:nvSpPr>
          <p:cNvPr id="176" name="Google Shape;176;p37"/>
          <p:cNvSpPr/>
          <p:nvPr/>
        </p:nvSpPr>
        <p:spPr>
          <a:xfrm>
            <a:off x="0" y="3575961"/>
            <a:ext cx="9144000" cy="1567500"/>
          </a:xfrm>
          <a:prstGeom prst="rect">
            <a:avLst/>
          </a:prstGeom>
          <a:solidFill>
            <a:srgbClr val="000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177" name="Google Shape;177;p37"/>
          <p:cNvPicPr preferRelativeResize="0"/>
          <p:nvPr/>
        </p:nvPicPr>
        <p:blipFill rotWithShape="1">
          <a:blip r:embed="rId5">
            <a:alphaModFix/>
          </a:blip>
          <a:srcRect b="0" l="0" r="0" t="0"/>
          <a:stretch/>
        </p:blipFill>
        <p:spPr>
          <a:xfrm rot="5400000">
            <a:off x="0" y="2788519"/>
            <a:ext cx="787442" cy="787441"/>
          </a:xfrm>
          <a:prstGeom prst="rect">
            <a:avLst/>
          </a:prstGeom>
          <a:noFill/>
          <a:ln>
            <a:noFill/>
          </a:ln>
        </p:spPr>
      </p:pic>
      <p:sp>
        <p:nvSpPr>
          <p:cNvPr id="178" name="Google Shape;178;p37"/>
          <p:cNvSpPr/>
          <p:nvPr/>
        </p:nvSpPr>
        <p:spPr>
          <a:xfrm>
            <a:off x="6793083" y="4109664"/>
            <a:ext cx="1827136" cy="500443"/>
          </a:xfrm>
          <a:custGeom>
            <a:rect b="b" l="l" r="r" t="t"/>
            <a:pathLst>
              <a:path extrusionOk="0" h="360680" w="1316855">
                <a:moveTo>
                  <a:pt x="1316855" y="180340"/>
                </a:moveTo>
                <a:cubicBezTo>
                  <a:pt x="1316855" y="81280"/>
                  <a:pt x="1236845" y="0"/>
                  <a:pt x="1136515" y="0"/>
                </a:cubicBezTo>
                <a:lnTo>
                  <a:pt x="172720" y="0"/>
                </a:lnTo>
                <a:lnTo>
                  <a:pt x="172720" y="1270"/>
                </a:lnTo>
                <a:cubicBezTo>
                  <a:pt x="76200" y="5080"/>
                  <a:pt x="0" y="83820"/>
                  <a:pt x="0" y="180340"/>
                </a:cubicBezTo>
                <a:cubicBezTo>
                  <a:pt x="0" y="276860"/>
                  <a:pt x="77470" y="355600"/>
                  <a:pt x="172720" y="359410"/>
                </a:cubicBezTo>
                <a:lnTo>
                  <a:pt x="172720" y="360680"/>
                </a:lnTo>
                <a:lnTo>
                  <a:pt x="1136514" y="360680"/>
                </a:lnTo>
                <a:cubicBezTo>
                  <a:pt x="1235575" y="360680"/>
                  <a:pt x="1316855" y="279400"/>
                  <a:pt x="1316855" y="180340"/>
                </a:cubicBezTo>
                <a:close/>
              </a:path>
            </a:pathLst>
          </a:custGeom>
          <a:solidFill>
            <a:srgbClr val="FFFFFF">
              <a:alpha val="305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179" name="Google Shape;179;p37"/>
          <p:cNvGrpSpPr/>
          <p:nvPr/>
        </p:nvGrpSpPr>
        <p:grpSpPr>
          <a:xfrm>
            <a:off x="8134594" y="4112202"/>
            <a:ext cx="495056" cy="495056"/>
            <a:chOff x="0" y="0"/>
            <a:chExt cx="1320150" cy="1320150"/>
          </a:xfrm>
        </p:grpSpPr>
        <p:pic>
          <p:nvPicPr>
            <p:cNvPr id="180" name="Google Shape;180;p37"/>
            <p:cNvPicPr preferRelativeResize="0"/>
            <p:nvPr/>
          </p:nvPicPr>
          <p:blipFill rotWithShape="1">
            <a:blip r:embed="rId6">
              <a:alphaModFix/>
            </a:blip>
            <a:srcRect b="0" l="0" r="0" t="0"/>
            <a:stretch/>
          </p:blipFill>
          <p:spPr>
            <a:xfrm>
              <a:off x="0" y="0"/>
              <a:ext cx="1320150" cy="1320150"/>
            </a:xfrm>
            <a:prstGeom prst="rect">
              <a:avLst/>
            </a:prstGeom>
            <a:noFill/>
            <a:ln>
              <a:noFill/>
            </a:ln>
          </p:spPr>
        </p:pic>
        <p:pic>
          <p:nvPicPr>
            <p:cNvPr id="181" name="Google Shape;181;p37"/>
            <p:cNvPicPr preferRelativeResize="0"/>
            <p:nvPr/>
          </p:nvPicPr>
          <p:blipFill rotWithShape="1">
            <a:blip r:embed="rId7">
              <a:alphaModFix/>
            </a:blip>
            <a:srcRect b="0" l="0" r="0" t="0"/>
            <a:stretch/>
          </p:blipFill>
          <p:spPr>
            <a:xfrm>
              <a:off x="196443" y="196443"/>
              <a:ext cx="927263" cy="927263"/>
            </a:xfrm>
            <a:prstGeom prst="rect">
              <a:avLst/>
            </a:prstGeom>
            <a:noFill/>
            <a:ln>
              <a:noFill/>
            </a:ln>
          </p:spPr>
        </p:pic>
      </p:grpSp>
      <p:pic>
        <p:nvPicPr>
          <p:cNvPr id="182" name="Google Shape;182;p37"/>
          <p:cNvPicPr preferRelativeResize="0"/>
          <p:nvPr/>
        </p:nvPicPr>
        <p:blipFill rotWithShape="1">
          <a:blip r:embed="rId8">
            <a:alphaModFix/>
          </a:blip>
          <a:srcRect b="0" l="0" r="0" t="0"/>
          <a:stretch/>
        </p:blipFill>
        <p:spPr>
          <a:xfrm>
            <a:off x="514350" y="2229693"/>
            <a:ext cx="4014362" cy="684113"/>
          </a:xfrm>
          <a:prstGeom prst="rect">
            <a:avLst/>
          </a:prstGeom>
          <a:noFill/>
          <a:ln>
            <a:noFill/>
          </a:ln>
        </p:spPr>
      </p:pic>
      <p:sp>
        <p:nvSpPr>
          <p:cNvPr id="183" name="TextBox 182"/>
          <p:cNvSpPr txBox="1"/>
          <p:nvPr/>
        </p:nvSpPr>
        <p:spPr>
          <a:xfrm>
            <a:off x="512064" y="566928"/>
            <a:ext cx="6035040" cy="914400"/>
          </a:xfrm>
          <a:prstGeom prst="rect">
            <a:avLst/>
          </a:prstGeom>
          <a:noFill/>
        </p:spPr>
        <p:txBody>
          <a:bodyPr wrap="square" anchor="t" lIns="0" rIns="0" tIns="0" bIns="0">
            <a:spAutoFit/>
          </a:bodyPr>
          <a:lstStyle/>
          <a:p>
            <a:pPr algn="l">
              <a:spcAft>
                <a:spcPts val="0"/>
              </a:spcAft>
            </a:pPr>
            <a:r>
              <a:rPr sz="4000" b="1" i="0">
                <a:solidFill>
                  <a:srgbClr val="131313"/>
                </a:solidFill>
                <a:latin typeface="League Spartan"/>
              </a:rPr>
              <a:t>From PhET to Keyboarding</a:t>
            </a:r>
          </a:p>
        </p:txBody>
      </p:sp>
      <p:sp>
        <p:nvSpPr>
          <p:cNvPr id="184" name="TextBox 183"/>
          <p:cNvSpPr txBox="1"/>
          <p:nvPr/>
        </p:nvSpPr>
        <p:spPr>
          <a:xfrm>
            <a:off x="512064" y="1417320"/>
            <a:ext cx="5852160" cy="731520"/>
          </a:xfrm>
          <a:prstGeom prst="rect">
            <a:avLst/>
          </a:prstGeom>
          <a:noFill/>
        </p:spPr>
        <p:txBody>
          <a:bodyPr wrap="square" anchor="t" lIns="0" rIns="0" tIns="0" bIns="0">
            <a:spAutoFit/>
          </a:bodyPr>
          <a:lstStyle/>
          <a:p>
            <a:pPr algn="l">
              <a:spcAft>
                <a:spcPts val="600"/>
              </a:spcAft>
            </a:pPr>
            <a:r>
              <a:rPr sz="1500" b="0" i="0">
                <a:solidFill>
                  <a:srgbClr val="605F5E"/>
                </a:solidFill>
                <a:latin typeface="Roboto"/>
              </a:rPr>
              <a:t>How We Built an LTI Tool That Turns Any Web Interactive into a Gradable Canvas Assignment</a:t>
            </a:r>
          </a:p>
        </p:txBody>
      </p:sp>
      <p:sp>
        <p:nvSpPr>
          <p:cNvPr id="185" name="TextBox 184"/>
          <p:cNvSpPr txBox="1"/>
          <p:nvPr/>
        </p:nvSpPr>
        <p:spPr>
          <a:xfrm>
            <a:off x="512064" y="3886200"/>
            <a:ext cx="5943600" cy="822960"/>
          </a:xfrm>
          <a:prstGeom prst="rect">
            <a:avLst/>
          </a:prstGeom>
          <a:noFill/>
        </p:spPr>
        <p:txBody>
          <a:bodyPr wrap="square" anchor="t" lIns="0" rIns="0" tIns="0" bIns="0">
            <a:spAutoFit/>
          </a:bodyPr>
          <a:lstStyle/>
          <a:p>
            <a:pPr algn="l">
              <a:spcAft>
                <a:spcPts val="200"/>
              </a:spcAft>
            </a:pPr>
            <a:r>
              <a:rPr sz="1800" b="1" i="0">
                <a:solidFill>
                  <a:srgbClr val="FFFFFF"/>
                </a:solidFill>
                <a:latin typeface="League Spartan"/>
              </a:rPr>
              <a:t>Kyle Yancey</a:t>
            </a:r>
          </a:p>
          <a:p>
            <a:pPr algn="l">
              <a:spcAft>
                <a:spcPts val="600"/>
              </a:spcAft>
            </a:pPr>
            <a:r>
              <a:rPr sz="1200" b="0" i="0">
                <a:solidFill>
                  <a:srgbClr val="FFFFFF"/>
                </a:solidFill>
                <a:latin typeface="Roboto"/>
              </a:rPr>
              <a:t>Data Science Specialist, Virtual Arkansas  |  VLLA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pic>
        <p:nvPicPr>
          <p:cNvPr id="540" name="Google Shape;540;p52"/>
          <p:cNvPicPr preferRelativeResize="0"/>
          <p:nvPr/>
        </p:nvPicPr>
        <p:blipFill rotWithShape="1">
          <a:blip r:embed="rId3">
            <a:alphaModFix/>
          </a:blip>
          <a:srcRect b="0" l="0" r="0" t="0"/>
          <a:stretch/>
        </p:blipFill>
        <p:spPr>
          <a:xfrm flipH="1" rot="5400000">
            <a:off x="1" y="1"/>
            <a:ext cx="1002178" cy="1002178"/>
          </a:xfrm>
          <a:prstGeom prst="rect">
            <a:avLst/>
          </a:prstGeom>
          <a:noFill/>
          <a:ln>
            <a:noFill/>
          </a:ln>
        </p:spPr>
      </p:pic>
      <p:pic>
        <p:nvPicPr>
          <p:cNvPr id="541" name="Google Shape;541;p52"/>
          <p:cNvPicPr preferRelativeResize="0"/>
          <p:nvPr/>
        </p:nvPicPr>
        <p:blipFill rotWithShape="1">
          <a:blip r:embed="rId4">
            <a:alphaModFix/>
          </a:blip>
          <a:srcRect b="0" l="0" r="0" t="0"/>
          <a:stretch/>
        </p:blipFill>
        <p:spPr>
          <a:xfrm rot="5400000">
            <a:off x="6903340" y="1261237"/>
            <a:ext cx="2987546" cy="1493773"/>
          </a:xfrm>
          <a:prstGeom prst="rect">
            <a:avLst/>
          </a:prstGeom>
          <a:noFill/>
          <a:ln>
            <a:noFill/>
          </a:ln>
        </p:spPr>
      </p:pic>
      <p:grpSp>
        <p:nvGrpSpPr>
          <p:cNvPr id="550" name="Google Shape;550;p52"/>
          <p:cNvGrpSpPr/>
          <p:nvPr/>
        </p:nvGrpSpPr>
        <p:grpSpPr>
          <a:xfrm>
            <a:off x="7704129" y="4183226"/>
            <a:ext cx="915496" cy="471026"/>
            <a:chOff x="61924" y="79616"/>
            <a:chExt cx="2441323" cy="1256068"/>
          </a:xfrm>
        </p:grpSpPr>
        <p:sp>
          <p:nvSpPr>
            <p:cNvPr id="551" name="Google Shape;551;p52"/>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552" name="Google Shape;552;p52"/>
            <p:cNvPicPr preferRelativeResize="0"/>
            <p:nvPr/>
          </p:nvPicPr>
          <p:blipFill rotWithShape="1">
            <a:blip r:embed="rId6">
              <a:alphaModFix/>
            </a:blip>
            <a:srcRect b="0" l="0" r="0" t="0"/>
            <a:stretch/>
          </p:blipFill>
          <p:spPr>
            <a:xfrm>
              <a:off x="1328489" y="190500"/>
              <a:ext cx="1034400" cy="1034400"/>
            </a:xfrm>
            <a:prstGeom prst="rect">
              <a:avLst/>
            </a:prstGeom>
            <a:noFill/>
            <a:ln>
              <a:noFill/>
            </a:ln>
          </p:spPr>
        </p:pic>
      </p:grpSp>
      <p:pic>
        <p:nvPicPr>
          <p:cNvPr id="553" name="Google Shape;553;p52"/>
          <p:cNvPicPr preferRelativeResize="0"/>
          <p:nvPr/>
        </p:nvPicPr>
        <p:blipFill rotWithShape="1">
          <a:blip r:embed="rId7">
            <a:alphaModFix/>
          </a:blip>
          <a:srcRect b="0" l="0" r="0" t="0"/>
          <a:stretch/>
        </p:blipFill>
        <p:spPr>
          <a:xfrm>
            <a:off x="8236813" y="4282529"/>
            <a:ext cx="272458" cy="272458"/>
          </a:xfrm>
          <a:prstGeom prst="rect">
            <a:avLst/>
          </a:prstGeom>
          <a:noFill/>
          <a:ln>
            <a:noFill/>
          </a:ln>
        </p:spPr>
      </p:pic>
      <p:pic>
        <p:nvPicPr>
          <p:cNvPr id="554" name="Google Shape;554;p52"/>
          <p:cNvPicPr preferRelativeResize="0"/>
          <p:nvPr/>
        </p:nvPicPr>
        <p:blipFill rotWithShape="1">
          <a:blip r:embed="rId8">
            <a:alphaModFix/>
          </a:blip>
          <a:srcRect b="0" l="0" r="0" t="0"/>
          <a:stretch/>
        </p:blipFill>
        <p:spPr>
          <a:xfrm>
            <a:off x="527611" y="4000032"/>
            <a:ext cx="4014362" cy="684113"/>
          </a:xfrm>
          <a:prstGeom prst="rect">
            <a:avLst/>
          </a:prstGeom>
          <a:noFill/>
          <a:ln>
            <a:noFill/>
          </a:ln>
        </p:spPr>
      </p:pic>
      <p:sp>
        <p:nvSpPr>
          <p:cNvPr id="555" name="TextBox 554"/>
          <p:cNvSpPr txBox="1"/>
          <p:nvPr/>
        </p:nvSpPr>
        <p:spPr>
          <a:xfrm>
            <a:off x="530352" y="685800"/>
            <a:ext cx="4114800" cy="548640"/>
          </a:xfrm>
          <a:prstGeom prst="rect">
            <a:avLst/>
          </a:prstGeom>
          <a:noFill/>
        </p:spPr>
        <p:txBody>
          <a:bodyPr wrap="square" anchor="t" lIns="0" rIns="0" tIns="0" bIns="0">
            <a:spAutoFit/>
          </a:bodyPr>
          <a:lstStyle/>
          <a:p>
            <a:pPr algn="l">
              <a:spcAft>
                <a:spcPts val="0"/>
              </a:spcAft>
            </a:pPr>
            <a:r>
              <a:rPr sz="3400" b="1" i="0">
                <a:solidFill>
                  <a:srgbClr val="131313"/>
                </a:solidFill>
                <a:latin typeface="League Spartan"/>
              </a:rPr>
              <a:t>About Me</a:t>
            </a:r>
          </a:p>
        </p:txBody>
      </p:sp>
      <p:sp>
        <p:nvSpPr>
          <p:cNvPr id="556" name="TextBox 555"/>
          <p:cNvSpPr txBox="1"/>
          <p:nvPr/>
        </p:nvSpPr>
        <p:spPr>
          <a:xfrm>
            <a:off x="530352" y="1417320"/>
            <a:ext cx="4389120" cy="2377440"/>
          </a:xfrm>
          <a:prstGeom prst="rect">
            <a:avLst/>
          </a:prstGeom>
          <a:noFill/>
        </p:spPr>
        <p:txBody>
          <a:bodyPr wrap="square" anchor="t" lIns="0" rIns="0" tIns="0" bIns="0">
            <a:spAutoFit/>
          </a:bodyPr>
          <a:lstStyle/>
          <a:p>
            <a:pPr algn="l">
              <a:spcAft>
                <a:spcPts val="800"/>
              </a:spcAft>
            </a:pPr>
            <a:r>
              <a:rPr sz="1300" b="0" i="0">
                <a:solidFill>
                  <a:srgbClr val="131313"/>
                </a:solidFill>
                <a:latin typeface="Roboto"/>
              </a:rPr>
              <a:t>Data Science Specialist, Virtual Arkansas</a:t>
            </a:r>
          </a:p>
          <a:p>
            <a:pPr algn="l">
              <a:spcAft>
                <a:spcPts val="800"/>
              </a:spcAft>
            </a:pPr>
            <a:r>
              <a:rPr sz="1300" b="0" i="0">
                <a:solidFill>
                  <a:srgbClr val="131313"/>
                </a:solidFill>
                <a:latin typeface="Roboto"/>
              </a:rPr>
              <a:t>Teacher for 10 years: Physics, Chemistry, Biology, Physical Science, Business, Computer Science</a:t>
            </a:r>
          </a:p>
          <a:p>
            <a:pPr algn="l">
              <a:spcAft>
                <a:spcPts val="800"/>
              </a:spcAft>
            </a:pPr>
            <a:r>
              <a:rPr sz="1300" b="0" i="0">
                <a:solidFill>
                  <a:srgbClr val="131313"/>
                </a:solidFill>
                <a:latin typeface="Roboto"/>
              </a:rPr>
              <a:t>Coding for about 25 years</a:t>
            </a:r>
          </a:p>
          <a:p>
            <a:pPr algn="l">
              <a:spcAft>
                <a:spcPts val="800"/>
              </a:spcAft>
            </a:pPr>
            <a:r>
              <a:rPr sz="1300" b="0" i="0">
                <a:solidFill>
                  <a:srgbClr val="131313"/>
                </a:solidFill>
                <a:latin typeface="Roboto"/>
              </a:rPr>
              <a:t>B.S. Computer Science, Master of Arts in Teaching</a:t>
            </a:r>
          </a:p>
          <a:p>
            <a:pPr algn="l">
              <a:spcAft>
                <a:spcPts val="800"/>
              </a:spcAft>
            </a:pPr>
            <a:r>
              <a:rPr sz="1300" b="1" i="0">
                <a:solidFill>
                  <a:srgbClr val="960000"/>
                </a:solidFill>
                <a:latin typeface="Roboto"/>
              </a:rPr>
              <a:t>kyle.yancey@virtualarkansas.org</a:t>
            </a:r>
          </a:p>
        </p:txBody>
      </p:sp>
      <p:sp>
        <p:nvSpPr>
          <p:cNvPr id="557" name="Oval 556"/>
          <p:cNvSpPr/>
          <p:nvPr/>
        </p:nvSpPr>
        <p:spPr>
          <a:xfrm>
            <a:off x="5486400" y="822960"/>
            <a:ext cx="2377440" cy="2377440"/>
          </a:xfrm>
          <a:prstGeom prst="ellipse">
            <a:avLst/>
          </a:prstGeom>
          <a:solidFill>
            <a:srgbClr val="EEEEEE"/>
          </a:solidFill>
          <a:ln w="19050">
            <a:solidFill>
              <a:srgbClr val="25AE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a:solidFill>
                  <a:srgbClr val="605F5E"/>
                </a:solidFill>
                <a:latin typeface="Roboto"/>
              </a:rPr>
              <a:t>Your photo</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C0C0"/>
        </a:solidFill>
      </p:bgPr>
    </p:bg>
    <p:spTree>
      <p:nvGrpSpPr>
        <p:cNvPr id="283" name="Shape 283"/>
        <p:cNvGrpSpPr/>
        <p:nvPr/>
      </p:nvGrpSpPr>
      <p:grpSpPr>
        <a:xfrm>
          <a:off x="0" y="0"/>
          <a:ext cx="0" cy="0"/>
          <a:chOff x="0" y="0"/>
          <a:chExt cx="0" cy="0"/>
        </a:xfrm>
      </p:grpSpPr>
      <p:sp>
        <p:nvSpPr>
          <p:cNvPr id="284" name="Google Shape;284;p42"/>
          <p:cNvSpPr/>
          <p:nvPr/>
        </p:nvSpPr>
        <p:spPr>
          <a:xfrm>
            <a:off x="6750725" y="1336000"/>
            <a:ext cx="1116900" cy="1149900"/>
          </a:xfrm>
          <a:prstGeom prst="donut">
            <a:avLst>
              <a:gd fmla="val 13443" name="adj"/>
            </a:avLst>
          </a:prstGeom>
          <a:solidFill>
            <a:srgbClr val="25AFFA"/>
          </a:solidFill>
          <a:ln cap="flat" cmpd="sng" w="9525">
            <a:solidFill>
              <a:srgbClr val="25AF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2"/>
          <p:cNvSpPr/>
          <p:nvPr/>
        </p:nvSpPr>
        <p:spPr>
          <a:xfrm>
            <a:off x="2797850" y="1336000"/>
            <a:ext cx="1374000" cy="1344900"/>
          </a:xfrm>
          <a:prstGeom prst="donut">
            <a:avLst>
              <a:gd fmla="val 13443" name="adj"/>
            </a:avLst>
          </a:prstGeom>
          <a:solidFill>
            <a:srgbClr val="960000"/>
          </a:solidFill>
          <a:ln cap="flat" cmpd="sng" w="9525">
            <a:solidFill>
              <a:srgbClr val="9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 name="Google Shape;286;p42"/>
          <p:cNvPicPr preferRelativeResize="0"/>
          <p:nvPr/>
        </p:nvPicPr>
        <p:blipFill rotWithShape="1">
          <a:blip r:embed="rId3">
            <a:alphaModFix/>
          </a:blip>
          <a:srcRect b="0" l="0" r="0" t="0"/>
          <a:stretch/>
        </p:blipFill>
        <p:spPr>
          <a:xfrm>
            <a:off x="3995180" y="985476"/>
            <a:ext cx="259217" cy="259217"/>
          </a:xfrm>
          <a:prstGeom prst="rect">
            <a:avLst/>
          </a:prstGeom>
          <a:noFill/>
          <a:ln>
            <a:noFill/>
          </a:ln>
        </p:spPr>
      </p:pic>
      <p:sp>
        <p:nvSpPr>
          <p:cNvPr id="288" name="Google Shape;288;p42"/>
          <p:cNvSpPr/>
          <p:nvPr/>
        </p:nvSpPr>
        <p:spPr>
          <a:xfrm>
            <a:off x="514350" y="1746185"/>
            <a:ext cx="4057398" cy="1992723"/>
          </a:xfrm>
          <a:custGeom>
            <a:rect b="b" l="l" r="r" t="t"/>
            <a:pathLst>
              <a:path extrusionOk="0" h="1153530" w="2348711">
                <a:moveTo>
                  <a:pt x="2224251" y="1153530"/>
                </a:moveTo>
                <a:lnTo>
                  <a:pt x="124460" y="1153530"/>
                </a:lnTo>
                <a:cubicBezTo>
                  <a:pt x="55880" y="1153530"/>
                  <a:pt x="0" y="1097650"/>
                  <a:pt x="0" y="1029070"/>
                </a:cubicBezTo>
                <a:lnTo>
                  <a:pt x="0" y="124460"/>
                </a:lnTo>
                <a:cubicBezTo>
                  <a:pt x="0" y="55880"/>
                  <a:pt x="55880" y="0"/>
                  <a:pt x="124460" y="0"/>
                </a:cubicBezTo>
                <a:lnTo>
                  <a:pt x="2224251" y="0"/>
                </a:lnTo>
                <a:cubicBezTo>
                  <a:pt x="2292831" y="0"/>
                  <a:pt x="2348711" y="55880"/>
                  <a:pt x="2348711" y="124460"/>
                </a:cubicBezTo>
                <a:lnTo>
                  <a:pt x="2348711" y="1029070"/>
                </a:lnTo>
                <a:cubicBezTo>
                  <a:pt x="2348711" y="1097650"/>
                  <a:pt x="2292831" y="1153530"/>
                  <a:pt x="2224251" y="1153530"/>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9" name="Google Shape;289;p42"/>
          <p:cNvSpPr/>
          <p:nvPr/>
        </p:nvSpPr>
        <p:spPr>
          <a:xfrm>
            <a:off x="4572000" y="1746185"/>
            <a:ext cx="4057398" cy="1992723"/>
          </a:xfrm>
          <a:custGeom>
            <a:rect b="b" l="l" r="r" t="t"/>
            <a:pathLst>
              <a:path extrusionOk="0" h="1153530" w="2348711">
                <a:moveTo>
                  <a:pt x="2224251" y="1153530"/>
                </a:moveTo>
                <a:lnTo>
                  <a:pt x="124460" y="1153530"/>
                </a:lnTo>
                <a:cubicBezTo>
                  <a:pt x="55880" y="1153530"/>
                  <a:pt x="0" y="1097650"/>
                  <a:pt x="0" y="1029070"/>
                </a:cubicBezTo>
                <a:lnTo>
                  <a:pt x="0" y="124460"/>
                </a:lnTo>
                <a:cubicBezTo>
                  <a:pt x="0" y="55880"/>
                  <a:pt x="55880" y="0"/>
                  <a:pt x="124460" y="0"/>
                </a:cubicBezTo>
                <a:lnTo>
                  <a:pt x="2224251" y="0"/>
                </a:lnTo>
                <a:cubicBezTo>
                  <a:pt x="2292831" y="0"/>
                  <a:pt x="2348711" y="55880"/>
                  <a:pt x="2348711" y="124460"/>
                </a:cubicBezTo>
                <a:lnTo>
                  <a:pt x="2348711" y="1029070"/>
                </a:lnTo>
                <a:cubicBezTo>
                  <a:pt x="2348711" y="1097650"/>
                  <a:pt x="2292831" y="1153530"/>
                  <a:pt x="2224251" y="1153530"/>
                </a:cubicBezTo>
                <a:close/>
              </a:path>
            </a:pathLst>
          </a:custGeom>
          <a:solidFill>
            <a:srgbClr val="1B316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96" name="Google Shape;296;p42"/>
          <p:cNvPicPr preferRelativeResize="0"/>
          <p:nvPr/>
        </p:nvPicPr>
        <p:blipFill rotWithShape="1">
          <a:blip r:embed="rId4">
            <a:alphaModFix/>
          </a:blip>
          <a:srcRect b="0" l="0" r="0" t="0"/>
          <a:stretch/>
        </p:blipFill>
        <p:spPr>
          <a:xfrm rot="10800000">
            <a:off x="514350" y="4688146"/>
            <a:ext cx="910708" cy="455354"/>
          </a:xfrm>
          <a:prstGeom prst="rect">
            <a:avLst/>
          </a:prstGeom>
          <a:noFill/>
          <a:ln>
            <a:noFill/>
          </a:ln>
        </p:spPr>
      </p:pic>
      <p:pic>
        <p:nvPicPr>
          <p:cNvPr id="297" name="Google Shape;297;p42"/>
          <p:cNvPicPr preferRelativeResize="0"/>
          <p:nvPr/>
        </p:nvPicPr>
        <p:blipFill rotWithShape="1">
          <a:blip r:embed="rId5">
            <a:alphaModFix/>
          </a:blip>
          <a:srcRect b="0" l="0" r="0" t="0"/>
          <a:stretch/>
        </p:blipFill>
        <p:spPr>
          <a:xfrm>
            <a:off x="8083934" y="985476"/>
            <a:ext cx="259217" cy="259217"/>
          </a:xfrm>
          <a:prstGeom prst="rect">
            <a:avLst/>
          </a:prstGeom>
          <a:noFill/>
          <a:ln>
            <a:noFill/>
          </a:ln>
        </p:spPr>
      </p:pic>
      <p:grpSp>
        <p:nvGrpSpPr>
          <p:cNvPr id="298" name="Google Shape;298;p42"/>
          <p:cNvGrpSpPr/>
          <p:nvPr/>
        </p:nvGrpSpPr>
        <p:grpSpPr>
          <a:xfrm>
            <a:off x="7704129" y="4183226"/>
            <a:ext cx="915496" cy="471026"/>
            <a:chOff x="61924" y="79616"/>
            <a:chExt cx="2441323" cy="1256068"/>
          </a:xfrm>
        </p:grpSpPr>
        <p:sp>
          <p:nvSpPr>
            <p:cNvPr id="299" name="Google Shape;299;p42"/>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00" name="Google Shape;300;p42"/>
            <p:cNvPicPr preferRelativeResize="0"/>
            <p:nvPr/>
          </p:nvPicPr>
          <p:blipFill rotWithShape="1">
            <a:blip r:embed="rId6">
              <a:alphaModFix/>
            </a:blip>
            <a:srcRect b="0" l="0" r="0" t="0"/>
            <a:stretch/>
          </p:blipFill>
          <p:spPr>
            <a:xfrm>
              <a:off x="1328489" y="190500"/>
              <a:ext cx="1034400" cy="1034400"/>
            </a:xfrm>
            <a:prstGeom prst="rect">
              <a:avLst/>
            </a:prstGeom>
            <a:noFill/>
            <a:ln>
              <a:noFill/>
            </a:ln>
          </p:spPr>
        </p:pic>
      </p:grpSp>
      <p:pic>
        <p:nvPicPr>
          <p:cNvPr id="301" name="Google Shape;301;p42"/>
          <p:cNvPicPr preferRelativeResize="0"/>
          <p:nvPr/>
        </p:nvPicPr>
        <p:blipFill rotWithShape="1">
          <a:blip r:embed="rId7">
            <a:alphaModFix/>
          </a:blip>
          <a:srcRect b="0" l="0" r="0" t="0"/>
          <a:stretch/>
        </p:blipFill>
        <p:spPr>
          <a:xfrm>
            <a:off x="8236813" y="4282529"/>
            <a:ext cx="272458" cy="272458"/>
          </a:xfrm>
          <a:prstGeom prst="rect">
            <a:avLst/>
          </a:prstGeom>
          <a:noFill/>
          <a:ln>
            <a:noFill/>
          </a:ln>
        </p:spPr>
      </p:pic>
      <p:pic>
        <p:nvPicPr>
          <p:cNvPr id="302" name="Google Shape;302;p42"/>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sp>
        <p:nvSpPr>
          <p:cNvPr id="303" name="TextBox 302"/>
          <p:cNvSpPr txBox="1"/>
          <p:nvPr/>
        </p:nvSpPr>
        <p:spPr>
          <a:xfrm>
            <a:off x="512064" y="384048"/>
            <a:ext cx="8046720" cy="640080"/>
          </a:xfrm>
          <a:prstGeom prst="rect">
            <a:avLst/>
          </a:prstGeom>
          <a:noFill/>
        </p:spPr>
        <p:txBody>
          <a:bodyPr wrap="square" anchor="t" lIns="0" rIns="0" tIns="0" bIns="0">
            <a:spAutoFit/>
          </a:bodyPr>
          <a:lstStyle/>
          <a:p>
            <a:pPr algn="l">
              <a:spcAft>
                <a:spcPts val="0"/>
              </a:spcAft>
            </a:pPr>
            <a:r>
              <a:rPr sz="2800" b="1" i="0">
                <a:solidFill>
                  <a:srgbClr val="131313"/>
                </a:solidFill>
                <a:latin typeface="League Spartan"/>
              </a:rPr>
              <a:t>Are You Using AI to Build Interactives?</a:t>
            </a:r>
          </a:p>
        </p:txBody>
      </p:sp>
      <p:sp>
        <p:nvSpPr>
          <p:cNvPr id="304" name="TextBox 303"/>
          <p:cNvSpPr txBox="1"/>
          <p:nvPr/>
        </p:nvSpPr>
        <p:spPr>
          <a:xfrm>
            <a:off x="804672" y="2057400"/>
            <a:ext cx="3474720" cy="1463040"/>
          </a:xfrm>
          <a:prstGeom prst="rect">
            <a:avLst/>
          </a:prstGeom>
          <a:noFill/>
        </p:spPr>
        <p:txBody>
          <a:bodyPr wrap="square" anchor="t" lIns="0" rIns="0" tIns="0" bIns="0">
            <a:spAutoFit/>
          </a:bodyPr>
          <a:lstStyle/>
          <a:p>
            <a:pPr algn="l">
              <a:spcAft>
                <a:spcPts val="600"/>
              </a:spcAft>
            </a:pPr>
            <a:r>
              <a:rPr sz="2000" b="1" i="0">
                <a:solidFill>
                  <a:srgbClr val="131313"/>
                </a:solidFill>
                <a:latin typeface="League Spartan"/>
              </a:rPr>
              <a:t>Show of hands</a:t>
            </a:r>
          </a:p>
          <a:p>
            <a:pPr algn="l">
              <a:spcAft>
                <a:spcPts val="600"/>
              </a:spcAft>
            </a:pPr>
            <a:r>
              <a:rPr sz="1300" b="0" i="0">
                <a:solidFill>
                  <a:srgbClr val="131313"/>
                </a:solidFill>
                <a:latin typeface="Roboto"/>
              </a:rPr>
              <a:t>Who is using AI to build their own simulations, games or practice tools?</a:t>
            </a:r>
          </a:p>
        </p:txBody>
      </p:sp>
      <p:sp>
        <p:nvSpPr>
          <p:cNvPr id="305" name="TextBox 304"/>
          <p:cNvSpPr txBox="1"/>
          <p:nvPr/>
        </p:nvSpPr>
        <p:spPr>
          <a:xfrm>
            <a:off x="4864608" y="2057400"/>
            <a:ext cx="3474720" cy="1463040"/>
          </a:xfrm>
          <a:prstGeom prst="rect">
            <a:avLst/>
          </a:prstGeom>
          <a:noFill/>
        </p:spPr>
        <p:txBody>
          <a:bodyPr wrap="square" anchor="t" lIns="0" rIns="0" tIns="0" bIns="0">
            <a:spAutoFit/>
          </a:bodyPr>
          <a:lstStyle/>
          <a:p>
            <a:pPr algn="l">
              <a:spcAft>
                <a:spcPts val="600"/>
              </a:spcAft>
            </a:pPr>
            <a:r>
              <a:rPr sz="2000" b="1" i="0">
                <a:solidFill>
                  <a:srgbClr val="FFFFFF"/>
                </a:solidFill>
                <a:latin typeface="League Spartan"/>
              </a:rPr>
              <a:t>Now grade it</a:t>
            </a:r>
          </a:p>
          <a:p>
            <a:pPr algn="l">
              <a:spcAft>
                <a:spcPts val="600"/>
              </a:spcAft>
            </a:pPr>
            <a:r>
              <a:rPr sz="1300" b="0" i="0">
                <a:solidFill>
                  <a:srgbClr val="FFFFFF"/>
                </a:solidFill>
                <a:latin typeface="Roboto"/>
              </a:rPr>
              <a:t>Keep your hand up if it puts a grade in your gradebook.</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89"/>
                                        </p:tgtEl>
                                        <p:attrNameLst>
                                          <p:attrName>style.visibility</p:attrName>
                                        </p:attrNameLst>
                                      </p:cBhvr>
                                      <p:to>
                                        <p:strVal val="visible"/>
                                      </p:to>
                                    </p:set>
                                    <p:animEffect transition="in" filter="fade">
                                      <p:cBhvr>
                                        <p:cTn id="5" dur="500"/>
                                        <p:tgtEl>
                                          <p:spTgt spid="289"/>
                                        </p:tgtEl>
                                      </p:cBhvr>
                                    </p:animEffect>
                                  </p:childTnLst>
                                </p:cTn>
                              </p:par>
                              <p:par>
                                <p:cTn id="6" presetID="10" presetClass="entr" presetSubtype="0" fill="hold" nodeType="withEffect">
                                  <p:stCondLst>
                                    <p:cond delay="0"/>
                                  </p:stCondLst>
                                  <p:childTnLst>
                                    <p:set>
                                      <p:cBhvr>
                                        <p:cTn id="7" dur="1" fill="hold">
                                          <p:stCondLst>
                                            <p:cond delay="0"/>
                                          </p:stCondLst>
                                        </p:cTn>
                                        <p:tgtEl>
                                          <p:spTgt spid="305"/>
                                        </p:tgtEl>
                                        <p:attrNameLst>
                                          <p:attrName>style.visibility</p:attrName>
                                        </p:attrNameLst>
                                      </p:cBhvr>
                                      <p:to>
                                        <p:strVal val="visible"/>
                                      </p:to>
                                    </p:set>
                                    <p:animEffect transition="in" filter="fade">
                                      <p:cBhvr>
                                        <p:cTn id="8"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05F5E"/>
        </a:solidFill>
      </p:bgPr>
    </p:bg>
    <p:spTree>
      <p:nvGrpSpPr>
        <p:cNvPr id="306" name="Shape 306"/>
        <p:cNvGrpSpPr/>
        <p:nvPr/>
      </p:nvGrpSpPr>
      <p:grpSpPr>
        <a:xfrm>
          <a:off x="0" y="0"/>
          <a:ext cx="0" cy="0"/>
          <a:chOff x="0" y="0"/>
          <a:chExt cx="0" cy="0"/>
        </a:xfrm>
      </p:grpSpPr>
      <p:pic>
        <p:nvPicPr>
          <p:cNvPr id="307" name="Google Shape;307;p43"/>
          <p:cNvPicPr preferRelativeResize="0"/>
          <p:nvPr/>
        </p:nvPicPr>
        <p:blipFill rotWithShape="1">
          <a:blip r:embed="rId3">
            <a:alphaModFix/>
          </a:blip>
          <a:srcRect b="0" l="0" r="0" t="0"/>
          <a:stretch/>
        </p:blipFill>
        <p:spPr>
          <a:xfrm flipH="1" rot="5400000">
            <a:off x="0" y="0"/>
            <a:ext cx="2571750" cy="2571750"/>
          </a:xfrm>
          <a:prstGeom prst="rect">
            <a:avLst/>
          </a:prstGeom>
          <a:noFill/>
          <a:ln>
            <a:noFill/>
          </a:ln>
        </p:spPr>
      </p:pic>
      <p:pic>
        <p:nvPicPr>
          <p:cNvPr id="308" name="Google Shape;308;p43"/>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sp>
        <p:nvSpPr>
          <p:cNvPr id="309" name="Google Shape;309;p43"/>
          <p:cNvSpPr/>
          <p:nvPr/>
        </p:nvSpPr>
        <p:spPr>
          <a:xfrm>
            <a:off x="514350" y="514350"/>
            <a:ext cx="3808641" cy="4113621"/>
          </a:xfrm>
          <a:custGeom>
            <a:rect b="b" l="l" r="r" t="t"/>
            <a:pathLst>
              <a:path extrusionOk="0" h="2067146" w="1913890">
                <a:moveTo>
                  <a:pt x="1789430" y="2067146"/>
                </a:moveTo>
                <a:lnTo>
                  <a:pt x="124460" y="2067146"/>
                </a:lnTo>
                <a:cubicBezTo>
                  <a:pt x="55880" y="2067146"/>
                  <a:pt x="0" y="2011266"/>
                  <a:pt x="0" y="1942686"/>
                </a:cubicBezTo>
                <a:lnTo>
                  <a:pt x="0" y="124460"/>
                </a:lnTo>
                <a:cubicBezTo>
                  <a:pt x="0" y="55880"/>
                  <a:pt x="55880" y="0"/>
                  <a:pt x="124460" y="0"/>
                </a:cubicBezTo>
                <a:lnTo>
                  <a:pt x="1789430" y="0"/>
                </a:lnTo>
                <a:cubicBezTo>
                  <a:pt x="1858010" y="0"/>
                  <a:pt x="1913890" y="55880"/>
                  <a:pt x="1913890" y="124460"/>
                </a:cubicBezTo>
                <a:lnTo>
                  <a:pt x="1913890" y="1942686"/>
                </a:lnTo>
                <a:cubicBezTo>
                  <a:pt x="1913890" y="2011266"/>
                  <a:pt x="1858010" y="2067146"/>
                  <a:pt x="1789430" y="2067146"/>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313" name="Google Shape;313;p43"/>
          <p:cNvGrpSpPr/>
          <p:nvPr/>
        </p:nvGrpSpPr>
        <p:grpSpPr>
          <a:xfrm>
            <a:off x="7704129" y="4183226"/>
            <a:ext cx="915496" cy="471026"/>
            <a:chOff x="61924" y="79616"/>
            <a:chExt cx="2441323" cy="1256068"/>
          </a:xfrm>
        </p:grpSpPr>
        <p:sp>
          <p:nvSpPr>
            <p:cNvPr id="314" name="Google Shape;314;p43"/>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15" name="Google Shape;315;p43"/>
            <p:cNvPicPr preferRelativeResize="0"/>
            <p:nvPr/>
          </p:nvPicPr>
          <p:blipFill rotWithShape="1">
            <a:blip r:embed="rId5">
              <a:alphaModFix/>
            </a:blip>
            <a:srcRect b="0" l="0" r="0" t="0"/>
            <a:stretch/>
          </p:blipFill>
          <p:spPr>
            <a:xfrm>
              <a:off x="1328489" y="190500"/>
              <a:ext cx="1034400" cy="1034400"/>
            </a:xfrm>
            <a:prstGeom prst="rect">
              <a:avLst/>
            </a:prstGeom>
            <a:noFill/>
            <a:ln>
              <a:noFill/>
            </a:ln>
          </p:spPr>
        </p:pic>
      </p:grpSp>
      <p:pic>
        <p:nvPicPr>
          <p:cNvPr id="316" name="Google Shape;316;p43"/>
          <p:cNvPicPr preferRelativeResize="0"/>
          <p:nvPr/>
        </p:nvPicPr>
        <p:blipFill rotWithShape="1">
          <a:blip r:embed="rId6">
            <a:alphaModFix/>
          </a:blip>
          <a:srcRect b="0" l="0" r="0" t="0"/>
          <a:stretch/>
        </p:blipFill>
        <p:spPr>
          <a:xfrm>
            <a:off x="8236813" y="4282529"/>
            <a:ext cx="272458" cy="272458"/>
          </a:xfrm>
          <a:prstGeom prst="rect">
            <a:avLst/>
          </a:prstGeom>
          <a:noFill/>
          <a:ln>
            <a:noFill/>
          </a:ln>
        </p:spPr>
      </p:pic>
      <p:pic>
        <p:nvPicPr>
          <p:cNvPr id="317" name="Google Shape;317;p43"/>
          <p:cNvPicPr preferRelativeResize="0"/>
          <p:nvPr/>
        </p:nvPicPr>
        <p:blipFill rotWithShape="1">
          <a:blip r:embed="rId7">
            <a:alphaModFix/>
          </a:blip>
          <a:srcRect b="0" l="0" r="0" t="0"/>
          <a:stretch/>
        </p:blipFill>
        <p:spPr>
          <a:xfrm>
            <a:off x="79132" y="4418758"/>
            <a:ext cx="1078263" cy="653248"/>
          </a:xfrm>
          <a:prstGeom prst="rect">
            <a:avLst/>
          </a:prstGeom>
          <a:noFill/>
          <a:ln>
            <a:noFill/>
          </a:ln>
        </p:spPr>
      </p:pic>
      <p:sp>
        <p:nvSpPr>
          <p:cNvPr id="318" name="Google Shape;318;p43"/>
          <p:cNvSpPr/>
          <p:nvPr/>
        </p:nvSpPr>
        <p:spPr>
          <a:xfrm>
            <a:off x="4740950" y="4554975"/>
            <a:ext cx="1374000" cy="1344900"/>
          </a:xfrm>
          <a:prstGeom prst="donut">
            <a:avLst>
              <a:gd fmla="val 13443" name="adj"/>
            </a:avLst>
          </a:prstGeom>
          <a:solidFill>
            <a:srgbClr val="C0C0C0"/>
          </a:solidFill>
          <a:ln cap="flat" cmpd="sng" w="9525">
            <a:solidFill>
              <a:srgbClr val="C0C0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9" name="Picture 318" descr="build-recording-result.png"/>
          <p:cNvPicPr>
            <a:picLocks noChangeAspect="1"/>
          </p:cNvPicPr>
          <p:nvPr/>
        </p:nvPicPr>
        <p:blipFill>
          <a:blip r:embed="rId2"/>
          <a:stretch>
            <a:fillRect/>
          </a:stretch>
        </p:blipFill>
        <p:spPr>
          <a:xfrm>
            <a:off x="612647" y="1162914"/>
            <a:ext cx="3611880" cy="2813098"/>
          </a:xfrm>
          <a:prstGeom prst="rect">
            <a:avLst/>
          </a:prstGeom>
        </p:spPr>
      </p:pic>
      <p:sp>
        <p:nvSpPr>
          <p:cNvPr id="320" name="TextBox 319"/>
          <p:cNvSpPr txBox="1"/>
          <p:nvPr/>
        </p:nvSpPr>
        <p:spPr>
          <a:xfrm>
            <a:off x="4846320" y="685800"/>
            <a:ext cx="3840480" cy="548640"/>
          </a:xfrm>
          <a:prstGeom prst="rect">
            <a:avLst/>
          </a:prstGeom>
          <a:noFill/>
        </p:spPr>
        <p:txBody>
          <a:bodyPr wrap="square" anchor="t" lIns="0" rIns="0" tIns="0" bIns="0">
            <a:spAutoFit/>
          </a:bodyPr>
          <a:lstStyle/>
          <a:p>
            <a:pPr algn="l">
              <a:spcAft>
                <a:spcPts val="0"/>
              </a:spcAft>
            </a:pPr>
            <a:r>
              <a:rPr sz="3200" b="1" i="0">
                <a:solidFill>
                  <a:srgbClr val="FFFFFF"/>
                </a:solidFill>
                <a:latin typeface="League Spartan"/>
              </a:rPr>
              <a:t>One Sentence</a:t>
            </a:r>
          </a:p>
        </p:txBody>
      </p:sp>
      <p:sp>
        <p:nvSpPr>
          <p:cNvPr id="321" name="TextBox 320"/>
          <p:cNvSpPr txBox="1"/>
          <p:nvPr/>
        </p:nvSpPr>
        <p:spPr>
          <a:xfrm>
            <a:off x="4846320" y="1417320"/>
            <a:ext cx="3749039" cy="1828800"/>
          </a:xfrm>
          <a:prstGeom prst="rect">
            <a:avLst/>
          </a:prstGeom>
          <a:noFill/>
        </p:spPr>
        <p:txBody>
          <a:bodyPr wrap="square" anchor="t" lIns="0" rIns="0" tIns="0" bIns="0">
            <a:spAutoFit/>
          </a:bodyPr>
          <a:lstStyle/>
          <a:p>
            <a:pPr algn="l">
              <a:spcAft>
                <a:spcPts val="600"/>
              </a:spcAft>
            </a:pPr>
            <a:r>
              <a:rPr sz="1600" b="0" i="1">
                <a:solidFill>
                  <a:srgbClr val="FFFFFF"/>
                </a:solidFill>
                <a:latin typeface="Roboto"/>
              </a:rPr>
              <a:t>“Make a projectile motion lab where students predict the launch angle to hit a target, auto-graded, with the target distance set by the teacher.”</a:t>
            </a:r>
          </a:p>
        </p:txBody>
      </p:sp>
      <p:sp>
        <p:nvSpPr>
          <p:cNvPr id="322" name="TextBox 321"/>
          <p:cNvSpPr txBox="1"/>
          <p:nvPr/>
        </p:nvSpPr>
        <p:spPr>
          <a:xfrm>
            <a:off x="4846320" y="3063240"/>
            <a:ext cx="3749039" cy="731520"/>
          </a:xfrm>
          <a:prstGeom prst="rect">
            <a:avLst/>
          </a:prstGeom>
          <a:noFill/>
        </p:spPr>
        <p:txBody>
          <a:bodyPr wrap="square" anchor="t" lIns="0" rIns="0" tIns="0" bIns="0">
            <a:spAutoFit/>
          </a:bodyPr>
          <a:lstStyle/>
          <a:p>
            <a:pPr algn="l">
              <a:spcAft>
                <a:spcPts val="600"/>
              </a:spcAft>
            </a:pPr>
            <a:r>
              <a:rPr sz="1200" b="0" i="0">
                <a:solidFill>
                  <a:srgbClr val="FFFFFF"/>
                </a:solidFill>
                <a:latin typeface="Roboto"/>
              </a:rPr>
              <a:t>That is all the teacher typed. About three minutes later, this.</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19"/>
                                        </p:tgtEl>
                                        <p:attrNameLst>
                                          <p:attrName>style.visibility</p:attrName>
                                        </p:attrNameLst>
                                      </p:cBhvr>
                                      <p:to>
                                        <p:strVal val="visible"/>
                                      </p:to>
                                    </p:set>
                                    <p:animEffect transition="in" filter="fade">
                                      <p:cBhvr>
                                        <p:cTn id="5" dur="500"/>
                                        <p:tgtEl>
                                          <p:spTgt spid="319"/>
                                        </p:tgtEl>
                                      </p:cBhvr>
                                    </p:animEffect>
                                  </p:childTnLst>
                                </p:cTn>
                              </p:par>
                              <p:par>
                                <p:cTn id="6" presetID="10" presetClass="entr" presetSubtype="0" fill="hold" nodeType="withEffect">
                                  <p:stCondLst>
                                    <p:cond delay="0"/>
                                  </p:stCondLst>
                                  <p:childTnLst>
                                    <p:set>
                                      <p:cBhvr>
                                        <p:cTn id="7" dur="1" fill="hold">
                                          <p:stCondLst>
                                            <p:cond delay="0"/>
                                          </p:stCondLst>
                                        </p:cTn>
                                        <p:tgtEl>
                                          <p:spTgt spid="322"/>
                                        </p:tgtEl>
                                        <p:attrNameLst>
                                          <p:attrName>style.visibility</p:attrName>
                                        </p:attrNameLst>
                                      </p:cBhvr>
                                      <p:to>
                                        <p:strVal val="visible"/>
                                      </p:to>
                                    </p:set>
                                    <p:animEffect transition="in" filter="fade">
                                      <p:cBhvr>
                                        <p:cTn id="8"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8" name="Shape 558"/>
        <p:cNvGrpSpPr/>
        <p:nvPr/>
      </p:nvGrpSpPr>
      <p:grpSpPr>
        <a:xfrm>
          <a:off x="0" y="0"/>
          <a:ext cx="0" cy="0"/>
          <a:chOff x="0" y="0"/>
          <a:chExt cx="0" cy="0"/>
        </a:xfrm>
      </p:grpSpPr>
      <p:sp>
        <p:nvSpPr>
          <p:cNvPr id="559" name="Google Shape;559;p53"/>
          <p:cNvSpPr/>
          <p:nvPr/>
        </p:nvSpPr>
        <p:spPr>
          <a:xfrm>
            <a:off x="5188625" y="4418750"/>
            <a:ext cx="1374000" cy="1344900"/>
          </a:xfrm>
          <a:prstGeom prst="donut">
            <a:avLst>
              <a:gd fmla="val 13443" name="adj"/>
            </a:avLst>
          </a:prstGeom>
          <a:solidFill>
            <a:srgbClr val="C0C0C0"/>
          </a:solidFill>
          <a:ln cap="flat" cmpd="sng" w="9525">
            <a:solidFill>
              <a:srgbClr val="C0C0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0" name="Google Shape;560;p53"/>
          <p:cNvPicPr preferRelativeResize="0"/>
          <p:nvPr/>
        </p:nvPicPr>
        <p:blipFill rotWithShape="1">
          <a:blip r:embed="rId3">
            <a:alphaModFix/>
          </a:blip>
          <a:srcRect b="0" l="0" r="0" t="0"/>
          <a:stretch/>
        </p:blipFill>
        <p:spPr>
          <a:xfrm flipH="1" rot="5400000">
            <a:off x="0" y="0"/>
            <a:ext cx="2571750" cy="2571750"/>
          </a:xfrm>
          <a:prstGeom prst="rect">
            <a:avLst/>
          </a:prstGeom>
          <a:noFill/>
          <a:ln>
            <a:noFill/>
          </a:ln>
        </p:spPr>
      </p:pic>
      <p:pic>
        <p:nvPicPr>
          <p:cNvPr id="561" name="Google Shape;561;p53"/>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pic>
        <p:nvPicPr>
          <p:cNvPr id="568" name="Google Shape;568;p53"/>
          <p:cNvPicPr preferRelativeResize="0"/>
          <p:nvPr/>
        </p:nvPicPr>
        <p:blipFill rotWithShape="1">
          <a:blip r:embed="rId5">
            <a:alphaModFix/>
          </a:blip>
          <a:srcRect b="0" l="0" r="0" t="0"/>
          <a:stretch/>
        </p:blipFill>
        <p:spPr>
          <a:xfrm>
            <a:off x="79132" y="4418758"/>
            <a:ext cx="1078263" cy="653248"/>
          </a:xfrm>
          <a:prstGeom prst="rect">
            <a:avLst/>
          </a:prstGeom>
          <a:noFill/>
          <a:ln>
            <a:noFill/>
          </a:ln>
        </p:spPr>
      </p:pic>
      <p:sp>
        <p:nvSpPr>
          <p:cNvPr id="569" name="TextBox 568"/>
          <p:cNvSpPr txBox="1"/>
          <p:nvPr/>
        </p:nvSpPr>
        <p:spPr>
          <a:xfrm>
            <a:off x="512064" y="274320"/>
            <a:ext cx="5486400" cy="502920"/>
          </a:xfrm>
          <a:prstGeom prst="rect">
            <a:avLst/>
          </a:prstGeom>
          <a:noFill/>
        </p:spPr>
        <p:txBody>
          <a:bodyPr wrap="square" anchor="t" lIns="0" rIns="0" tIns="0" bIns="0">
            <a:spAutoFit/>
          </a:bodyPr>
          <a:lstStyle/>
          <a:p>
            <a:pPr algn="l">
              <a:spcAft>
                <a:spcPts val="0"/>
              </a:spcAft>
            </a:pPr>
            <a:r>
              <a:rPr sz="2800" b="1" i="0">
                <a:solidFill>
                  <a:srgbClr val="FFFFFF"/>
                </a:solidFill>
                <a:latin typeface="League Spartan"/>
              </a:rPr>
              <a:t>Let's Watch</a:t>
            </a:r>
          </a:p>
        </p:txBody>
      </p:sp>
      <p:pic>
        <p:nvPicPr>
          <p:cNvPr id="570" name="Picture 569" descr="build-recording-poster.png"/>
          <p:cNvPicPr>
            <a:picLocks noChangeAspect="1"/>
          </p:cNvPicPr>
          <p:nvPr/>
        </p:nvPicPr>
        <p:blipFill>
          <a:blip r:embed="rId2"/>
          <a:stretch>
            <a:fillRect/>
          </a:stretch>
        </p:blipFill>
        <p:spPr>
          <a:xfrm>
            <a:off x="1239520" y="868680"/>
            <a:ext cx="6664959" cy="3749039"/>
          </a:xfrm>
          <a:prstGeom prst="rect">
            <a:avLst/>
          </a:prstGeom>
          <a:ln w="12700">
            <a:solidFill>
              <a:srgbClr val="25AEFA"/>
            </a:solidFill>
          </a:ln>
        </p:spPr>
      </p:pic>
      <p:sp>
        <p:nvSpPr>
          <p:cNvPr id="571" name="TextBox 570"/>
          <p:cNvSpPr txBox="1"/>
          <p:nvPr/>
        </p:nvSpPr>
        <p:spPr>
          <a:xfrm>
            <a:off x="5669280" y="365760"/>
            <a:ext cx="3017520" cy="365760"/>
          </a:xfrm>
          <a:prstGeom prst="rect">
            <a:avLst/>
          </a:prstGeom>
          <a:noFill/>
        </p:spPr>
        <p:txBody>
          <a:bodyPr wrap="square" anchor="t" lIns="0" rIns="0" tIns="0" bIns="0">
            <a:spAutoFit/>
          </a:bodyPr>
          <a:lstStyle/>
          <a:p>
            <a:pPr algn="r">
              <a:spcAft>
                <a:spcPts val="600"/>
              </a:spcAft>
            </a:pPr>
            <a:r>
              <a:rPr sz="1100" b="0" i="0">
                <a:solidFill>
                  <a:srgbClr val="25AEFA"/>
                </a:solidFill>
                <a:latin typeface="Roboto"/>
              </a:rPr>
              <a:t>Real run, sped up</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05F5E"/>
        </a:solidFill>
      </p:bgPr>
    </p:bg>
    <p:spTree>
      <p:nvGrpSpPr>
        <p:cNvPr id="187" name="Shape 187"/>
        <p:cNvGrpSpPr/>
        <p:nvPr/>
      </p:nvGrpSpPr>
      <p:grpSpPr>
        <a:xfrm>
          <a:off x="0" y="0"/>
          <a:ext cx="0" cy="0"/>
          <a:chOff x="0" y="0"/>
          <a:chExt cx="0" cy="0"/>
        </a:xfrm>
      </p:grpSpPr>
      <p:sp>
        <p:nvSpPr>
          <p:cNvPr id="188" name="Google Shape;188;p38"/>
          <p:cNvSpPr/>
          <p:nvPr/>
        </p:nvSpPr>
        <p:spPr>
          <a:xfrm>
            <a:off x="7704129" y="4183226"/>
            <a:ext cx="916591" cy="471589"/>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189" name="Google Shape;189;p38"/>
          <p:cNvGrpSpPr/>
          <p:nvPr/>
        </p:nvGrpSpPr>
        <p:grpSpPr>
          <a:xfrm>
            <a:off x="8179092" y="4224808"/>
            <a:ext cx="387900" cy="387900"/>
            <a:chOff x="0" y="0"/>
            <a:chExt cx="1034400" cy="1034400"/>
          </a:xfrm>
        </p:grpSpPr>
        <p:pic>
          <p:nvPicPr>
            <p:cNvPr id="190" name="Google Shape;190;p38"/>
            <p:cNvPicPr preferRelativeResize="0"/>
            <p:nvPr/>
          </p:nvPicPr>
          <p:blipFill rotWithShape="1">
            <a:blip r:embed="rId3">
              <a:alphaModFix/>
            </a:blip>
            <a:srcRect b="0" l="0" r="0" t="0"/>
            <a:stretch/>
          </p:blipFill>
          <p:spPr>
            <a:xfrm>
              <a:off x="0" y="0"/>
              <a:ext cx="1034400" cy="1034400"/>
            </a:xfrm>
            <a:prstGeom prst="rect">
              <a:avLst/>
            </a:prstGeom>
            <a:noFill/>
            <a:ln>
              <a:noFill/>
            </a:ln>
          </p:spPr>
        </p:pic>
        <p:pic>
          <p:nvPicPr>
            <p:cNvPr id="191" name="Google Shape;191;p38"/>
            <p:cNvPicPr preferRelativeResize="0"/>
            <p:nvPr/>
          </p:nvPicPr>
          <p:blipFill rotWithShape="1">
            <a:blip r:embed="rId4">
              <a:alphaModFix/>
            </a:blip>
            <a:srcRect b="0" l="0" r="0" t="0"/>
            <a:stretch/>
          </p:blipFill>
          <p:spPr>
            <a:xfrm>
              <a:off x="153923" y="153923"/>
              <a:ext cx="726554" cy="726554"/>
            </a:xfrm>
            <a:prstGeom prst="rect">
              <a:avLst/>
            </a:prstGeom>
            <a:noFill/>
            <a:ln>
              <a:noFill/>
            </a:ln>
          </p:spPr>
        </p:pic>
      </p:grpSp>
      <p:pic>
        <p:nvPicPr>
          <p:cNvPr id="192" name="Google Shape;192;p38"/>
          <p:cNvPicPr preferRelativeResize="0"/>
          <p:nvPr/>
        </p:nvPicPr>
        <p:blipFill rotWithShape="1">
          <a:blip r:embed="rId5">
            <a:alphaModFix/>
          </a:blip>
          <a:srcRect b="0" l="0" r="0" t="0"/>
          <a:stretch/>
        </p:blipFill>
        <p:spPr>
          <a:xfrm flipH="1" rot="10800000">
            <a:off x="8414388" y="0"/>
            <a:ext cx="729613" cy="729613"/>
          </a:xfrm>
          <a:prstGeom prst="rect">
            <a:avLst/>
          </a:prstGeom>
          <a:noFill/>
          <a:ln>
            <a:noFill/>
          </a:ln>
        </p:spPr>
      </p:pic>
      <p:pic>
        <p:nvPicPr>
          <p:cNvPr id="193" name="Google Shape;193;p38"/>
          <p:cNvPicPr preferRelativeResize="0"/>
          <p:nvPr/>
        </p:nvPicPr>
        <p:blipFill rotWithShape="1">
          <a:blip r:embed="rId6">
            <a:alphaModFix/>
          </a:blip>
          <a:srcRect b="0" l="0" r="0" t="0"/>
          <a:stretch/>
        </p:blipFill>
        <p:spPr>
          <a:xfrm rot="5400000">
            <a:off x="0" y="3792331"/>
            <a:ext cx="1351170" cy="1351169"/>
          </a:xfrm>
          <a:prstGeom prst="rect">
            <a:avLst/>
          </a:prstGeom>
          <a:noFill/>
          <a:ln>
            <a:noFill/>
          </a:ln>
        </p:spPr>
      </p:pic>
      <p:sp>
        <p:nvSpPr>
          <p:cNvPr id="197" name="Google Shape;197;p38"/>
          <p:cNvSpPr/>
          <p:nvPr/>
        </p:nvSpPr>
        <p:spPr>
          <a:xfrm>
            <a:off x="526885" y="514350"/>
            <a:ext cx="4467261" cy="4113477"/>
          </a:xfrm>
          <a:custGeom>
            <a:rect b="b" l="l" r="r" t="t"/>
            <a:pathLst>
              <a:path extrusionOk="0" h="2527482" w="2744861">
                <a:moveTo>
                  <a:pt x="2620401" y="2527481"/>
                </a:moveTo>
                <a:lnTo>
                  <a:pt x="124460" y="2527481"/>
                </a:lnTo>
                <a:cubicBezTo>
                  <a:pt x="55880" y="2527481"/>
                  <a:pt x="0" y="2471601"/>
                  <a:pt x="0" y="2403021"/>
                </a:cubicBezTo>
                <a:lnTo>
                  <a:pt x="0" y="124460"/>
                </a:lnTo>
                <a:cubicBezTo>
                  <a:pt x="0" y="55880"/>
                  <a:pt x="55880" y="0"/>
                  <a:pt x="124460" y="0"/>
                </a:cubicBezTo>
                <a:lnTo>
                  <a:pt x="2620401" y="0"/>
                </a:lnTo>
                <a:cubicBezTo>
                  <a:pt x="2688981" y="0"/>
                  <a:pt x="2744861" y="55880"/>
                  <a:pt x="2744861" y="124460"/>
                </a:cubicBezTo>
                <a:lnTo>
                  <a:pt x="2744861" y="2403022"/>
                </a:lnTo>
                <a:cubicBezTo>
                  <a:pt x="2744861" y="2471601"/>
                  <a:pt x="2688981" y="2527482"/>
                  <a:pt x="2620401" y="2527482"/>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05" name="Google Shape;205;p38"/>
          <p:cNvPicPr preferRelativeResize="0"/>
          <p:nvPr/>
        </p:nvPicPr>
        <p:blipFill rotWithShape="1">
          <a:blip r:embed="rId7">
            <a:alphaModFix/>
          </a:blip>
          <a:srcRect b="0" l="0" r="0" t="0"/>
          <a:stretch/>
        </p:blipFill>
        <p:spPr>
          <a:xfrm>
            <a:off x="79132" y="4418758"/>
            <a:ext cx="1078263" cy="653248"/>
          </a:xfrm>
          <a:prstGeom prst="rect">
            <a:avLst/>
          </a:prstGeom>
          <a:noFill/>
          <a:ln>
            <a:noFill/>
          </a:ln>
        </p:spPr>
      </p:pic>
      <p:sp>
        <p:nvSpPr>
          <p:cNvPr id="206" name="TextBox 205"/>
          <p:cNvSpPr txBox="1"/>
          <p:nvPr/>
        </p:nvSpPr>
        <p:spPr>
          <a:xfrm>
            <a:off x="1005840" y="960120"/>
            <a:ext cx="3520440" cy="1005840"/>
          </a:xfrm>
          <a:prstGeom prst="rect">
            <a:avLst/>
          </a:prstGeom>
          <a:noFill/>
        </p:spPr>
        <p:txBody>
          <a:bodyPr wrap="square" anchor="t" lIns="0" rIns="0" tIns="0" bIns="0">
            <a:spAutoFit/>
          </a:bodyPr>
          <a:lstStyle/>
          <a:p>
            <a:pPr algn="l">
              <a:spcAft>
                <a:spcPts val="300"/>
              </a:spcAft>
            </a:pPr>
            <a:r>
              <a:rPr sz="2300" b="1" i="0">
                <a:solidFill>
                  <a:srgbClr val="605F5E"/>
                </a:solidFill>
                <a:latin typeface="League Spartan"/>
              </a:rPr>
              <a:t>No grade in the gradebook</a:t>
            </a:r>
          </a:p>
          <a:p>
            <a:pPr algn="l">
              <a:spcAft>
                <a:spcPts val="600"/>
              </a:spcAft>
            </a:pPr>
            <a:r>
              <a:rPr sz="1400" b="0" i="0">
                <a:solidFill>
                  <a:srgbClr val="605F5E"/>
                </a:solidFill>
                <a:latin typeface="Roboto"/>
              </a:rPr>
              <a:t>Someone copies scores by hand, or it does not count</a:t>
            </a:r>
          </a:p>
        </p:txBody>
      </p:sp>
      <p:sp>
        <p:nvSpPr>
          <p:cNvPr id="207" name="TextBox 206"/>
          <p:cNvSpPr txBox="1"/>
          <p:nvPr/>
        </p:nvSpPr>
        <p:spPr>
          <a:xfrm>
            <a:off x="1005840" y="2075688"/>
            <a:ext cx="3520440" cy="1005840"/>
          </a:xfrm>
          <a:prstGeom prst="rect">
            <a:avLst/>
          </a:prstGeom>
          <a:noFill/>
        </p:spPr>
        <p:txBody>
          <a:bodyPr wrap="square" anchor="t" lIns="0" rIns="0" tIns="0" bIns="0">
            <a:spAutoFit/>
          </a:bodyPr>
          <a:lstStyle/>
          <a:p>
            <a:pPr algn="l">
              <a:spcAft>
                <a:spcPts val="300"/>
              </a:spcAft>
            </a:pPr>
            <a:r>
              <a:rPr sz="2300" b="1" i="0">
                <a:solidFill>
                  <a:srgbClr val="605F5E"/>
                </a:solidFill>
                <a:latin typeface="League Spartan"/>
              </a:rPr>
              <a:t>No record of the work</a:t>
            </a:r>
          </a:p>
          <a:p>
            <a:pPr algn="l">
              <a:spcAft>
                <a:spcPts val="600"/>
              </a:spcAft>
            </a:pPr>
            <a:r>
              <a:rPr sz="1400" b="0" i="0">
                <a:solidFill>
                  <a:srgbClr val="605F5E"/>
                </a:solidFill>
                <a:latin typeface="Roboto"/>
              </a:rPr>
              <a:t>The teacher cannot see what the student did</a:t>
            </a:r>
          </a:p>
        </p:txBody>
      </p:sp>
      <p:sp>
        <p:nvSpPr>
          <p:cNvPr id="208" name="TextBox 207"/>
          <p:cNvSpPr txBox="1"/>
          <p:nvPr/>
        </p:nvSpPr>
        <p:spPr>
          <a:xfrm>
            <a:off x="1005840" y="3191256"/>
            <a:ext cx="3520440" cy="1005840"/>
          </a:xfrm>
          <a:prstGeom prst="rect">
            <a:avLst/>
          </a:prstGeom>
          <a:noFill/>
        </p:spPr>
        <p:txBody>
          <a:bodyPr wrap="square" anchor="t" lIns="0" rIns="0" tIns="0" bIns="0">
            <a:spAutoFit/>
          </a:bodyPr>
          <a:lstStyle/>
          <a:p>
            <a:pPr algn="l">
              <a:spcAft>
                <a:spcPts val="300"/>
              </a:spcAft>
            </a:pPr>
            <a:r>
              <a:rPr sz="2300" b="1" i="0">
                <a:solidFill>
                  <a:srgbClr val="605F5E"/>
                </a:solidFill>
                <a:latin typeface="League Spartan"/>
              </a:rPr>
              <a:t>Another login</a:t>
            </a:r>
          </a:p>
          <a:p>
            <a:pPr algn="l">
              <a:spcAft>
                <a:spcPts val="600"/>
              </a:spcAft>
            </a:pPr>
            <a:r>
              <a:rPr sz="1400" b="0" i="0">
                <a:solidFill>
                  <a:srgbClr val="605F5E"/>
                </a:solidFill>
                <a:latin typeface="Roboto"/>
              </a:rPr>
              <a:t>Or another vendor, with another contract</a:t>
            </a:r>
          </a:p>
        </p:txBody>
      </p:sp>
      <p:sp>
        <p:nvSpPr>
          <p:cNvPr id="209" name="TextBox 208"/>
          <p:cNvSpPr txBox="1"/>
          <p:nvPr/>
        </p:nvSpPr>
        <p:spPr>
          <a:xfrm>
            <a:off x="5486400" y="731520"/>
            <a:ext cx="3108960" cy="1097280"/>
          </a:xfrm>
          <a:prstGeom prst="rect">
            <a:avLst/>
          </a:prstGeom>
          <a:noFill/>
        </p:spPr>
        <p:txBody>
          <a:bodyPr wrap="square" anchor="t" lIns="0" rIns="0" tIns="0" bIns="0">
            <a:spAutoFit/>
          </a:bodyPr>
          <a:lstStyle/>
          <a:p>
            <a:pPr algn="l">
              <a:spcAft>
                <a:spcPts val="0"/>
              </a:spcAft>
            </a:pPr>
            <a:r>
              <a:rPr sz="3000" b="1" i="0">
                <a:solidFill>
                  <a:srgbClr val="FFFFFF"/>
                </a:solidFill>
                <a:latin typeface="League Spartan"/>
              </a:rPr>
              <a:t>So What's the Catch?</a:t>
            </a:r>
          </a:p>
        </p:txBody>
      </p:sp>
      <p:sp>
        <p:nvSpPr>
          <p:cNvPr id="210" name="TextBox 209"/>
          <p:cNvSpPr txBox="1"/>
          <p:nvPr/>
        </p:nvSpPr>
        <p:spPr>
          <a:xfrm>
            <a:off x="5486400" y="1920240"/>
            <a:ext cx="3017520" cy="1097280"/>
          </a:xfrm>
          <a:prstGeom prst="rect">
            <a:avLst/>
          </a:prstGeom>
          <a:noFill/>
        </p:spPr>
        <p:txBody>
          <a:bodyPr wrap="square" anchor="t" lIns="0" rIns="0" tIns="0" bIns="0">
            <a:spAutoFit/>
          </a:bodyPr>
          <a:lstStyle/>
          <a:p>
            <a:pPr algn="l">
              <a:spcAft>
                <a:spcPts val="600"/>
              </a:spcAft>
            </a:pPr>
            <a:r>
              <a:rPr sz="1500" b="0" i="0">
                <a:solidFill>
                  <a:srgbClr val="FFFFFF"/>
                </a:solidFill>
                <a:latin typeface="Roboto"/>
              </a:rPr>
              <a:t>An interactive on its own is just a web page.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06"/>
                                        </p:tgtEl>
                                        <p:attrNameLst>
                                          <p:attrName>style.visibility</p:attrName>
                                        </p:attrNameLst>
                                      </p:cBhvr>
                                      <p:to>
                                        <p:strVal val="visible"/>
                                      </p:to>
                                    </p:set>
                                    <p:animEffect transition="in" filter="fade">
                                      <p:cBhvr>
                                        <p:cTn id="5" dur="500"/>
                                        <p:tgtEl>
                                          <p:spTgt spid="20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07"/>
                                        </p:tgtEl>
                                        <p:attrNameLst>
                                          <p:attrName>style.visibility</p:attrName>
                                        </p:attrNameLst>
                                      </p:cBhvr>
                                      <p:to>
                                        <p:strVal val="visible"/>
                                      </p:to>
                                    </p:set>
                                    <p:animEffect transition="in" filter="fade">
                                      <p:cBhvr>
                                        <p:cTn id="10" dur="500"/>
                                        <p:tgtEl>
                                          <p:spTgt spid="207"/>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8"/>
                                        </p:tgtEl>
                                        <p:attrNameLst>
                                          <p:attrName>style.visibility</p:attrName>
                                        </p:attrNameLst>
                                      </p:cBhvr>
                                      <p:to>
                                        <p:strVal val="visible"/>
                                      </p:to>
                                    </p:set>
                                    <p:animEffect transition="in" filter="fade">
                                      <p:cBhvr>
                                        <p:cTn id="15" dur="500"/>
                                        <p:tgtEl>
                                          <p:spTgt spid="208"/>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10"/>
                                        </p:tgtEl>
                                        <p:attrNameLst>
                                          <p:attrName>style.visibility</p:attrName>
                                        </p:attrNameLst>
                                      </p:cBhvr>
                                      <p:to>
                                        <p:strVal val="visible"/>
                                      </p:to>
                                    </p:set>
                                    <p:animEffect transition="in" filter="fade">
                                      <p:cBhvr>
                                        <p:cTn id="20" dur="50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C0C0"/>
        </a:solidFill>
      </p:bgPr>
    </p:bg>
    <p:spTree>
      <p:nvGrpSpPr>
        <p:cNvPr id="430" name="Shape 430"/>
        <p:cNvGrpSpPr/>
        <p:nvPr/>
      </p:nvGrpSpPr>
      <p:grpSpPr>
        <a:xfrm>
          <a:off x="0" y="0"/>
          <a:ext cx="0" cy="0"/>
          <a:chOff x="0" y="0"/>
          <a:chExt cx="0" cy="0"/>
        </a:xfrm>
      </p:grpSpPr>
      <p:pic>
        <p:nvPicPr>
          <p:cNvPr id="432" name="Google Shape;432;p48"/>
          <p:cNvPicPr preferRelativeResize="0"/>
          <p:nvPr/>
        </p:nvPicPr>
        <p:blipFill rotWithShape="1">
          <a:blip r:embed="rId3">
            <a:alphaModFix/>
          </a:blip>
          <a:srcRect b="0" l="0" r="0" t="0"/>
          <a:stretch/>
        </p:blipFill>
        <p:spPr>
          <a:xfrm rot="-5400000">
            <a:off x="-556750" y="2051873"/>
            <a:ext cx="2227003" cy="1113502"/>
          </a:xfrm>
          <a:prstGeom prst="rect">
            <a:avLst/>
          </a:prstGeom>
          <a:noFill/>
          <a:ln>
            <a:noFill/>
          </a:ln>
        </p:spPr>
      </p:pic>
      <p:pic>
        <p:nvPicPr>
          <p:cNvPr id="433" name="Google Shape;433;p48"/>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sp>
        <p:nvSpPr>
          <p:cNvPr id="434" name="Google Shape;434;p48"/>
          <p:cNvSpPr/>
          <p:nvPr/>
        </p:nvSpPr>
        <p:spPr>
          <a:xfrm>
            <a:off x="514350" y="2243402"/>
            <a:ext cx="2522434" cy="2385784"/>
          </a:xfrm>
          <a:custGeom>
            <a:rect b="b" l="l" r="r" t="t"/>
            <a:pathLst>
              <a:path extrusionOk="0" h="1109667" w="1173225">
                <a:moveTo>
                  <a:pt x="1048765" y="1109667"/>
                </a:moveTo>
                <a:lnTo>
                  <a:pt x="124460" y="1109667"/>
                </a:lnTo>
                <a:cubicBezTo>
                  <a:pt x="55880" y="1109667"/>
                  <a:pt x="0" y="1053787"/>
                  <a:pt x="0" y="985207"/>
                </a:cubicBezTo>
                <a:lnTo>
                  <a:pt x="0" y="124460"/>
                </a:lnTo>
                <a:cubicBezTo>
                  <a:pt x="0" y="55880"/>
                  <a:pt x="55880" y="0"/>
                  <a:pt x="124460" y="0"/>
                </a:cubicBezTo>
                <a:lnTo>
                  <a:pt x="1048765" y="0"/>
                </a:lnTo>
                <a:cubicBezTo>
                  <a:pt x="1117345" y="0"/>
                  <a:pt x="1173225" y="55880"/>
                  <a:pt x="1173225" y="124460"/>
                </a:cubicBezTo>
                <a:lnTo>
                  <a:pt x="1173225" y="985207"/>
                </a:lnTo>
                <a:cubicBezTo>
                  <a:pt x="1173225" y="1053787"/>
                  <a:pt x="1117345" y="1109667"/>
                  <a:pt x="1048765" y="1109667"/>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435" name="Google Shape;435;p48"/>
          <p:cNvPicPr preferRelativeResize="0"/>
          <p:nvPr/>
        </p:nvPicPr>
        <p:blipFill rotWithShape="1">
          <a:blip r:embed="rId5">
            <a:alphaModFix/>
          </a:blip>
          <a:srcRect b="0" l="0" r="0" t="0"/>
          <a:stretch/>
        </p:blipFill>
        <p:spPr>
          <a:xfrm rot="-5400000">
            <a:off x="8155279" y="0"/>
            <a:ext cx="988721" cy="988721"/>
          </a:xfrm>
          <a:prstGeom prst="rect">
            <a:avLst/>
          </a:prstGeom>
          <a:noFill/>
          <a:ln>
            <a:noFill/>
          </a:ln>
        </p:spPr>
      </p:pic>
      <p:sp>
        <p:nvSpPr>
          <p:cNvPr id="436" name="Google Shape;436;p48"/>
          <p:cNvSpPr/>
          <p:nvPr/>
        </p:nvSpPr>
        <p:spPr>
          <a:xfrm>
            <a:off x="3310802" y="2243402"/>
            <a:ext cx="2522434" cy="2385784"/>
          </a:xfrm>
          <a:custGeom>
            <a:rect b="b" l="l" r="r" t="t"/>
            <a:pathLst>
              <a:path extrusionOk="0" h="1109667" w="1173225">
                <a:moveTo>
                  <a:pt x="1048765" y="1109667"/>
                </a:moveTo>
                <a:lnTo>
                  <a:pt x="124460" y="1109667"/>
                </a:lnTo>
                <a:cubicBezTo>
                  <a:pt x="55880" y="1109667"/>
                  <a:pt x="0" y="1053787"/>
                  <a:pt x="0" y="985207"/>
                </a:cubicBezTo>
                <a:lnTo>
                  <a:pt x="0" y="124460"/>
                </a:lnTo>
                <a:cubicBezTo>
                  <a:pt x="0" y="55880"/>
                  <a:pt x="55880" y="0"/>
                  <a:pt x="124460" y="0"/>
                </a:cubicBezTo>
                <a:lnTo>
                  <a:pt x="1048765" y="0"/>
                </a:lnTo>
                <a:cubicBezTo>
                  <a:pt x="1117345" y="0"/>
                  <a:pt x="1173225" y="55880"/>
                  <a:pt x="1173225" y="124460"/>
                </a:cubicBezTo>
                <a:lnTo>
                  <a:pt x="1173225" y="985207"/>
                </a:lnTo>
                <a:cubicBezTo>
                  <a:pt x="1173225" y="1053787"/>
                  <a:pt x="1117345" y="1109667"/>
                  <a:pt x="1048765" y="1109667"/>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437" name="Google Shape;437;p48"/>
          <p:cNvPicPr preferRelativeResize="0"/>
          <p:nvPr/>
        </p:nvPicPr>
        <p:blipFill rotWithShape="1">
          <a:blip r:embed="rId6">
            <a:alphaModFix/>
          </a:blip>
          <a:srcRect b="0" l="0" r="0" t="0"/>
          <a:stretch/>
        </p:blipFill>
        <p:spPr>
          <a:xfrm flipH="1" rot="-5400000">
            <a:off x="7796566" y="3796066"/>
            <a:ext cx="1347435" cy="1347435"/>
          </a:xfrm>
          <a:prstGeom prst="rect">
            <a:avLst/>
          </a:prstGeom>
          <a:noFill/>
          <a:ln>
            <a:noFill/>
          </a:ln>
        </p:spPr>
      </p:pic>
      <p:sp>
        <p:nvSpPr>
          <p:cNvPr id="438" name="Google Shape;438;p48"/>
          <p:cNvSpPr/>
          <p:nvPr/>
        </p:nvSpPr>
        <p:spPr>
          <a:xfrm>
            <a:off x="6107256" y="2243402"/>
            <a:ext cx="2522434" cy="2385784"/>
          </a:xfrm>
          <a:custGeom>
            <a:rect b="b" l="l" r="r" t="t"/>
            <a:pathLst>
              <a:path extrusionOk="0" h="1109667" w="1173225">
                <a:moveTo>
                  <a:pt x="1048765" y="1109667"/>
                </a:moveTo>
                <a:lnTo>
                  <a:pt x="124460" y="1109667"/>
                </a:lnTo>
                <a:cubicBezTo>
                  <a:pt x="55880" y="1109667"/>
                  <a:pt x="0" y="1053787"/>
                  <a:pt x="0" y="985207"/>
                </a:cubicBezTo>
                <a:lnTo>
                  <a:pt x="0" y="124460"/>
                </a:lnTo>
                <a:cubicBezTo>
                  <a:pt x="0" y="55880"/>
                  <a:pt x="55880" y="0"/>
                  <a:pt x="124460" y="0"/>
                </a:cubicBezTo>
                <a:lnTo>
                  <a:pt x="1048765" y="0"/>
                </a:lnTo>
                <a:cubicBezTo>
                  <a:pt x="1117345" y="0"/>
                  <a:pt x="1173225" y="55880"/>
                  <a:pt x="1173225" y="124460"/>
                </a:cubicBezTo>
                <a:lnTo>
                  <a:pt x="1173225" y="985207"/>
                </a:lnTo>
                <a:cubicBezTo>
                  <a:pt x="1173225" y="1053787"/>
                  <a:pt x="1117345" y="1109667"/>
                  <a:pt x="1048765" y="1109667"/>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448" name="Google Shape;448;p48"/>
          <p:cNvGrpSpPr/>
          <p:nvPr/>
        </p:nvGrpSpPr>
        <p:grpSpPr>
          <a:xfrm rot="-5400000">
            <a:off x="5663065" y="2193027"/>
            <a:ext cx="643345" cy="744096"/>
            <a:chOff x="0" y="0"/>
            <a:chExt cx="1715586" cy="1984256"/>
          </a:xfrm>
        </p:grpSpPr>
        <p:pic>
          <p:nvPicPr>
            <p:cNvPr id="449" name="Google Shape;449;p48"/>
            <p:cNvPicPr preferRelativeResize="0"/>
            <p:nvPr/>
          </p:nvPicPr>
          <p:blipFill rotWithShape="1">
            <a:blip r:embed="rId6">
              <a:alphaModFix/>
            </a:blip>
            <a:srcRect b="0" l="0" r="0" t="0"/>
            <a:stretch/>
          </p:blipFill>
          <p:spPr>
            <a:xfrm rot="5400000">
              <a:off x="0" y="0"/>
              <a:ext cx="1339276" cy="1339276"/>
            </a:xfrm>
            <a:prstGeom prst="rect">
              <a:avLst/>
            </a:prstGeom>
            <a:noFill/>
            <a:ln>
              <a:noFill/>
            </a:ln>
          </p:spPr>
        </p:pic>
        <p:pic>
          <p:nvPicPr>
            <p:cNvPr id="450" name="Google Shape;450;p48"/>
            <p:cNvPicPr preferRelativeResize="0"/>
            <p:nvPr/>
          </p:nvPicPr>
          <p:blipFill rotWithShape="1">
            <a:blip r:embed="rId7">
              <a:alphaModFix/>
            </a:blip>
            <a:srcRect b="0" l="0" r="0" t="0"/>
            <a:stretch/>
          </p:blipFill>
          <p:spPr>
            <a:xfrm rot="-2700000">
              <a:off x="549177" y="820266"/>
              <a:ext cx="967703" cy="962863"/>
            </a:xfrm>
            <a:prstGeom prst="rect">
              <a:avLst/>
            </a:prstGeom>
            <a:noFill/>
            <a:ln>
              <a:noFill/>
            </a:ln>
          </p:spPr>
        </p:pic>
      </p:grpSp>
      <p:grpSp>
        <p:nvGrpSpPr>
          <p:cNvPr id="451" name="Google Shape;451;p48"/>
          <p:cNvGrpSpPr/>
          <p:nvPr/>
        </p:nvGrpSpPr>
        <p:grpSpPr>
          <a:xfrm>
            <a:off x="2820938" y="3989762"/>
            <a:ext cx="729478" cy="639388"/>
            <a:chOff x="0" y="0"/>
            <a:chExt cx="1945273" cy="1705036"/>
          </a:xfrm>
        </p:grpSpPr>
        <p:pic>
          <p:nvPicPr>
            <p:cNvPr id="452" name="Google Shape;452;p48"/>
            <p:cNvPicPr preferRelativeResize="0"/>
            <p:nvPr/>
          </p:nvPicPr>
          <p:blipFill rotWithShape="1">
            <a:blip r:embed="rId6">
              <a:alphaModFix/>
            </a:blip>
            <a:srcRect b="0" l="0" r="0" t="0"/>
            <a:stretch/>
          </p:blipFill>
          <p:spPr>
            <a:xfrm flipH="1" rot="10800000">
              <a:off x="0" y="0"/>
              <a:ext cx="1339276" cy="1339276"/>
            </a:xfrm>
            <a:prstGeom prst="rect">
              <a:avLst/>
            </a:prstGeom>
            <a:noFill/>
            <a:ln>
              <a:noFill/>
            </a:ln>
          </p:spPr>
        </p:pic>
        <p:pic>
          <p:nvPicPr>
            <p:cNvPr id="453" name="Google Shape;453;p48"/>
            <p:cNvPicPr preferRelativeResize="0"/>
            <p:nvPr/>
          </p:nvPicPr>
          <p:blipFill rotWithShape="1">
            <a:blip r:embed="rId7">
              <a:alphaModFix/>
            </a:blip>
            <a:srcRect b="0" l="0" r="0" t="0"/>
            <a:stretch/>
          </p:blipFill>
          <p:spPr>
            <a:xfrm rot="-8100000">
              <a:off x="778864" y="541046"/>
              <a:ext cx="967703" cy="962863"/>
            </a:xfrm>
            <a:prstGeom prst="rect">
              <a:avLst/>
            </a:prstGeom>
            <a:noFill/>
            <a:ln>
              <a:noFill/>
            </a:ln>
          </p:spPr>
        </p:pic>
      </p:grpSp>
      <p:pic>
        <p:nvPicPr>
          <p:cNvPr id="454" name="Google Shape;454;p48"/>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sp>
        <p:nvSpPr>
          <p:cNvPr id="455" name="TextBox 454"/>
          <p:cNvSpPr txBox="1"/>
          <p:nvPr/>
        </p:nvSpPr>
        <p:spPr>
          <a:xfrm>
            <a:off x="512064" y="411480"/>
            <a:ext cx="6858000" cy="548640"/>
          </a:xfrm>
          <a:prstGeom prst="rect">
            <a:avLst/>
          </a:prstGeom>
          <a:noFill/>
        </p:spPr>
        <p:txBody>
          <a:bodyPr wrap="square" anchor="t" lIns="0" rIns="0" tIns="0" bIns="0">
            <a:spAutoFit/>
          </a:bodyPr>
          <a:lstStyle/>
          <a:p>
            <a:pPr algn="l">
              <a:spcAft>
                <a:spcPts val="0"/>
              </a:spcAft>
            </a:pPr>
            <a:r>
              <a:rPr sz="3200" b="1" i="0">
                <a:solidFill>
                  <a:srgbClr val="131313"/>
                </a:solidFill>
                <a:latin typeface="League Spartan"/>
              </a:rPr>
              <a:t>What is Zest?</a:t>
            </a:r>
          </a:p>
        </p:txBody>
      </p:sp>
      <p:sp>
        <p:nvSpPr>
          <p:cNvPr id="456" name="TextBox 455"/>
          <p:cNvSpPr txBox="1"/>
          <p:nvPr/>
        </p:nvSpPr>
        <p:spPr>
          <a:xfrm>
            <a:off x="512064" y="1051560"/>
            <a:ext cx="7315200" cy="822960"/>
          </a:xfrm>
          <a:prstGeom prst="rect">
            <a:avLst/>
          </a:prstGeom>
          <a:noFill/>
        </p:spPr>
        <p:txBody>
          <a:bodyPr wrap="square" anchor="t" lIns="0" rIns="0" tIns="0" bIns="0">
            <a:spAutoFit/>
          </a:bodyPr>
          <a:lstStyle/>
          <a:p>
            <a:pPr algn="l">
              <a:spcAft>
                <a:spcPts val="600"/>
              </a:spcAft>
            </a:pPr>
            <a:r>
              <a:rPr sz="1300" b="0" i="0">
                <a:solidFill>
                  <a:srgbClr val="605F5E"/>
                </a:solidFill>
                <a:latin typeface="Roboto"/>
              </a:rPr>
              <a:t>An LTI 1.3 tool we built at Virtual Arkansas. Any HTML/JavaScript interactive becomes a Canvas assignment, auto-graded or teacher-graded, or a live element on a page.</a:t>
            </a:r>
          </a:p>
        </p:txBody>
      </p:sp>
      <p:sp>
        <p:nvSpPr>
          <p:cNvPr id="457" name="TextBox 456"/>
          <p:cNvSpPr txBox="1"/>
          <p:nvPr/>
        </p:nvSpPr>
        <p:spPr>
          <a:xfrm>
            <a:off x="786384" y="2606040"/>
            <a:ext cx="2011680" cy="1737360"/>
          </a:xfrm>
          <a:prstGeom prst="rect">
            <a:avLst/>
          </a:prstGeom>
          <a:noFill/>
        </p:spPr>
        <p:txBody>
          <a:bodyPr wrap="square" anchor="t" lIns="0" rIns="0" tIns="0" bIns="0">
            <a:spAutoFit/>
          </a:bodyPr>
          <a:lstStyle/>
          <a:p>
            <a:pPr algn="l">
              <a:spcAft>
                <a:spcPts val="600"/>
              </a:spcAft>
            </a:pPr>
            <a:r>
              <a:rPr sz="1700" b="1" i="0">
                <a:solidFill>
                  <a:srgbClr val="1B3168"/>
                </a:solidFill>
                <a:latin typeface="League Spartan"/>
              </a:rPr>
              <a:t>In Canvas</a:t>
            </a:r>
          </a:p>
          <a:p>
            <a:pPr algn="l">
              <a:spcAft>
                <a:spcPts val="600"/>
              </a:spcAft>
            </a:pPr>
            <a:r>
              <a:rPr sz="1200" b="0" i="0">
                <a:solidFill>
                  <a:srgbClr val="131313"/>
                </a:solidFill>
                <a:latin typeface="Roboto"/>
              </a:rPr>
              <a:t>The teacher clicks Embed Interactive Content and picks or uploads a zest</a:t>
            </a:r>
          </a:p>
        </p:txBody>
      </p:sp>
      <p:sp>
        <p:nvSpPr>
          <p:cNvPr id="458" name="TextBox 457"/>
          <p:cNvSpPr txBox="1"/>
          <p:nvPr/>
        </p:nvSpPr>
        <p:spPr>
          <a:xfrm>
            <a:off x="3584448" y="2606040"/>
            <a:ext cx="2011680" cy="1737360"/>
          </a:xfrm>
          <a:prstGeom prst="rect">
            <a:avLst/>
          </a:prstGeom>
          <a:noFill/>
        </p:spPr>
        <p:txBody>
          <a:bodyPr wrap="square" anchor="t" lIns="0" rIns="0" tIns="0" bIns="0">
            <a:spAutoFit/>
          </a:bodyPr>
          <a:lstStyle/>
          <a:p>
            <a:pPr algn="l">
              <a:spcAft>
                <a:spcPts val="600"/>
              </a:spcAft>
            </a:pPr>
            <a:r>
              <a:rPr sz="1700" b="1" i="0">
                <a:solidFill>
                  <a:srgbClr val="1B3168"/>
                </a:solidFill>
                <a:latin typeface="League Spartan"/>
              </a:rPr>
              <a:t>Zest</a:t>
            </a:r>
          </a:p>
          <a:p>
            <a:pPr algn="l">
              <a:spcAft>
                <a:spcPts val="600"/>
              </a:spcAft>
            </a:pPr>
            <a:r>
              <a:rPr sz="1200" b="0" i="0">
                <a:solidFill>
                  <a:srgbClr val="131313"/>
                </a:solidFill>
                <a:latin typeface="Roboto"/>
              </a:rPr>
              <a:t>Runs the activity from your own server and saves work as the student goes</a:t>
            </a:r>
          </a:p>
        </p:txBody>
      </p:sp>
      <p:sp>
        <p:nvSpPr>
          <p:cNvPr id="459" name="TextBox 458"/>
          <p:cNvSpPr txBox="1"/>
          <p:nvPr/>
        </p:nvSpPr>
        <p:spPr>
          <a:xfrm>
            <a:off x="6382512" y="2606040"/>
            <a:ext cx="2011680" cy="1737360"/>
          </a:xfrm>
          <a:prstGeom prst="rect">
            <a:avLst/>
          </a:prstGeom>
          <a:noFill/>
        </p:spPr>
        <p:txBody>
          <a:bodyPr wrap="square" anchor="t" lIns="0" rIns="0" tIns="0" bIns="0">
            <a:spAutoFit/>
          </a:bodyPr>
          <a:lstStyle/>
          <a:p>
            <a:pPr algn="l">
              <a:spcAft>
                <a:spcPts val="600"/>
              </a:spcAft>
            </a:pPr>
            <a:r>
              <a:rPr sz="1700" b="1" i="0">
                <a:solidFill>
                  <a:srgbClr val="1B3168"/>
                </a:solidFill>
                <a:latin typeface="League Spartan"/>
              </a:rPr>
              <a:t>Back in Canvas</a:t>
            </a:r>
          </a:p>
          <a:p>
            <a:pPr algn="l">
              <a:spcAft>
                <a:spcPts val="600"/>
              </a:spcAft>
            </a:pPr>
            <a:r>
              <a:rPr sz="1200" b="0" i="0">
                <a:solidFill>
                  <a:srgbClr val="131313"/>
                </a:solidFill>
                <a:latin typeface="Roboto"/>
              </a:rPr>
              <a:t>The grade lands in the gradebook and the teacher gets a custom view in SpeedGrader</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34"/>
                                        </p:tgtEl>
                                        <p:attrNameLst>
                                          <p:attrName>style.visibility</p:attrName>
                                        </p:attrNameLst>
                                      </p:cBhvr>
                                      <p:to>
                                        <p:strVal val="visible"/>
                                      </p:to>
                                    </p:set>
                                    <p:animEffect transition="in" filter="fade">
                                      <p:cBhvr>
                                        <p:cTn id="5" dur="500"/>
                                        <p:tgtEl>
                                          <p:spTgt spid="434"/>
                                        </p:tgtEl>
                                      </p:cBhvr>
                                    </p:animEffect>
                                  </p:childTnLst>
                                </p:cTn>
                              </p:par>
                              <p:par>
                                <p:cTn id="6" presetID="10" presetClass="entr" presetSubtype="0" fill="hold" nodeType="withEffect">
                                  <p:stCondLst>
                                    <p:cond delay="0"/>
                                  </p:stCondLst>
                                  <p:childTnLst>
                                    <p:set>
                                      <p:cBhvr>
                                        <p:cTn id="7" dur="1" fill="hold">
                                          <p:stCondLst>
                                            <p:cond delay="0"/>
                                          </p:stCondLst>
                                        </p:cTn>
                                        <p:tgtEl>
                                          <p:spTgt spid="457"/>
                                        </p:tgtEl>
                                        <p:attrNameLst>
                                          <p:attrName>style.visibility</p:attrName>
                                        </p:attrNameLst>
                                      </p:cBhvr>
                                      <p:to>
                                        <p:strVal val="visible"/>
                                      </p:to>
                                    </p:set>
                                    <p:animEffect transition="in" filter="fade">
                                      <p:cBhvr>
                                        <p:cTn id="8" dur="500"/>
                                        <p:tgtEl>
                                          <p:spTgt spid="457"/>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36"/>
                                        </p:tgtEl>
                                        <p:attrNameLst>
                                          <p:attrName>style.visibility</p:attrName>
                                        </p:attrNameLst>
                                      </p:cBhvr>
                                      <p:to>
                                        <p:strVal val="visible"/>
                                      </p:to>
                                    </p:set>
                                    <p:animEffect transition="in" filter="fade">
                                      <p:cBhvr>
                                        <p:cTn id="13" dur="500"/>
                                        <p:tgtEl>
                                          <p:spTgt spid="436"/>
                                        </p:tgtEl>
                                      </p:cBhvr>
                                    </p:animEffect>
                                  </p:childTnLst>
                                </p:cTn>
                              </p:par>
                              <p:par>
                                <p:cTn id="14" presetID="10" presetClass="entr" presetSubtype="0" fill="hold" nodeType="withEffect">
                                  <p:stCondLst>
                                    <p:cond delay="0"/>
                                  </p:stCondLst>
                                  <p:childTnLst>
                                    <p:set>
                                      <p:cBhvr>
                                        <p:cTn id="15" dur="1" fill="hold">
                                          <p:stCondLst>
                                            <p:cond delay="0"/>
                                          </p:stCondLst>
                                        </p:cTn>
                                        <p:tgtEl>
                                          <p:spTgt spid="458"/>
                                        </p:tgtEl>
                                        <p:attrNameLst>
                                          <p:attrName>style.visibility</p:attrName>
                                        </p:attrNameLst>
                                      </p:cBhvr>
                                      <p:to>
                                        <p:strVal val="visible"/>
                                      </p:to>
                                    </p:set>
                                    <p:animEffect transition="in" filter="fade">
                                      <p:cBhvr>
                                        <p:cTn id="16" dur="500"/>
                                        <p:tgtEl>
                                          <p:spTgt spid="458"/>
                                        </p:tgtEl>
                                      </p:cBhvr>
                                    </p:animEffect>
                                  </p:childTnLst>
                                </p:cTn>
                              </p:par>
                              <p:par>
                                <p:cTn id="17" presetID="10" presetClass="entr" presetSubtype="0" fill="hold" nodeType="withEffect">
                                  <p:stCondLst>
                                    <p:cond delay="0"/>
                                  </p:stCondLst>
                                  <p:childTnLst>
                                    <p:set>
                                      <p:cBhvr>
                                        <p:cTn id="18" dur="1" fill="hold">
                                          <p:stCondLst>
                                            <p:cond delay="0"/>
                                          </p:stCondLst>
                                        </p:cTn>
                                        <p:tgtEl>
                                          <p:spTgt spid="451"/>
                                        </p:tgtEl>
                                        <p:attrNameLst>
                                          <p:attrName>style.visibility</p:attrName>
                                        </p:attrNameLst>
                                      </p:cBhvr>
                                      <p:to>
                                        <p:strVal val="visible"/>
                                      </p:to>
                                    </p:set>
                                    <p:animEffect transition="in" filter="fade">
                                      <p:cBhvr>
                                        <p:cTn id="19" dur="500"/>
                                        <p:tgtEl>
                                          <p:spTgt spid="451"/>
                                        </p:tgtEl>
                                      </p:cBhvr>
                                    </p:animEffect>
                                  </p:childTnLst>
                                </p:cTn>
                              </p:par>
                            </p:childTnLst>
                          </p:cTn>
                        </p:par>
                      </p:childTnLst>
                    </p:cTn>
                  </p:par>
                  <p:par>
                    <p:cTn id="31" fill="hold">
                      <p:stCondLst>
                        <p:cond delay="indefinite"/>
                      </p:stCondLst>
                      <p:childTnLst>
                        <p:par>
                          <p:cTn id="32"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38"/>
                                        </p:tgtEl>
                                        <p:attrNameLst>
                                          <p:attrName>style.visibility</p:attrName>
                                        </p:attrNameLst>
                                      </p:cBhvr>
                                      <p:to>
                                        <p:strVal val="visible"/>
                                      </p:to>
                                    </p:set>
                                    <p:animEffect transition="in" filter="fade">
                                      <p:cBhvr>
                                        <p:cTn id="24" dur="500"/>
                                        <p:tgtEl>
                                          <p:spTgt spid="438"/>
                                        </p:tgtEl>
                                      </p:cBhvr>
                                    </p:animEffect>
                                  </p:childTnLst>
                                </p:cTn>
                              </p:par>
                              <p:par>
                                <p:cTn id="25" presetID="10" presetClass="entr" presetSubtype="0" fill="hold" nodeType="withEffect">
                                  <p:stCondLst>
                                    <p:cond delay="0"/>
                                  </p:stCondLst>
                                  <p:childTnLst>
                                    <p:set>
                                      <p:cBhvr>
                                        <p:cTn id="26" dur="1" fill="hold">
                                          <p:stCondLst>
                                            <p:cond delay="0"/>
                                          </p:stCondLst>
                                        </p:cTn>
                                        <p:tgtEl>
                                          <p:spTgt spid="459"/>
                                        </p:tgtEl>
                                        <p:attrNameLst>
                                          <p:attrName>style.visibility</p:attrName>
                                        </p:attrNameLst>
                                      </p:cBhvr>
                                      <p:to>
                                        <p:strVal val="visible"/>
                                      </p:to>
                                    </p:set>
                                    <p:animEffect transition="in" filter="fade">
                                      <p:cBhvr>
                                        <p:cTn id="27" dur="500"/>
                                        <p:tgtEl>
                                          <p:spTgt spid="459"/>
                                        </p:tgtEl>
                                      </p:cBhvr>
                                    </p:animEffect>
                                  </p:childTnLst>
                                </p:cTn>
                              </p:par>
                              <p:par>
                                <p:cTn id="28" presetID="10" presetClass="entr" presetSubtype="0" fill="hold" nodeType="withEffect">
                                  <p:stCondLst>
                                    <p:cond delay="0"/>
                                  </p:stCondLst>
                                  <p:childTnLst>
                                    <p:set>
                                      <p:cBhvr>
                                        <p:cTn id="29" dur="1" fill="hold">
                                          <p:stCondLst>
                                            <p:cond delay="0"/>
                                          </p:stCondLst>
                                        </p:cTn>
                                        <p:tgtEl>
                                          <p:spTgt spid="448"/>
                                        </p:tgtEl>
                                        <p:attrNameLst>
                                          <p:attrName>style.visibility</p:attrName>
                                        </p:attrNameLst>
                                      </p:cBhvr>
                                      <p:to>
                                        <p:strVal val="visible"/>
                                      </p:to>
                                    </p:set>
                                    <p:animEffect transition="in" filter="fade">
                                      <p:cBhvr>
                                        <p:cTn id="30" dur="500"/>
                                        <p:tgtEl>
                                          <p:spTgt spid="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p41"/>
          <p:cNvPicPr preferRelativeResize="0"/>
          <p:nvPr/>
        </p:nvPicPr>
        <p:blipFill rotWithShape="1">
          <a:blip r:embed="rId3">
            <a:alphaModFix/>
          </a:blip>
          <a:srcRect b="0" l="0" r="0" t="0"/>
          <a:stretch/>
        </p:blipFill>
        <p:spPr>
          <a:xfrm flipH="1" rot="5400000">
            <a:off x="0" y="0"/>
            <a:ext cx="729613" cy="729613"/>
          </a:xfrm>
          <a:prstGeom prst="rect">
            <a:avLst/>
          </a:prstGeom>
          <a:noFill/>
          <a:ln>
            <a:noFill/>
          </a:ln>
        </p:spPr>
      </p:pic>
      <p:pic>
        <p:nvPicPr>
          <p:cNvPr id="255" name="Google Shape;255;p41"/>
          <p:cNvPicPr preferRelativeResize="0"/>
          <p:nvPr/>
        </p:nvPicPr>
        <p:blipFill rotWithShape="1">
          <a:blip r:embed="rId4">
            <a:alphaModFix/>
          </a:blip>
          <a:srcRect b="0" l="0" r="0" t="0"/>
          <a:stretch/>
        </p:blipFill>
        <p:spPr>
          <a:xfrm rot="-5400000">
            <a:off x="8309628" y="0"/>
            <a:ext cx="834372" cy="834374"/>
          </a:xfrm>
          <a:prstGeom prst="rect">
            <a:avLst/>
          </a:prstGeom>
          <a:noFill/>
          <a:ln>
            <a:noFill/>
          </a:ln>
        </p:spPr>
      </p:pic>
      <p:grpSp>
        <p:nvGrpSpPr>
          <p:cNvPr id="259" name="Google Shape;259;p41"/>
          <p:cNvGrpSpPr/>
          <p:nvPr/>
        </p:nvGrpSpPr>
        <p:grpSpPr>
          <a:xfrm>
            <a:off x="4844339" y="1095531"/>
            <a:ext cx="3335810" cy="695498"/>
            <a:chOff x="0" y="-588"/>
            <a:chExt cx="8895494" cy="1854661"/>
          </a:xfrm>
        </p:grpSpPr>
        <p:sp>
          <p:nvSpPr>
            <p:cNvPr id="260" name="Google Shape;260;p41"/>
            <p:cNvSpPr/>
            <p:nvPr/>
          </p:nvSpPr>
          <p:spPr>
            <a:xfrm rot="-5400000">
              <a:off x="3520710" y="-3521298"/>
              <a:ext cx="1854073" cy="8895494"/>
            </a:xfrm>
            <a:custGeom>
              <a:rect b="b" l="l" r="r" t="t"/>
              <a:pathLst>
                <a:path extrusionOk="0" h="3168475" w="660400">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1" name="Google Shape;261;p41"/>
            <p:cNvSpPr/>
            <p:nvPr/>
          </p:nvSpPr>
          <p:spPr>
            <a:xfrm>
              <a:off x="0" y="0"/>
              <a:ext cx="2762313" cy="1854073"/>
            </a:xfrm>
            <a:custGeom>
              <a:rect b="b" l="l" r="r" t="t"/>
              <a:pathLst>
                <a:path extrusionOk="0" h="660400" w="983905">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264" name="Google Shape;264;p41"/>
          <p:cNvGrpSpPr/>
          <p:nvPr/>
        </p:nvGrpSpPr>
        <p:grpSpPr>
          <a:xfrm>
            <a:off x="4844339" y="2036657"/>
            <a:ext cx="3335810" cy="695498"/>
            <a:chOff x="0" y="-588"/>
            <a:chExt cx="8895494" cy="1854661"/>
          </a:xfrm>
        </p:grpSpPr>
        <p:sp>
          <p:nvSpPr>
            <p:cNvPr id="265" name="Google Shape;265;p41"/>
            <p:cNvSpPr/>
            <p:nvPr/>
          </p:nvSpPr>
          <p:spPr>
            <a:xfrm rot="-5400000">
              <a:off x="3520710" y="-3521298"/>
              <a:ext cx="1854073" cy="8895494"/>
            </a:xfrm>
            <a:custGeom>
              <a:rect b="b" l="l" r="r" t="t"/>
              <a:pathLst>
                <a:path extrusionOk="0" h="3168475" w="660400">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6" name="Google Shape;266;p41"/>
            <p:cNvSpPr/>
            <p:nvPr/>
          </p:nvSpPr>
          <p:spPr>
            <a:xfrm>
              <a:off x="0" y="0"/>
              <a:ext cx="2762313" cy="1854073"/>
            </a:xfrm>
            <a:custGeom>
              <a:rect b="b" l="l" r="r" t="t"/>
              <a:pathLst>
                <a:path extrusionOk="0" h="660400" w="983905">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268" name="Google Shape;268;p41"/>
          <p:cNvGrpSpPr/>
          <p:nvPr/>
        </p:nvGrpSpPr>
        <p:grpSpPr>
          <a:xfrm>
            <a:off x="4844339" y="2977783"/>
            <a:ext cx="3335810" cy="695498"/>
            <a:chOff x="0" y="-588"/>
            <a:chExt cx="8895494" cy="1854661"/>
          </a:xfrm>
        </p:grpSpPr>
        <p:sp>
          <p:nvSpPr>
            <p:cNvPr id="269" name="Google Shape;269;p41"/>
            <p:cNvSpPr/>
            <p:nvPr/>
          </p:nvSpPr>
          <p:spPr>
            <a:xfrm rot="-5400000">
              <a:off x="3520710" y="-3521298"/>
              <a:ext cx="1854073" cy="8895494"/>
            </a:xfrm>
            <a:custGeom>
              <a:rect b="b" l="l" r="r" t="t"/>
              <a:pathLst>
                <a:path extrusionOk="0" h="3168475" w="660400">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0" name="Google Shape;270;p41"/>
            <p:cNvSpPr/>
            <p:nvPr/>
          </p:nvSpPr>
          <p:spPr>
            <a:xfrm>
              <a:off x="0" y="0"/>
              <a:ext cx="2762313" cy="1854073"/>
            </a:xfrm>
            <a:custGeom>
              <a:rect b="b" l="l" r="r" t="t"/>
              <a:pathLst>
                <a:path extrusionOk="0" h="660400" w="983905">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grpSp>
        <p:nvGrpSpPr>
          <p:cNvPr id="274" name="Google Shape;274;p41"/>
          <p:cNvGrpSpPr/>
          <p:nvPr/>
        </p:nvGrpSpPr>
        <p:grpSpPr>
          <a:xfrm>
            <a:off x="7704129" y="4183226"/>
            <a:ext cx="915496" cy="471026"/>
            <a:chOff x="61924" y="79616"/>
            <a:chExt cx="2441323" cy="1256068"/>
          </a:xfrm>
        </p:grpSpPr>
        <p:sp>
          <p:nvSpPr>
            <p:cNvPr id="275" name="Google Shape;275;p41"/>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76" name="Google Shape;276;p41"/>
            <p:cNvPicPr preferRelativeResize="0"/>
            <p:nvPr/>
          </p:nvPicPr>
          <p:blipFill rotWithShape="1">
            <a:blip r:embed="rId5">
              <a:alphaModFix/>
            </a:blip>
            <a:srcRect b="0" l="0" r="0" t="0"/>
            <a:stretch/>
          </p:blipFill>
          <p:spPr>
            <a:xfrm>
              <a:off x="1328489" y="190500"/>
              <a:ext cx="1034400" cy="1034400"/>
            </a:xfrm>
            <a:prstGeom prst="rect">
              <a:avLst/>
            </a:prstGeom>
            <a:noFill/>
            <a:ln>
              <a:noFill/>
            </a:ln>
          </p:spPr>
        </p:pic>
        <p:pic>
          <p:nvPicPr>
            <p:cNvPr id="277" name="Google Shape;277;p41"/>
            <p:cNvPicPr preferRelativeResize="0"/>
            <p:nvPr/>
          </p:nvPicPr>
          <p:blipFill rotWithShape="1">
            <a:blip r:embed="rId6">
              <a:alphaModFix/>
            </a:blip>
            <a:srcRect b="0" l="0" r="0" t="0"/>
            <a:stretch/>
          </p:blipFill>
          <p:spPr>
            <a:xfrm>
              <a:off x="1482412" y="344423"/>
              <a:ext cx="726554" cy="726554"/>
            </a:xfrm>
            <a:prstGeom prst="rect">
              <a:avLst/>
            </a:prstGeom>
            <a:noFill/>
            <a:ln>
              <a:noFill/>
            </a:ln>
          </p:spPr>
        </p:pic>
      </p:grpSp>
      <p:pic>
        <p:nvPicPr>
          <p:cNvPr id="278" name="Google Shape;278;p41"/>
          <p:cNvPicPr preferRelativeResize="0"/>
          <p:nvPr/>
        </p:nvPicPr>
        <p:blipFill rotWithShape="1">
          <a:blip r:embed="rId7">
            <a:alphaModFix/>
          </a:blip>
          <a:srcRect b="0" l="0" r="0" t="0"/>
          <a:stretch/>
        </p:blipFill>
        <p:spPr>
          <a:xfrm rot="5400000">
            <a:off x="0" y="3792331"/>
            <a:ext cx="1351170" cy="1351169"/>
          </a:xfrm>
          <a:prstGeom prst="rect">
            <a:avLst/>
          </a:prstGeom>
          <a:noFill/>
          <a:ln>
            <a:noFill/>
          </a:ln>
        </p:spPr>
      </p:pic>
      <p:pic>
        <p:nvPicPr>
          <p:cNvPr id="279" name="Google Shape;279;p41"/>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sp>
        <p:nvSpPr>
          <p:cNvPr id="280" name="TextBox 279"/>
          <p:cNvSpPr txBox="1"/>
          <p:nvPr/>
        </p:nvSpPr>
        <p:spPr>
          <a:xfrm>
            <a:off x="914400" y="1234440"/>
            <a:ext cx="3200400" cy="548640"/>
          </a:xfrm>
          <a:prstGeom prst="rect">
            <a:avLst/>
          </a:prstGeom>
          <a:noFill/>
        </p:spPr>
        <p:txBody>
          <a:bodyPr wrap="square" anchor="t" lIns="0" rIns="0" tIns="0" bIns="0">
            <a:spAutoFit/>
          </a:bodyPr>
          <a:lstStyle/>
          <a:p>
            <a:pPr algn="l">
              <a:spcAft>
                <a:spcPts val="0"/>
              </a:spcAft>
            </a:pPr>
            <a:r>
              <a:rPr sz="3000" b="1" i="0">
                <a:solidFill>
                  <a:srgbClr val="131313"/>
                </a:solidFill>
                <a:latin typeface="League Spartan"/>
              </a:rPr>
              <a:t>How It Started</a:t>
            </a:r>
          </a:p>
        </p:txBody>
      </p:sp>
      <p:sp>
        <p:nvSpPr>
          <p:cNvPr id="281" name="TextBox 280"/>
          <p:cNvSpPr txBox="1"/>
          <p:nvPr/>
        </p:nvSpPr>
        <p:spPr>
          <a:xfrm>
            <a:off x="914400" y="1874519"/>
            <a:ext cx="3017520" cy="1463040"/>
          </a:xfrm>
          <a:prstGeom prst="rect">
            <a:avLst/>
          </a:prstGeom>
          <a:noFill/>
        </p:spPr>
        <p:txBody>
          <a:bodyPr wrap="square" anchor="t" lIns="0" rIns="0" tIns="0" bIns="0">
            <a:spAutoFit/>
          </a:bodyPr>
          <a:lstStyle/>
          <a:p>
            <a:pPr algn="l">
              <a:spcAft>
                <a:spcPts val="600"/>
              </a:spcAft>
            </a:pPr>
            <a:r>
              <a:rPr sz="1300" b="0" i="0">
                <a:solidFill>
                  <a:srgbClr val="605F5E"/>
                </a:solidFill>
                <a:latin typeface="Roboto"/>
              </a:rPr>
              <a:t>We built Zest for our own courses first, one need at a time.</a:t>
            </a:r>
          </a:p>
        </p:txBody>
      </p:sp>
      <p:sp>
        <p:nvSpPr>
          <p:cNvPr id="282" name="TextBox 281"/>
          <p:cNvSpPr txBox="1"/>
          <p:nvPr/>
        </p:nvSpPr>
        <p:spPr>
          <a:xfrm>
            <a:off x="5029200" y="1307592"/>
            <a:ext cx="548640" cy="274320"/>
          </a:xfrm>
          <a:prstGeom prst="rect">
            <a:avLst/>
          </a:prstGeom>
          <a:noFill/>
        </p:spPr>
        <p:txBody>
          <a:bodyPr wrap="square" anchor="t" lIns="0" rIns="0" tIns="0" bIns="0">
            <a:spAutoFit/>
          </a:bodyPr>
          <a:lstStyle/>
          <a:p>
            <a:pPr algn="l">
              <a:spcAft>
                <a:spcPts val="600"/>
              </a:spcAft>
            </a:pPr>
            <a:r>
              <a:rPr sz="1100" b="1" i="0">
                <a:solidFill>
                  <a:srgbClr val="FFFFFF"/>
                </a:solidFill>
                <a:latin typeface="Roboto"/>
              </a:rPr>
              <a:t>Step 1</a:t>
            </a:r>
          </a:p>
        </p:txBody>
      </p:sp>
      <p:sp>
        <p:nvSpPr>
          <p:cNvPr id="283" name="TextBox 282"/>
          <p:cNvSpPr txBox="1"/>
          <p:nvPr/>
        </p:nvSpPr>
        <p:spPr>
          <a:xfrm>
            <a:off x="5989320" y="1225295"/>
            <a:ext cx="2148840" cy="457200"/>
          </a:xfrm>
          <a:prstGeom prst="rect">
            <a:avLst/>
          </a:prstGeom>
          <a:noFill/>
        </p:spPr>
        <p:txBody>
          <a:bodyPr wrap="square" anchor="ctr" lIns="0" rIns="0" tIns="0" bIns="0">
            <a:spAutoFit/>
          </a:bodyPr>
          <a:lstStyle/>
          <a:p>
            <a:pPr algn="l">
              <a:spcAft>
                <a:spcPts val="600"/>
              </a:spcAft>
            </a:pPr>
            <a:r>
              <a:rPr sz="1200" b="0" i="0">
                <a:solidFill>
                  <a:srgbClr val="131313"/>
                </a:solidFill>
                <a:latin typeface="Roboto"/>
              </a:rPr>
              <a:t>Coding tools to replace an expensive system</a:t>
            </a:r>
          </a:p>
        </p:txBody>
      </p:sp>
      <p:sp>
        <p:nvSpPr>
          <p:cNvPr id="284" name="TextBox 283"/>
          <p:cNvSpPr txBox="1"/>
          <p:nvPr/>
        </p:nvSpPr>
        <p:spPr>
          <a:xfrm>
            <a:off x="5029200" y="2249424"/>
            <a:ext cx="548640" cy="274320"/>
          </a:xfrm>
          <a:prstGeom prst="rect">
            <a:avLst/>
          </a:prstGeom>
          <a:noFill/>
        </p:spPr>
        <p:txBody>
          <a:bodyPr wrap="square" anchor="t" lIns="0" rIns="0" tIns="0" bIns="0">
            <a:spAutoFit/>
          </a:bodyPr>
          <a:lstStyle/>
          <a:p>
            <a:pPr algn="l">
              <a:spcAft>
                <a:spcPts val="600"/>
              </a:spcAft>
            </a:pPr>
            <a:r>
              <a:rPr sz="1100" b="1" i="0">
                <a:solidFill>
                  <a:srgbClr val="FFFFFF"/>
                </a:solidFill>
                <a:latin typeface="Roboto"/>
              </a:rPr>
              <a:t>Step 2</a:t>
            </a:r>
          </a:p>
        </p:txBody>
      </p:sp>
      <p:sp>
        <p:nvSpPr>
          <p:cNvPr id="285" name="TextBox 284"/>
          <p:cNvSpPr txBox="1"/>
          <p:nvPr/>
        </p:nvSpPr>
        <p:spPr>
          <a:xfrm>
            <a:off x="5989320" y="2167128"/>
            <a:ext cx="2148840" cy="457200"/>
          </a:xfrm>
          <a:prstGeom prst="rect">
            <a:avLst/>
          </a:prstGeom>
          <a:noFill/>
        </p:spPr>
        <p:txBody>
          <a:bodyPr wrap="square" anchor="ctr" lIns="0" rIns="0" tIns="0" bIns="0">
            <a:spAutoFit/>
          </a:bodyPr>
          <a:lstStyle/>
          <a:p>
            <a:pPr algn="l">
              <a:spcAft>
                <a:spcPts val="600"/>
              </a:spcAft>
            </a:pPr>
            <a:r>
              <a:rPr sz="1200" b="0" i="0">
                <a:solidFill>
                  <a:srgbClr val="131313"/>
                </a:solidFill>
                <a:latin typeface="Roboto"/>
              </a:rPr>
              <a:t>Our keyboarding class</a:t>
            </a:r>
          </a:p>
        </p:txBody>
      </p:sp>
      <p:sp>
        <p:nvSpPr>
          <p:cNvPr id="286" name="TextBox 285"/>
          <p:cNvSpPr txBox="1"/>
          <p:nvPr/>
        </p:nvSpPr>
        <p:spPr>
          <a:xfrm>
            <a:off x="5029200" y="3191256"/>
            <a:ext cx="548640" cy="274320"/>
          </a:xfrm>
          <a:prstGeom prst="rect">
            <a:avLst/>
          </a:prstGeom>
          <a:noFill/>
        </p:spPr>
        <p:txBody>
          <a:bodyPr wrap="square" anchor="t" lIns="0" rIns="0" tIns="0" bIns="0">
            <a:spAutoFit/>
          </a:bodyPr>
          <a:lstStyle/>
          <a:p>
            <a:pPr algn="l">
              <a:spcAft>
                <a:spcPts val="600"/>
              </a:spcAft>
            </a:pPr>
            <a:r>
              <a:rPr sz="1100" b="1" i="0">
                <a:solidFill>
                  <a:srgbClr val="FFFFFF"/>
                </a:solidFill>
                <a:latin typeface="Roboto"/>
              </a:rPr>
              <a:t>Step 3</a:t>
            </a:r>
          </a:p>
        </p:txBody>
      </p:sp>
      <p:sp>
        <p:nvSpPr>
          <p:cNvPr id="287" name="TextBox 286"/>
          <p:cNvSpPr txBox="1"/>
          <p:nvPr/>
        </p:nvSpPr>
        <p:spPr>
          <a:xfrm>
            <a:off x="5989320" y="3108960"/>
            <a:ext cx="2148840" cy="457200"/>
          </a:xfrm>
          <a:prstGeom prst="rect">
            <a:avLst/>
          </a:prstGeom>
          <a:noFill/>
        </p:spPr>
        <p:txBody>
          <a:bodyPr wrap="square" anchor="ctr" lIns="0" rIns="0" tIns="0" bIns="0">
            <a:spAutoFit/>
          </a:bodyPr>
          <a:lstStyle/>
          <a:p>
            <a:pPr algn="l">
              <a:spcAft>
                <a:spcPts val="600"/>
              </a:spcAft>
            </a:pPr>
            <a:r>
              <a:rPr sz="1200" b="0" i="0">
                <a:solidFill>
                  <a:srgbClr val="131313"/>
                </a:solidFill>
                <a:latin typeface="Roboto"/>
              </a:rPr>
              <a:t>More on the way</a:t>
            </a:r>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59"/>
                                        </p:tgtEl>
                                        <p:attrNameLst>
                                          <p:attrName>style.visibility</p:attrName>
                                        </p:attrNameLst>
                                      </p:cBhvr>
                                      <p:to>
                                        <p:strVal val="visible"/>
                                      </p:to>
                                    </p:set>
                                    <p:animEffect transition="in" filter="fade">
                                      <p:cBhvr>
                                        <p:cTn id="5" dur="500"/>
                                        <p:tgtEl>
                                          <p:spTgt spid="259"/>
                                        </p:tgtEl>
                                      </p:cBhvr>
                                    </p:animEffect>
                                  </p:childTnLst>
                                </p:cTn>
                              </p:par>
                              <p:par>
                                <p:cTn id="6" presetID="10" presetClass="entr" presetSubtype="0" fill="hold" nodeType="withEffect">
                                  <p:stCondLst>
                                    <p:cond delay="0"/>
                                  </p:stCondLst>
                                  <p:childTnLst>
                                    <p:set>
                                      <p:cBhvr>
                                        <p:cTn id="7" dur="1" fill="hold">
                                          <p:stCondLst>
                                            <p:cond delay="0"/>
                                          </p:stCondLst>
                                        </p:cTn>
                                        <p:tgtEl>
                                          <p:spTgt spid="282"/>
                                        </p:tgtEl>
                                        <p:attrNameLst>
                                          <p:attrName>style.visibility</p:attrName>
                                        </p:attrNameLst>
                                      </p:cBhvr>
                                      <p:to>
                                        <p:strVal val="visible"/>
                                      </p:to>
                                    </p:set>
                                    <p:animEffect transition="in" filter="fade">
                                      <p:cBhvr>
                                        <p:cTn id="8" dur="500"/>
                                        <p:tgtEl>
                                          <p:spTgt spid="282"/>
                                        </p:tgtEl>
                                      </p:cBhvr>
                                    </p:animEffect>
                                  </p:childTnLst>
                                </p:cTn>
                              </p:par>
                              <p:par>
                                <p:cTn id="9" presetID="10" presetClass="entr" presetSubtype="0" fill="hold" nodeType="withEffect">
                                  <p:stCondLst>
                                    <p:cond delay="0"/>
                                  </p:stCondLst>
                                  <p:childTnLst>
                                    <p:set>
                                      <p:cBhvr>
                                        <p:cTn id="10" dur="1" fill="hold">
                                          <p:stCondLst>
                                            <p:cond delay="0"/>
                                          </p:stCondLst>
                                        </p:cTn>
                                        <p:tgtEl>
                                          <p:spTgt spid="283"/>
                                        </p:tgtEl>
                                        <p:attrNameLst>
                                          <p:attrName>style.visibility</p:attrName>
                                        </p:attrNameLst>
                                      </p:cBhvr>
                                      <p:to>
                                        <p:strVal val="visible"/>
                                      </p:to>
                                    </p:set>
                                    <p:animEffect transition="in" filter="fade">
                                      <p:cBhvr>
                                        <p:cTn id="11" dur="500"/>
                                        <p:tgtEl>
                                          <p:spTgt spid="283"/>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64"/>
                                        </p:tgtEl>
                                        <p:attrNameLst>
                                          <p:attrName>style.visibility</p:attrName>
                                        </p:attrNameLst>
                                      </p:cBhvr>
                                      <p:to>
                                        <p:strVal val="visible"/>
                                      </p:to>
                                    </p:set>
                                    <p:animEffect transition="in" filter="fade">
                                      <p:cBhvr>
                                        <p:cTn id="16" dur="500"/>
                                        <p:tgtEl>
                                          <p:spTgt spid="264"/>
                                        </p:tgtEl>
                                      </p:cBhvr>
                                    </p:animEffect>
                                  </p:childTnLst>
                                </p:cTn>
                              </p:par>
                              <p:par>
                                <p:cTn id="17" presetID="10" presetClass="entr" presetSubtype="0" fill="hold" nodeType="withEffect">
                                  <p:stCondLst>
                                    <p:cond delay="0"/>
                                  </p:stCondLst>
                                  <p:childTnLst>
                                    <p:set>
                                      <p:cBhvr>
                                        <p:cTn id="18" dur="1" fill="hold">
                                          <p:stCondLst>
                                            <p:cond delay="0"/>
                                          </p:stCondLst>
                                        </p:cTn>
                                        <p:tgtEl>
                                          <p:spTgt spid="284"/>
                                        </p:tgtEl>
                                        <p:attrNameLst>
                                          <p:attrName>style.visibility</p:attrName>
                                        </p:attrNameLst>
                                      </p:cBhvr>
                                      <p:to>
                                        <p:strVal val="visible"/>
                                      </p:to>
                                    </p:set>
                                    <p:animEffect transition="in" filter="fade">
                                      <p:cBhvr>
                                        <p:cTn id="19" dur="500"/>
                                        <p:tgtEl>
                                          <p:spTgt spid="284"/>
                                        </p:tgtEl>
                                      </p:cBhvr>
                                    </p:animEffect>
                                  </p:childTnLst>
                                </p:cTn>
                              </p:par>
                              <p:par>
                                <p:cTn id="20" presetID="10" presetClass="entr" presetSubtype="0" fill="hold" nodeType="withEffect">
                                  <p:stCondLst>
                                    <p:cond delay="0"/>
                                  </p:stCondLst>
                                  <p:childTnLst>
                                    <p:set>
                                      <p:cBhvr>
                                        <p:cTn id="21" dur="1" fill="hold">
                                          <p:stCondLst>
                                            <p:cond delay="0"/>
                                          </p:stCondLst>
                                        </p:cTn>
                                        <p:tgtEl>
                                          <p:spTgt spid="285"/>
                                        </p:tgtEl>
                                        <p:attrNameLst>
                                          <p:attrName>style.visibility</p:attrName>
                                        </p:attrNameLst>
                                      </p:cBhvr>
                                      <p:to>
                                        <p:strVal val="visible"/>
                                      </p:to>
                                    </p:set>
                                    <p:animEffect transition="in" filter="fade">
                                      <p:cBhvr>
                                        <p:cTn id="22" dur="500"/>
                                        <p:tgtEl>
                                          <p:spTgt spid="285"/>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8"/>
                                        </p:tgtEl>
                                        <p:attrNameLst>
                                          <p:attrName>style.visibility</p:attrName>
                                        </p:attrNameLst>
                                      </p:cBhvr>
                                      <p:to>
                                        <p:strVal val="visible"/>
                                      </p:to>
                                    </p:set>
                                    <p:animEffect transition="in" filter="fade">
                                      <p:cBhvr>
                                        <p:cTn id="27" dur="500"/>
                                        <p:tgtEl>
                                          <p:spTgt spid="268"/>
                                        </p:tgtEl>
                                      </p:cBhvr>
                                    </p:animEffect>
                                  </p:childTnLst>
                                </p:cTn>
                              </p:par>
                              <p:par>
                                <p:cTn id="28" presetID="10" presetClass="entr" presetSubtype="0" fill="hold" nodeType="withEffect">
                                  <p:stCondLst>
                                    <p:cond delay="0"/>
                                  </p:stCondLst>
                                  <p:childTnLst>
                                    <p:set>
                                      <p:cBhvr>
                                        <p:cTn id="29" dur="1" fill="hold">
                                          <p:stCondLst>
                                            <p:cond delay="0"/>
                                          </p:stCondLst>
                                        </p:cTn>
                                        <p:tgtEl>
                                          <p:spTgt spid="286"/>
                                        </p:tgtEl>
                                        <p:attrNameLst>
                                          <p:attrName>style.visibility</p:attrName>
                                        </p:attrNameLst>
                                      </p:cBhvr>
                                      <p:to>
                                        <p:strVal val="visible"/>
                                      </p:to>
                                    </p:set>
                                    <p:animEffect transition="in" filter="fade">
                                      <p:cBhvr>
                                        <p:cTn id="30" dur="500"/>
                                        <p:tgtEl>
                                          <p:spTgt spid="286"/>
                                        </p:tgtEl>
                                      </p:cBhvr>
                                    </p:animEffect>
                                  </p:childTnLst>
                                </p:cTn>
                              </p:par>
                              <p:par>
                                <p:cTn id="31" presetID="10" presetClass="entr" presetSubtype="0" fill="hold" nodeType="withEffect">
                                  <p:stCondLst>
                                    <p:cond delay="0"/>
                                  </p:stCondLst>
                                  <p:childTnLst>
                                    <p:set>
                                      <p:cBhvr>
                                        <p:cTn id="32" dur="1" fill="hold">
                                          <p:stCondLst>
                                            <p:cond delay="0"/>
                                          </p:stCondLst>
                                        </p:cTn>
                                        <p:tgtEl>
                                          <p:spTgt spid="287"/>
                                        </p:tgtEl>
                                        <p:attrNameLst>
                                          <p:attrName>style.visibility</p:attrName>
                                        </p:attrNameLst>
                                      </p:cBhvr>
                                      <p:to>
                                        <p:strVal val="visible"/>
                                      </p:to>
                                    </p:set>
                                    <p:animEffect transition="in" filter="fade">
                                      <p:cBhvr>
                                        <p:cTn id="33"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168"/>
        </a:solidFill>
      </p:bgPr>
    </p:bg>
    <p:spTree>
      <p:nvGrpSpPr>
        <p:cNvPr id="209" name="Shape 209"/>
        <p:cNvGrpSpPr/>
        <p:nvPr/>
      </p:nvGrpSpPr>
      <p:grpSpPr>
        <a:xfrm>
          <a:off x="0" y="0"/>
          <a:ext cx="0" cy="0"/>
          <a:chOff x="0" y="0"/>
          <a:chExt cx="0" cy="0"/>
        </a:xfrm>
      </p:grpSpPr>
      <p:sp>
        <p:nvSpPr>
          <p:cNvPr id="210" name="Google Shape;210;p39"/>
          <p:cNvSpPr/>
          <p:nvPr/>
        </p:nvSpPr>
        <p:spPr>
          <a:xfrm>
            <a:off x="7704129" y="4183226"/>
            <a:ext cx="916591" cy="471589"/>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211" name="Google Shape;211;p39"/>
          <p:cNvGrpSpPr/>
          <p:nvPr/>
        </p:nvGrpSpPr>
        <p:grpSpPr>
          <a:xfrm>
            <a:off x="8179092" y="4224808"/>
            <a:ext cx="387900" cy="387900"/>
            <a:chOff x="0" y="0"/>
            <a:chExt cx="1034400" cy="1034400"/>
          </a:xfrm>
        </p:grpSpPr>
        <p:pic>
          <p:nvPicPr>
            <p:cNvPr id="212" name="Google Shape;212;p39"/>
            <p:cNvPicPr preferRelativeResize="0"/>
            <p:nvPr/>
          </p:nvPicPr>
          <p:blipFill rotWithShape="1">
            <a:blip r:embed="rId3">
              <a:alphaModFix/>
            </a:blip>
            <a:srcRect b="0" l="0" r="0" t="0"/>
            <a:stretch/>
          </p:blipFill>
          <p:spPr>
            <a:xfrm>
              <a:off x="0" y="0"/>
              <a:ext cx="1034400" cy="1034400"/>
            </a:xfrm>
            <a:prstGeom prst="rect">
              <a:avLst/>
            </a:prstGeom>
            <a:noFill/>
            <a:ln>
              <a:noFill/>
            </a:ln>
          </p:spPr>
        </p:pic>
        <p:pic>
          <p:nvPicPr>
            <p:cNvPr id="213" name="Google Shape;213;p39"/>
            <p:cNvPicPr preferRelativeResize="0"/>
            <p:nvPr/>
          </p:nvPicPr>
          <p:blipFill rotWithShape="1">
            <a:blip r:embed="rId4">
              <a:alphaModFix/>
            </a:blip>
            <a:srcRect b="0" l="0" r="0" t="0"/>
            <a:stretch/>
          </p:blipFill>
          <p:spPr>
            <a:xfrm>
              <a:off x="153923" y="153923"/>
              <a:ext cx="726554" cy="726554"/>
            </a:xfrm>
            <a:prstGeom prst="rect">
              <a:avLst/>
            </a:prstGeom>
            <a:noFill/>
            <a:ln>
              <a:noFill/>
            </a:ln>
          </p:spPr>
        </p:pic>
      </p:grpSp>
      <p:pic>
        <p:nvPicPr>
          <p:cNvPr id="214" name="Google Shape;214;p39"/>
          <p:cNvPicPr preferRelativeResize="0"/>
          <p:nvPr/>
        </p:nvPicPr>
        <p:blipFill rotWithShape="1">
          <a:blip r:embed="rId5">
            <a:alphaModFix/>
          </a:blip>
          <a:srcRect b="0" l="0" r="0" t="0"/>
          <a:stretch/>
        </p:blipFill>
        <p:spPr>
          <a:xfrm flipH="1" rot="10800000">
            <a:off x="8414388" y="0"/>
            <a:ext cx="729613" cy="729613"/>
          </a:xfrm>
          <a:prstGeom prst="rect">
            <a:avLst/>
          </a:prstGeom>
          <a:noFill/>
          <a:ln>
            <a:noFill/>
          </a:ln>
        </p:spPr>
      </p:pic>
      <p:pic>
        <p:nvPicPr>
          <p:cNvPr id="215" name="Google Shape;215;p39"/>
          <p:cNvPicPr preferRelativeResize="0"/>
          <p:nvPr/>
        </p:nvPicPr>
        <p:blipFill rotWithShape="1">
          <a:blip r:embed="rId6">
            <a:alphaModFix/>
          </a:blip>
          <a:srcRect b="0" l="0" r="0" t="0"/>
          <a:stretch/>
        </p:blipFill>
        <p:spPr>
          <a:xfrm rot="5400000">
            <a:off x="0" y="3713199"/>
            <a:ext cx="1430301" cy="1430301"/>
          </a:xfrm>
          <a:prstGeom prst="rect">
            <a:avLst/>
          </a:prstGeom>
          <a:noFill/>
          <a:ln>
            <a:noFill/>
          </a:ln>
        </p:spPr>
      </p:pic>
      <p:sp>
        <p:nvSpPr>
          <p:cNvPr id="219" name="Google Shape;219;p39"/>
          <p:cNvSpPr/>
          <p:nvPr/>
        </p:nvSpPr>
        <p:spPr>
          <a:xfrm>
            <a:off x="526885" y="514350"/>
            <a:ext cx="4467261" cy="4113477"/>
          </a:xfrm>
          <a:custGeom>
            <a:rect b="b" l="l" r="r" t="t"/>
            <a:pathLst>
              <a:path extrusionOk="0" h="2527482" w="2744861">
                <a:moveTo>
                  <a:pt x="2620401" y="2527481"/>
                </a:moveTo>
                <a:lnTo>
                  <a:pt x="124460" y="2527481"/>
                </a:lnTo>
                <a:cubicBezTo>
                  <a:pt x="55880" y="2527481"/>
                  <a:pt x="0" y="2471601"/>
                  <a:pt x="0" y="2403021"/>
                </a:cubicBezTo>
                <a:lnTo>
                  <a:pt x="0" y="124460"/>
                </a:lnTo>
                <a:cubicBezTo>
                  <a:pt x="0" y="55880"/>
                  <a:pt x="55880" y="0"/>
                  <a:pt x="124460" y="0"/>
                </a:cubicBezTo>
                <a:lnTo>
                  <a:pt x="2620401" y="0"/>
                </a:lnTo>
                <a:cubicBezTo>
                  <a:pt x="2688981" y="0"/>
                  <a:pt x="2744861" y="55880"/>
                  <a:pt x="2744861" y="124460"/>
                </a:cubicBezTo>
                <a:lnTo>
                  <a:pt x="2744861" y="2403022"/>
                </a:lnTo>
                <a:cubicBezTo>
                  <a:pt x="2744861" y="2471601"/>
                  <a:pt x="2688981" y="2527482"/>
                  <a:pt x="2620401" y="2527482"/>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27" name="Google Shape;227;p39"/>
          <p:cNvPicPr preferRelativeResize="0"/>
          <p:nvPr/>
        </p:nvPicPr>
        <p:blipFill rotWithShape="1">
          <a:blip r:embed="rId7">
            <a:alphaModFix/>
          </a:blip>
          <a:srcRect b="0" l="0" r="0" t="0"/>
          <a:stretch/>
        </p:blipFill>
        <p:spPr>
          <a:xfrm>
            <a:off x="90293" y="4357521"/>
            <a:ext cx="1078263" cy="653248"/>
          </a:xfrm>
          <a:prstGeom prst="rect">
            <a:avLst/>
          </a:prstGeom>
          <a:noFill/>
          <a:ln>
            <a:noFill/>
          </a:ln>
        </p:spPr>
      </p:pic>
      <p:sp>
        <p:nvSpPr>
          <p:cNvPr id="228" name="TextBox 227"/>
          <p:cNvSpPr txBox="1"/>
          <p:nvPr/>
        </p:nvSpPr>
        <p:spPr>
          <a:xfrm>
            <a:off x="1005840" y="960120"/>
            <a:ext cx="3566160" cy="3291840"/>
          </a:xfrm>
          <a:prstGeom prst="rect">
            <a:avLst/>
          </a:prstGeom>
          <a:noFill/>
        </p:spPr>
        <p:txBody>
          <a:bodyPr wrap="square" anchor="t" lIns="0" rIns="0" tIns="0" bIns="0">
            <a:spAutoFit/>
          </a:bodyPr>
          <a:lstStyle/>
          <a:p>
            <a:pPr algn="l">
              <a:spcAft>
                <a:spcPts val="100"/>
              </a:spcAft>
            </a:pPr>
            <a:r>
              <a:rPr sz="1600" b="1" i="0">
                <a:solidFill>
                  <a:srgbClr val="1B3168"/>
                </a:solidFill>
                <a:latin typeface="League Spartan"/>
              </a:rPr>
              <a:t>1. Teacher</a:t>
            </a:r>
          </a:p>
          <a:p>
            <a:pPr algn="l">
              <a:spcAft>
                <a:spcPts val="900"/>
              </a:spcAft>
            </a:pPr>
            <a:r>
              <a:rPr sz="1200" b="0" i="0">
                <a:solidFill>
                  <a:srgbClr val="131313"/>
                </a:solidFill>
                <a:latin typeface="Roboto"/>
              </a:rPr>
              <a:t>Embed it from the library and set the passage</a:t>
            </a:r>
          </a:p>
          <a:p>
            <a:pPr algn="l">
              <a:spcAft>
                <a:spcPts val="100"/>
              </a:spcAft>
            </a:pPr>
            <a:r>
              <a:rPr sz="1600" b="1" i="0">
                <a:solidFill>
                  <a:srgbClr val="1B3168"/>
                </a:solidFill>
                <a:latin typeface="League Spartan"/>
              </a:rPr>
              <a:t>2. Student</a:t>
            </a:r>
          </a:p>
          <a:p>
            <a:pPr algn="l">
              <a:spcAft>
                <a:spcPts val="900"/>
              </a:spcAft>
            </a:pPr>
            <a:r>
              <a:rPr sz="1200" b="0" i="0">
                <a:solidFill>
                  <a:srgbClr val="131313"/>
                </a:solidFill>
                <a:latin typeface="Roboto"/>
              </a:rPr>
              <a:t>Types and submits. The grade shows up in the gradebook.</a:t>
            </a:r>
          </a:p>
          <a:p>
            <a:pPr algn="l">
              <a:spcAft>
                <a:spcPts val="100"/>
              </a:spcAft>
            </a:pPr>
            <a:r>
              <a:rPr sz="1600" b="1" i="0">
                <a:solidFill>
                  <a:srgbClr val="1B3168"/>
                </a:solidFill>
                <a:latin typeface="League Spartan"/>
              </a:rPr>
              <a:t>3. Teacher</a:t>
            </a:r>
          </a:p>
          <a:p>
            <a:pPr algn="l">
              <a:spcAft>
                <a:spcPts val="900"/>
              </a:spcAft>
            </a:pPr>
            <a:r>
              <a:rPr sz="1200" b="0" i="0">
                <a:solidFill>
                  <a:srgbClr val="131313"/>
                </a:solidFill>
                <a:latin typeface="Roboto"/>
              </a:rPr>
              <a:t>Opens SpeedGrader and sees the keyboarding review, not a file</a:t>
            </a:r>
          </a:p>
          <a:p>
            <a:pPr algn="l">
              <a:spcAft>
                <a:spcPts val="100"/>
              </a:spcAft>
            </a:pPr>
            <a:r>
              <a:rPr sz="1600" b="1" i="0">
                <a:solidFill>
                  <a:srgbClr val="1B3168"/>
                </a:solidFill>
                <a:latin typeface="League Spartan"/>
              </a:rPr>
              <a:t>4. Student, another device</a:t>
            </a:r>
          </a:p>
          <a:p>
            <a:pPr algn="l">
              <a:spcAft>
                <a:spcPts val="0"/>
              </a:spcAft>
            </a:pPr>
            <a:r>
              <a:rPr sz="1200" b="0" i="0">
                <a:solidFill>
                  <a:srgbClr val="131313"/>
                </a:solidFill>
                <a:latin typeface="Roboto"/>
              </a:rPr>
              <a:t>The work is still there</a:t>
            </a:r>
          </a:p>
        </p:txBody>
      </p:sp>
      <p:sp>
        <p:nvSpPr>
          <p:cNvPr id="229" name="TextBox 228"/>
          <p:cNvSpPr txBox="1"/>
          <p:nvPr/>
        </p:nvSpPr>
        <p:spPr>
          <a:xfrm>
            <a:off x="5486400" y="731520"/>
            <a:ext cx="3108960" cy="1097280"/>
          </a:xfrm>
          <a:prstGeom prst="rect">
            <a:avLst/>
          </a:prstGeom>
          <a:noFill/>
        </p:spPr>
        <p:txBody>
          <a:bodyPr wrap="square" anchor="t" lIns="0" rIns="0" tIns="0" bIns="0">
            <a:spAutoFit/>
          </a:bodyPr>
          <a:lstStyle/>
          <a:p>
            <a:pPr algn="l">
              <a:spcAft>
                <a:spcPts val="0"/>
              </a:spcAft>
            </a:pPr>
            <a:r>
              <a:rPr sz="3000" b="1" i="0">
                <a:solidFill>
                  <a:srgbClr val="FFFFFF"/>
                </a:solidFill>
                <a:latin typeface="League Spartan"/>
              </a:rPr>
              <a:t>Keyboarding Practice</a:t>
            </a:r>
          </a:p>
        </p:txBody>
      </p:sp>
      <p:sp>
        <p:nvSpPr>
          <p:cNvPr id="230" name="TextBox 229"/>
          <p:cNvSpPr txBox="1"/>
          <p:nvPr/>
        </p:nvSpPr>
        <p:spPr>
          <a:xfrm>
            <a:off x="5486400" y="1920240"/>
            <a:ext cx="3017520" cy="731520"/>
          </a:xfrm>
          <a:prstGeom prst="rect">
            <a:avLst/>
          </a:prstGeom>
          <a:noFill/>
        </p:spPr>
        <p:txBody>
          <a:bodyPr wrap="square" anchor="t" lIns="0" rIns="0" tIns="0" bIns="0">
            <a:spAutoFit/>
          </a:bodyPr>
          <a:lstStyle/>
          <a:p>
            <a:pPr algn="l">
              <a:spcAft>
                <a:spcPts val="600"/>
              </a:spcAft>
            </a:pPr>
            <a:r>
              <a:rPr sz="1600" b="1" i="0">
                <a:solidFill>
                  <a:srgbClr val="25AEFA"/>
                </a:solidFill>
                <a:latin typeface="Roboto"/>
              </a:rPr>
              <a:t>Live demo</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8" name="Shape 558"/>
        <p:cNvGrpSpPr/>
        <p:nvPr/>
      </p:nvGrpSpPr>
      <p:grpSpPr>
        <a:xfrm>
          <a:off x="0" y="0"/>
          <a:ext cx="0" cy="0"/>
          <a:chOff x="0" y="0"/>
          <a:chExt cx="0" cy="0"/>
        </a:xfrm>
      </p:grpSpPr>
      <p:sp>
        <p:nvSpPr>
          <p:cNvPr id="559" name="Google Shape;559;p53"/>
          <p:cNvSpPr/>
          <p:nvPr/>
        </p:nvSpPr>
        <p:spPr>
          <a:xfrm>
            <a:off x="5188625" y="4418750"/>
            <a:ext cx="1374000" cy="1344900"/>
          </a:xfrm>
          <a:prstGeom prst="donut">
            <a:avLst>
              <a:gd fmla="val 13443" name="adj"/>
            </a:avLst>
          </a:prstGeom>
          <a:solidFill>
            <a:srgbClr val="C0C0C0"/>
          </a:solidFill>
          <a:ln cap="flat" cmpd="sng" w="9525">
            <a:solidFill>
              <a:srgbClr val="C0C0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0" name="Google Shape;560;p53"/>
          <p:cNvPicPr preferRelativeResize="0"/>
          <p:nvPr/>
        </p:nvPicPr>
        <p:blipFill rotWithShape="1">
          <a:blip r:embed="rId3">
            <a:alphaModFix/>
          </a:blip>
          <a:srcRect b="0" l="0" r="0" t="0"/>
          <a:stretch/>
        </p:blipFill>
        <p:spPr>
          <a:xfrm flipH="1" rot="5400000">
            <a:off x="0" y="0"/>
            <a:ext cx="2571750" cy="2571750"/>
          </a:xfrm>
          <a:prstGeom prst="rect">
            <a:avLst/>
          </a:prstGeom>
          <a:noFill/>
          <a:ln>
            <a:noFill/>
          </a:ln>
        </p:spPr>
      </p:pic>
      <p:pic>
        <p:nvPicPr>
          <p:cNvPr id="561" name="Google Shape;561;p53"/>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pic>
        <p:nvPicPr>
          <p:cNvPr id="568" name="Google Shape;568;p53"/>
          <p:cNvPicPr preferRelativeResize="0"/>
          <p:nvPr/>
        </p:nvPicPr>
        <p:blipFill rotWithShape="1">
          <a:blip r:embed="rId5">
            <a:alphaModFix/>
          </a:blip>
          <a:srcRect b="0" l="0" r="0" t="0"/>
          <a:stretch/>
        </p:blipFill>
        <p:spPr>
          <a:xfrm>
            <a:off x="79132" y="4418758"/>
            <a:ext cx="1078263" cy="653248"/>
          </a:xfrm>
          <a:prstGeom prst="rect">
            <a:avLst/>
          </a:prstGeom>
          <a:noFill/>
          <a:ln>
            <a:noFill/>
          </a:ln>
        </p:spPr>
      </p:pic>
      <p:sp>
        <p:nvSpPr>
          <p:cNvPr id="569" name="TextBox 568"/>
          <p:cNvSpPr txBox="1"/>
          <p:nvPr/>
        </p:nvSpPr>
        <p:spPr>
          <a:xfrm>
            <a:off x="512064" y="274320"/>
            <a:ext cx="8046720" cy="548640"/>
          </a:xfrm>
          <a:prstGeom prst="rect">
            <a:avLst/>
          </a:prstGeom>
          <a:noFill/>
        </p:spPr>
        <p:txBody>
          <a:bodyPr wrap="square" anchor="t" lIns="0" rIns="0" tIns="0" bIns="0">
            <a:spAutoFit/>
          </a:bodyPr>
          <a:lstStyle/>
          <a:p>
            <a:pPr algn="l">
              <a:spcAft>
                <a:spcPts val="0"/>
              </a:spcAft>
            </a:pPr>
            <a:r>
              <a:rPr sz="3000" b="1" i="0">
                <a:solidFill>
                  <a:srgbClr val="FFFFFF"/>
                </a:solidFill>
                <a:latin typeface="League Spartan"/>
              </a:rPr>
              <a:t>A Custom View in SpeedGrader</a:t>
            </a:r>
          </a:p>
        </p:txBody>
      </p:sp>
      <p:sp>
        <p:nvSpPr>
          <p:cNvPr id="570" name="TextBox 569"/>
          <p:cNvSpPr txBox="1"/>
          <p:nvPr/>
        </p:nvSpPr>
        <p:spPr>
          <a:xfrm>
            <a:off x="512064" y="841248"/>
            <a:ext cx="7863840" cy="548640"/>
          </a:xfrm>
          <a:prstGeom prst="rect">
            <a:avLst/>
          </a:prstGeom>
          <a:noFill/>
        </p:spPr>
        <p:txBody>
          <a:bodyPr wrap="square" anchor="t" lIns="0" rIns="0" tIns="0" bIns="0">
            <a:spAutoFit/>
          </a:bodyPr>
          <a:lstStyle/>
          <a:p>
            <a:pPr algn="l">
              <a:spcAft>
                <a:spcPts val="600"/>
              </a:spcAft>
            </a:pPr>
            <a:r>
              <a:rPr sz="1300" b="0" i="0">
                <a:solidFill>
                  <a:srgbClr val="FFFFFF"/>
                </a:solidFill>
                <a:latin typeface="Roboto"/>
              </a:rPr>
              <a:t>Each zest brings its own page for the teacher. SpeedGrader shows the actual work, not a file or a link.</a:t>
            </a:r>
          </a:p>
        </p:txBody>
      </p:sp>
      <p:pic>
        <p:nvPicPr>
          <p:cNvPr id="571" name="Picture 570" descr="launch-lab-review.png"/>
          <p:cNvPicPr>
            <a:picLocks noChangeAspect="1"/>
          </p:cNvPicPr>
          <p:nvPr/>
        </p:nvPicPr>
        <p:blipFill>
          <a:blip r:embed="rId2"/>
          <a:stretch>
            <a:fillRect/>
          </a:stretch>
        </p:blipFill>
        <p:spPr>
          <a:xfrm>
            <a:off x="822960" y="1691640"/>
            <a:ext cx="3931920" cy="2611041"/>
          </a:xfrm>
          <a:prstGeom prst="rect">
            <a:avLst/>
          </a:prstGeom>
          <a:ln w="12700">
            <a:solidFill>
              <a:srgbClr val="25AEFA"/>
            </a:solidFill>
          </a:ln>
        </p:spPr>
      </p:pic>
      <p:sp>
        <p:nvSpPr>
          <p:cNvPr id="572" name="Rounded Rectangle 571"/>
          <p:cNvSpPr/>
          <p:nvPr/>
        </p:nvSpPr>
        <p:spPr>
          <a:xfrm>
            <a:off x="822960" y="1417320"/>
            <a:ext cx="329184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Roboto"/>
              </a:rPr>
              <a:t>Launch Lab: every shot, on one field</a:t>
            </a:r>
          </a:p>
        </p:txBody>
      </p:sp>
      <p:pic>
        <p:nvPicPr>
          <p:cNvPr id="573" name="Picture 572" descr="graph-match-review.png"/>
          <p:cNvPicPr>
            <a:picLocks noChangeAspect="1"/>
          </p:cNvPicPr>
          <p:nvPr/>
        </p:nvPicPr>
        <p:blipFill>
          <a:blip r:embed="rId6"/>
          <a:stretch>
            <a:fillRect/>
          </a:stretch>
        </p:blipFill>
        <p:spPr>
          <a:xfrm>
            <a:off x="2011680" y="1947672"/>
            <a:ext cx="3931920" cy="2611041"/>
          </a:xfrm>
          <a:prstGeom prst="rect">
            <a:avLst/>
          </a:prstGeom>
          <a:ln w="12700">
            <a:solidFill>
              <a:srgbClr val="25AEFA"/>
            </a:solidFill>
          </a:ln>
        </p:spPr>
      </p:pic>
      <p:sp>
        <p:nvSpPr>
          <p:cNvPr id="574" name="Rounded Rectangle 573"/>
          <p:cNvSpPr/>
          <p:nvPr/>
        </p:nvSpPr>
        <p:spPr>
          <a:xfrm>
            <a:off x="2011680" y="1673351"/>
            <a:ext cx="329184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Roboto"/>
              </a:rPr>
              <a:t>Graph Match: their curve over the target</a:t>
            </a:r>
          </a:p>
        </p:txBody>
      </p:sp>
      <p:pic>
        <p:nvPicPr>
          <p:cNvPr id="575" name="Picture 574" descr="sketch-label-review.png"/>
          <p:cNvPicPr>
            <a:picLocks noChangeAspect="1"/>
          </p:cNvPicPr>
          <p:nvPr/>
        </p:nvPicPr>
        <p:blipFill>
          <a:blip r:embed="rId7"/>
          <a:stretch>
            <a:fillRect/>
          </a:stretch>
        </p:blipFill>
        <p:spPr>
          <a:xfrm>
            <a:off x="3200400" y="2203704"/>
            <a:ext cx="3931920" cy="2611041"/>
          </a:xfrm>
          <a:prstGeom prst="rect">
            <a:avLst/>
          </a:prstGeom>
          <a:ln w="12700">
            <a:solidFill>
              <a:srgbClr val="25AEFA"/>
            </a:solidFill>
          </a:ln>
        </p:spPr>
      </p:pic>
      <p:sp>
        <p:nvSpPr>
          <p:cNvPr id="576" name="Rounded Rectangle 575"/>
          <p:cNvSpPr/>
          <p:nvPr/>
        </p:nvSpPr>
        <p:spPr>
          <a:xfrm>
            <a:off x="3200400" y="1929384"/>
            <a:ext cx="329184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Roboto"/>
              </a:rPr>
              <a:t>Sketch &amp; Label: replay of the drawing</a:t>
            </a:r>
          </a:p>
        </p:txBody>
      </p:sp>
      <p:pic>
        <p:nvPicPr>
          <p:cNvPr id="577" name="Picture 576" descr="escape-the-archive-review.png"/>
          <p:cNvPicPr>
            <a:picLocks noChangeAspect="1"/>
          </p:cNvPicPr>
          <p:nvPr/>
        </p:nvPicPr>
        <p:blipFill>
          <a:blip r:embed="rId8"/>
          <a:stretch>
            <a:fillRect/>
          </a:stretch>
        </p:blipFill>
        <p:spPr>
          <a:xfrm>
            <a:off x="4389120" y="2459736"/>
            <a:ext cx="3931920" cy="2611041"/>
          </a:xfrm>
          <a:prstGeom prst="rect">
            <a:avLst/>
          </a:prstGeom>
          <a:ln w="12700">
            <a:solidFill>
              <a:srgbClr val="25AEFA"/>
            </a:solidFill>
          </a:ln>
        </p:spPr>
      </p:pic>
      <p:sp>
        <p:nvSpPr>
          <p:cNvPr id="578" name="Rounded Rectangle 577"/>
          <p:cNvSpPr/>
          <p:nvPr/>
        </p:nvSpPr>
        <p:spPr>
          <a:xfrm>
            <a:off x="4389120" y="2185416"/>
            <a:ext cx="329184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Roboto"/>
              </a:rPr>
              <a:t>Escape the Archive: every wrong try and hint</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71"/>
                                        </p:tgtEl>
                                        <p:attrNameLst>
                                          <p:attrName>style.visibility</p:attrName>
                                        </p:attrNameLst>
                                      </p:cBhvr>
                                      <p:to>
                                        <p:strVal val="visible"/>
                                      </p:to>
                                    </p:set>
                                    <p:animEffect transition="in" filter="fade">
                                      <p:cBhvr>
                                        <p:cTn id="5" dur="500"/>
                                        <p:tgtEl>
                                          <p:spTgt spid="571"/>
                                        </p:tgtEl>
                                      </p:cBhvr>
                                    </p:animEffect>
                                  </p:childTnLst>
                                </p:cTn>
                              </p:par>
                              <p:par>
                                <p:cTn id="6" presetID="10" presetClass="entr" presetSubtype="0" fill="hold" nodeType="withEffect">
                                  <p:stCondLst>
                                    <p:cond delay="0"/>
                                  </p:stCondLst>
                                  <p:childTnLst>
                                    <p:set>
                                      <p:cBhvr>
                                        <p:cTn id="7" dur="1" fill="hold">
                                          <p:stCondLst>
                                            <p:cond delay="0"/>
                                          </p:stCondLst>
                                        </p:cTn>
                                        <p:tgtEl>
                                          <p:spTgt spid="572"/>
                                        </p:tgtEl>
                                        <p:attrNameLst>
                                          <p:attrName>style.visibility</p:attrName>
                                        </p:attrNameLst>
                                      </p:cBhvr>
                                      <p:to>
                                        <p:strVal val="visible"/>
                                      </p:to>
                                    </p:set>
                                    <p:animEffect transition="in" filter="fade">
                                      <p:cBhvr>
                                        <p:cTn id="8" dur="500"/>
                                        <p:tgtEl>
                                          <p:spTgt spid="572"/>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73"/>
                                        </p:tgtEl>
                                        <p:attrNameLst>
                                          <p:attrName>style.visibility</p:attrName>
                                        </p:attrNameLst>
                                      </p:cBhvr>
                                      <p:to>
                                        <p:strVal val="visible"/>
                                      </p:to>
                                    </p:set>
                                    <p:animEffect transition="in" filter="fade">
                                      <p:cBhvr>
                                        <p:cTn id="13" dur="500"/>
                                        <p:tgtEl>
                                          <p:spTgt spid="573"/>
                                        </p:tgtEl>
                                      </p:cBhvr>
                                    </p:animEffect>
                                  </p:childTnLst>
                                </p:cTn>
                              </p:par>
                              <p:par>
                                <p:cTn id="14" presetID="10" presetClass="entr" presetSubtype="0" fill="hold" nodeType="withEffect">
                                  <p:stCondLst>
                                    <p:cond delay="0"/>
                                  </p:stCondLst>
                                  <p:childTnLst>
                                    <p:set>
                                      <p:cBhvr>
                                        <p:cTn id="15" dur="1" fill="hold">
                                          <p:stCondLst>
                                            <p:cond delay="0"/>
                                          </p:stCondLst>
                                        </p:cTn>
                                        <p:tgtEl>
                                          <p:spTgt spid="574"/>
                                        </p:tgtEl>
                                        <p:attrNameLst>
                                          <p:attrName>style.visibility</p:attrName>
                                        </p:attrNameLst>
                                      </p:cBhvr>
                                      <p:to>
                                        <p:strVal val="visible"/>
                                      </p:to>
                                    </p:set>
                                    <p:animEffect transition="in" filter="fade">
                                      <p:cBhvr>
                                        <p:cTn id="16" dur="500"/>
                                        <p:tgtEl>
                                          <p:spTgt spid="574"/>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75"/>
                                        </p:tgtEl>
                                        <p:attrNameLst>
                                          <p:attrName>style.visibility</p:attrName>
                                        </p:attrNameLst>
                                      </p:cBhvr>
                                      <p:to>
                                        <p:strVal val="visible"/>
                                      </p:to>
                                    </p:set>
                                    <p:animEffect transition="in" filter="fade">
                                      <p:cBhvr>
                                        <p:cTn id="21" dur="500"/>
                                        <p:tgtEl>
                                          <p:spTgt spid="575"/>
                                        </p:tgtEl>
                                      </p:cBhvr>
                                    </p:animEffect>
                                  </p:childTnLst>
                                </p:cTn>
                              </p:par>
                              <p:par>
                                <p:cTn id="22" presetID="10" presetClass="entr" presetSubtype="0" fill="hold" nodeType="withEffect">
                                  <p:stCondLst>
                                    <p:cond delay="0"/>
                                  </p:stCondLst>
                                  <p:childTnLst>
                                    <p:set>
                                      <p:cBhvr>
                                        <p:cTn id="23" dur="1" fill="hold">
                                          <p:stCondLst>
                                            <p:cond delay="0"/>
                                          </p:stCondLst>
                                        </p:cTn>
                                        <p:tgtEl>
                                          <p:spTgt spid="576"/>
                                        </p:tgtEl>
                                        <p:attrNameLst>
                                          <p:attrName>style.visibility</p:attrName>
                                        </p:attrNameLst>
                                      </p:cBhvr>
                                      <p:to>
                                        <p:strVal val="visible"/>
                                      </p:to>
                                    </p:set>
                                    <p:animEffect transition="in" filter="fade">
                                      <p:cBhvr>
                                        <p:cTn id="24" dur="500"/>
                                        <p:tgtEl>
                                          <p:spTgt spid="576"/>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77"/>
                                        </p:tgtEl>
                                        <p:attrNameLst>
                                          <p:attrName>style.visibility</p:attrName>
                                        </p:attrNameLst>
                                      </p:cBhvr>
                                      <p:to>
                                        <p:strVal val="visible"/>
                                      </p:to>
                                    </p:set>
                                    <p:animEffect transition="in" filter="fade">
                                      <p:cBhvr>
                                        <p:cTn id="29" dur="500"/>
                                        <p:tgtEl>
                                          <p:spTgt spid="577"/>
                                        </p:tgtEl>
                                      </p:cBhvr>
                                    </p:animEffect>
                                  </p:childTnLst>
                                </p:cTn>
                              </p:par>
                              <p:par>
                                <p:cTn id="30" presetID="10" presetClass="entr" presetSubtype="0" fill="hold" nodeType="withEffect">
                                  <p:stCondLst>
                                    <p:cond delay="0"/>
                                  </p:stCondLst>
                                  <p:childTnLst>
                                    <p:set>
                                      <p:cBhvr>
                                        <p:cTn id="31" dur="1" fill="hold">
                                          <p:stCondLst>
                                            <p:cond delay="0"/>
                                          </p:stCondLst>
                                        </p:cTn>
                                        <p:tgtEl>
                                          <p:spTgt spid="578"/>
                                        </p:tgtEl>
                                        <p:attrNameLst>
                                          <p:attrName>style.visibility</p:attrName>
                                        </p:attrNameLst>
                                      </p:cBhvr>
                                      <p:to>
                                        <p:strVal val="visible"/>
                                      </p:to>
                                    </p:set>
                                    <p:animEffect transition="in" filter="fade">
                                      <p:cBhvr>
                                        <p:cTn id="32" dur="500"/>
                                        <p:tgtEl>
                                          <p:spTgt spid="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C0C0"/>
        </a:solidFill>
      </p:bgPr>
    </p:bg>
    <p:spTree>
      <p:nvGrpSpPr>
        <p:cNvPr id="584" name="Shape 584"/>
        <p:cNvGrpSpPr/>
        <p:nvPr/>
      </p:nvGrpSpPr>
      <p:grpSpPr>
        <a:xfrm>
          <a:off x="0" y="0"/>
          <a:ext cx="0" cy="0"/>
          <a:chOff x="0" y="0"/>
          <a:chExt cx="0" cy="0"/>
        </a:xfrm>
      </p:grpSpPr>
      <p:sp>
        <p:nvSpPr>
          <p:cNvPr id="585" name="Google Shape;585;p55"/>
          <p:cNvSpPr/>
          <p:nvPr/>
        </p:nvSpPr>
        <p:spPr>
          <a:xfrm>
            <a:off x="0" y="0"/>
            <a:ext cx="3529800" cy="5143500"/>
          </a:xfrm>
          <a:prstGeom prst="rect">
            <a:avLst/>
          </a:prstGeom>
          <a:solidFill>
            <a:srgbClr val="960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587" name="Google Shape;587;p55"/>
          <p:cNvPicPr preferRelativeResize="0"/>
          <p:nvPr/>
        </p:nvPicPr>
        <p:blipFill rotWithShape="1">
          <a:blip r:embed="rId3">
            <a:alphaModFix/>
          </a:blip>
          <a:srcRect b="0" l="0" r="0" t="0"/>
          <a:stretch/>
        </p:blipFill>
        <p:spPr>
          <a:xfrm rot="10800000">
            <a:off x="1" y="1"/>
            <a:ext cx="1050706" cy="1050706"/>
          </a:xfrm>
          <a:prstGeom prst="rect">
            <a:avLst/>
          </a:prstGeom>
          <a:noFill/>
          <a:ln>
            <a:noFill/>
          </a:ln>
        </p:spPr>
      </p:pic>
      <p:pic>
        <p:nvPicPr>
          <p:cNvPr id="588" name="Google Shape;588;p55"/>
          <p:cNvPicPr preferRelativeResize="0"/>
          <p:nvPr/>
        </p:nvPicPr>
        <p:blipFill rotWithShape="1">
          <a:blip r:embed="rId4">
            <a:alphaModFix/>
          </a:blip>
          <a:srcRect b="0" l="0" r="0" t="0"/>
          <a:stretch/>
        </p:blipFill>
        <p:spPr>
          <a:xfrm>
            <a:off x="1764832" y="3524634"/>
            <a:ext cx="417859" cy="417859"/>
          </a:xfrm>
          <a:prstGeom prst="rect">
            <a:avLst/>
          </a:prstGeom>
          <a:noFill/>
          <a:ln>
            <a:noFill/>
          </a:ln>
        </p:spPr>
      </p:pic>
      <p:pic>
        <p:nvPicPr>
          <p:cNvPr id="589" name="Google Shape;589;p55"/>
          <p:cNvPicPr preferRelativeResize="0"/>
          <p:nvPr/>
        </p:nvPicPr>
        <p:blipFill rotWithShape="1">
          <a:blip r:embed="rId5">
            <a:alphaModFix/>
          </a:blip>
          <a:srcRect b="0" l="0" r="0" t="0"/>
          <a:stretch/>
        </p:blipFill>
        <p:spPr>
          <a:xfrm flipH="1" rot="5400000">
            <a:off x="3529664" y="0"/>
            <a:ext cx="1511374" cy="1511374"/>
          </a:xfrm>
          <a:prstGeom prst="rect">
            <a:avLst/>
          </a:prstGeom>
          <a:noFill/>
          <a:ln>
            <a:noFill/>
          </a:ln>
        </p:spPr>
      </p:pic>
      <p:pic>
        <p:nvPicPr>
          <p:cNvPr id="590" name="Google Shape;590;p55"/>
          <p:cNvPicPr preferRelativeResize="0"/>
          <p:nvPr/>
        </p:nvPicPr>
        <p:blipFill rotWithShape="1">
          <a:blip r:embed="rId6">
            <a:alphaModFix/>
          </a:blip>
          <a:srcRect b="0" l="0" r="0" t="0"/>
          <a:stretch/>
        </p:blipFill>
        <p:spPr>
          <a:xfrm rot="10800000">
            <a:off x="4940228" y="4726421"/>
            <a:ext cx="834158" cy="417079"/>
          </a:xfrm>
          <a:prstGeom prst="rect">
            <a:avLst/>
          </a:prstGeom>
          <a:noFill/>
          <a:ln>
            <a:noFill/>
          </a:ln>
        </p:spPr>
      </p:pic>
      <p:grpSp>
        <p:nvGrpSpPr>
          <p:cNvPr id="591" name="Google Shape;591;p55"/>
          <p:cNvGrpSpPr/>
          <p:nvPr/>
        </p:nvGrpSpPr>
        <p:grpSpPr>
          <a:xfrm>
            <a:off x="7704129" y="4183226"/>
            <a:ext cx="915496" cy="471026"/>
            <a:chOff x="61924" y="79616"/>
            <a:chExt cx="2441323" cy="1256068"/>
          </a:xfrm>
        </p:grpSpPr>
        <p:sp>
          <p:nvSpPr>
            <p:cNvPr id="592" name="Google Shape;592;p55"/>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593" name="Google Shape;593;p55"/>
            <p:cNvPicPr preferRelativeResize="0"/>
            <p:nvPr/>
          </p:nvPicPr>
          <p:blipFill rotWithShape="1">
            <a:blip r:embed="rId7">
              <a:alphaModFix/>
            </a:blip>
            <a:srcRect b="0" l="0" r="0" t="0"/>
            <a:stretch/>
          </p:blipFill>
          <p:spPr>
            <a:xfrm>
              <a:off x="1328489" y="190500"/>
              <a:ext cx="1034400" cy="1034400"/>
            </a:xfrm>
            <a:prstGeom prst="rect">
              <a:avLst/>
            </a:prstGeom>
            <a:noFill/>
            <a:ln>
              <a:noFill/>
            </a:ln>
          </p:spPr>
        </p:pic>
      </p:grpSp>
      <p:pic>
        <p:nvPicPr>
          <p:cNvPr id="594" name="Google Shape;594;p55"/>
          <p:cNvPicPr preferRelativeResize="0"/>
          <p:nvPr/>
        </p:nvPicPr>
        <p:blipFill rotWithShape="1">
          <a:blip r:embed="rId8">
            <a:alphaModFix/>
          </a:blip>
          <a:srcRect b="0" l="0" r="0" t="0"/>
          <a:stretch/>
        </p:blipFill>
        <p:spPr>
          <a:xfrm>
            <a:off x="8236813" y="4282529"/>
            <a:ext cx="272458" cy="272458"/>
          </a:xfrm>
          <a:prstGeom prst="rect">
            <a:avLst/>
          </a:prstGeom>
          <a:noFill/>
          <a:ln>
            <a:noFill/>
          </a:ln>
        </p:spPr>
      </p:pic>
      <p:pic>
        <p:nvPicPr>
          <p:cNvPr id="595" name="Google Shape;595;p55"/>
          <p:cNvPicPr preferRelativeResize="0"/>
          <p:nvPr/>
        </p:nvPicPr>
        <p:blipFill rotWithShape="1">
          <a:blip r:embed="rId9">
            <a:alphaModFix/>
          </a:blip>
          <a:srcRect b="0" l="0" r="0" t="0"/>
          <a:stretch/>
        </p:blipFill>
        <p:spPr>
          <a:xfrm rot="5400000">
            <a:off x="0" y="3792331"/>
            <a:ext cx="1351170" cy="1351169"/>
          </a:xfrm>
          <a:prstGeom prst="rect">
            <a:avLst/>
          </a:prstGeom>
          <a:noFill/>
          <a:ln>
            <a:noFill/>
          </a:ln>
        </p:spPr>
      </p:pic>
      <p:pic>
        <p:nvPicPr>
          <p:cNvPr id="596" name="Google Shape;596;p55"/>
          <p:cNvPicPr preferRelativeResize="0"/>
          <p:nvPr/>
        </p:nvPicPr>
        <p:blipFill rotWithShape="1">
          <a:blip r:embed="rId10">
            <a:alphaModFix/>
          </a:blip>
          <a:srcRect b="0" l="0" r="0" t="0"/>
          <a:stretch/>
        </p:blipFill>
        <p:spPr>
          <a:xfrm>
            <a:off x="79132" y="4418758"/>
            <a:ext cx="1078263" cy="653248"/>
          </a:xfrm>
          <a:prstGeom prst="rect">
            <a:avLst/>
          </a:prstGeom>
          <a:noFill/>
          <a:ln>
            <a:noFill/>
          </a:ln>
        </p:spPr>
      </p:pic>
      <p:sp>
        <p:nvSpPr>
          <p:cNvPr id="597" name="Google Shape;597;p55"/>
          <p:cNvSpPr/>
          <p:nvPr/>
        </p:nvSpPr>
        <p:spPr>
          <a:xfrm>
            <a:off x="3838082" y="279367"/>
            <a:ext cx="5116664" cy="1314196"/>
          </a:xfrm>
          <a:custGeom>
            <a:rect b="b" l="l" r="r" t="t"/>
            <a:pathLst>
              <a:path extrusionOk="0" h="660400" w="2571188">
                <a:moveTo>
                  <a:pt x="2446728" y="660400"/>
                </a:moveTo>
                <a:lnTo>
                  <a:pt x="124460" y="660400"/>
                </a:lnTo>
                <a:cubicBezTo>
                  <a:pt x="55880" y="660400"/>
                  <a:pt x="0" y="604520"/>
                  <a:pt x="0" y="535940"/>
                </a:cubicBezTo>
                <a:lnTo>
                  <a:pt x="0" y="124460"/>
                </a:lnTo>
                <a:cubicBezTo>
                  <a:pt x="0" y="55880"/>
                  <a:pt x="55880" y="0"/>
                  <a:pt x="124460" y="0"/>
                </a:cubicBezTo>
                <a:lnTo>
                  <a:pt x="2446728" y="0"/>
                </a:lnTo>
                <a:cubicBezTo>
                  <a:pt x="2515308" y="0"/>
                  <a:pt x="2571188" y="55880"/>
                  <a:pt x="2571188" y="124460"/>
                </a:cubicBezTo>
                <a:lnTo>
                  <a:pt x="2571188" y="535940"/>
                </a:lnTo>
                <a:cubicBezTo>
                  <a:pt x="2571188" y="604520"/>
                  <a:pt x="2515308" y="660400"/>
                  <a:pt x="2446728" y="660400"/>
                </a:cubicBezTo>
                <a:close/>
              </a:path>
            </a:pathLst>
          </a:cu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1" name="Google Shape;601;p55"/>
          <p:cNvSpPr/>
          <p:nvPr/>
        </p:nvSpPr>
        <p:spPr>
          <a:xfrm>
            <a:off x="3838082" y="1914463"/>
            <a:ext cx="5116664" cy="1314196"/>
          </a:xfrm>
          <a:custGeom>
            <a:rect b="b" l="l" r="r" t="t"/>
            <a:pathLst>
              <a:path extrusionOk="0" h="660400" w="2571188">
                <a:moveTo>
                  <a:pt x="2446728" y="660400"/>
                </a:moveTo>
                <a:lnTo>
                  <a:pt x="124460" y="660400"/>
                </a:lnTo>
                <a:cubicBezTo>
                  <a:pt x="55880" y="660400"/>
                  <a:pt x="0" y="604520"/>
                  <a:pt x="0" y="535940"/>
                </a:cubicBezTo>
                <a:lnTo>
                  <a:pt x="0" y="124460"/>
                </a:lnTo>
                <a:cubicBezTo>
                  <a:pt x="0" y="55880"/>
                  <a:pt x="55880" y="0"/>
                  <a:pt x="124460" y="0"/>
                </a:cubicBezTo>
                <a:lnTo>
                  <a:pt x="2446728" y="0"/>
                </a:lnTo>
                <a:cubicBezTo>
                  <a:pt x="2515308" y="0"/>
                  <a:pt x="2571188" y="55880"/>
                  <a:pt x="2571188" y="124460"/>
                </a:cubicBezTo>
                <a:lnTo>
                  <a:pt x="2571188" y="535940"/>
                </a:lnTo>
                <a:cubicBezTo>
                  <a:pt x="2571188" y="604520"/>
                  <a:pt x="2515308" y="660400"/>
                  <a:pt x="2446728" y="660400"/>
                </a:cubicBezTo>
                <a:close/>
              </a:path>
            </a:pathLst>
          </a:cu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5" name="Google Shape;605;p55"/>
          <p:cNvSpPr/>
          <p:nvPr/>
        </p:nvSpPr>
        <p:spPr>
          <a:xfrm>
            <a:off x="3838082" y="3548124"/>
            <a:ext cx="5116664" cy="1314196"/>
          </a:xfrm>
          <a:custGeom>
            <a:rect b="b" l="l" r="r" t="t"/>
            <a:pathLst>
              <a:path extrusionOk="0" h="660400" w="2571188">
                <a:moveTo>
                  <a:pt x="2446728" y="660400"/>
                </a:moveTo>
                <a:lnTo>
                  <a:pt x="124460" y="660400"/>
                </a:lnTo>
                <a:cubicBezTo>
                  <a:pt x="55880" y="660400"/>
                  <a:pt x="0" y="604520"/>
                  <a:pt x="0" y="535940"/>
                </a:cubicBezTo>
                <a:lnTo>
                  <a:pt x="0" y="124460"/>
                </a:lnTo>
                <a:cubicBezTo>
                  <a:pt x="0" y="55880"/>
                  <a:pt x="55880" y="0"/>
                  <a:pt x="124460" y="0"/>
                </a:cubicBezTo>
                <a:lnTo>
                  <a:pt x="2446728" y="0"/>
                </a:lnTo>
                <a:cubicBezTo>
                  <a:pt x="2515308" y="0"/>
                  <a:pt x="2571188" y="55880"/>
                  <a:pt x="2571188" y="124460"/>
                </a:cubicBezTo>
                <a:lnTo>
                  <a:pt x="2571188" y="535940"/>
                </a:lnTo>
                <a:cubicBezTo>
                  <a:pt x="2571188" y="604520"/>
                  <a:pt x="2515308" y="660400"/>
                  <a:pt x="2446728" y="660400"/>
                </a:cubicBezTo>
                <a:close/>
              </a:path>
            </a:pathLst>
          </a:cu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06" name="TextBox 605"/>
          <p:cNvSpPr txBox="1"/>
          <p:nvPr/>
        </p:nvSpPr>
        <p:spPr>
          <a:xfrm>
            <a:off x="512064" y="1645920"/>
            <a:ext cx="2651760" cy="1828800"/>
          </a:xfrm>
          <a:prstGeom prst="rect">
            <a:avLst/>
          </a:prstGeom>
          <a:noFill/>
        </p:spPr>
        <p:txBody>
          <a:bodyPr wrap="square" anchor="t" lIns="0" rIns="0" tIns="0" bIns="0">
            <a:spAutoFit/>
          </a:bodyPr>
          <a:lstStyle/>
          <a:p>
            <a:pPr algn="l">
              <a:spcAft>
                <a:spcPts val="0"/>
              </a:spcAft>
            </a:pPr>
            <a:r>
              <a:rPr sz="2800" b="1" i="0">
                <a:solidFill>
                  <a:srgbClr val="FFFFFF"/>
                </a:solidFill>
                <a:latin typeface="League Spartan"/>
              </a:rPr>
              <a:t>One Package, Lots of Courses</a:t>
            </a:r>
          </a:p>
        </p:txBody>
      </p:sp>
      <p:sp>
        <p:nvSpPr>
          <p:cNvPr id="607" name="TextBox 606"/>
          <p:cNvSpPr txBox="1"/>
          <p:nvPr/>
        </p:nvSpPr>
        <p:spPr>
          <a:xfrm>
            <a:off x="4160520" y="557784"/>
            <a:ext cx="4572000" cy="868680"/>
          </a:xfrm>
          <a:prstGeom prst="rect">
            <a:avLst/>
          </a:prstGeom>
          <a:noFill/>
        </p:spPr>
        <p:txBody>
          <a:bodyPr wrap="square" anchor="t" lIns="0" rIns="0" tIns="0" bIns="0">
            <a:spAutoFit/>
          </a:bodyPr>
          <a:lstStyle/>
          <a:p>
            <a:pPr algn="l">
              <a:spcAft>
                <a:spcPts val="300"/>
              </a:spcAft>
            </a:pPr>
            <a:r>
              <a:rPr sz="1700" b="1" i="0">
                <a:solidFill>
                  <a:srgbClr val="FFFFFF"/>
                </a:solidFill>
                <a:latin typeface="League Spartan"/>
              </a:rPr>
              <a:t>Set it up per course</a:t>
            </a:r>
          </a:p>
          <a:p>
            <a:pPr algn="l">
              <a:spcAft>
                <a:spcPts val="600"/>
              </a:spcAft>
            </a:pPr>
            <a:r>
              <a:rPr sz="1200" b="0" i="0">
                <a:solidFill>
                  <a:srgbClr val="FFFFFF"/>
                </a:solidFill>
                <a:latin typeface="Roboto"/>
              </a:rPr>
              <a:t>A different passage for each class, from the same zest</a:t>
            </a:r>
          </a:p>
        </p:txBody>
      </p:sp>
      <p:sp>
        <p:nvSpPr>
          <p:cNvPr id="608" name="TextBox 607"/>
          <p:cNvSpPr txBox="1"/>
          <p:nvPr/>
        </p:nvSpPr>
        <p:spPr>
          <a:xfrm>
            <a:off x="4160520" y="2194560"/>
            <a:ext cx="4572000" cy="868680"/>
          </a:xfrm>
          <a:prstGeom prst="rect">
            <a:avLst/>
          </a:prstGeom>
          <a:noFill/>
        </p:spPr>
        <p:txBody>
          <a:bodyPr wrap="square" anchor="t" lIns="0" rIns="0" tIns="0" bIns="0">
            <a:spAutoFit/>
          </a:bodyPr>
          <a:lstStyle/>
          <a:p>
            <a:pPr algn="l">
              <a:spcAft>
                <a:spcPts val="300"/>
              </a:spcAft>
            </a:pPr>
            <a:r>
              <a:rPr sz="1700" b="1" i="0">
                <a:solidFill>
                  <a:srgbClr val="FFFFFF"/>
                </a:solidFill>
                <a:latin typeface="League Spartan"/>
              </a:rPr>
              <a:t>Fix it once, update every copy</a:t>
            </a:r>
          </a:p>
          <a:p>
            <a:pPr algn="l">
              <a:spcAft>
                <a:spcPts val="600"/>
              </a:spcAft>
            </a:pPr>
            <a:r>
              <a:rPr sz="1200" b="0" i="0">
                <a:solidFill>
                  <a:srgbClr val="FFFFFF"/>
                </a:solidFill>
                <a:latin typeface="Roboto"/>
              </a:rPr>
              <a:t>No broken links and no lost student work</a:t>
            </a:r>
          </a:p>
        </p:txBody>
      </p:sp>
      <p:sp>
        <p:nvSpPr>
          <p:cNvPr id="609" name="TextBox 608"/>
          <p:cNvSpPr txBox="1"/>
          <p:nvPr/>
        </p:nvSpPr>
        <p:spPr>
          <a:xfrm>
            <a:off x="4160520" y="3831336"/>
            <a:ext cx="4572000" cy="868680"/>
          </a:xfrm>
          <a:prstGeom prst="rect">
            <a:avLst/>
          </a:prstGeom>
          <a:noFill/>
        </p:spPr>
        <p:txBody>
          <a:bodyPr wrap="square" anchor="t" lIns="0" rIns="0" tIns="0" bIns="0">
            <a:spAutoFit/>
          </a:bodyPr>
          <a:lstStyle/>
          <a:p>
            <a:pPr algn="l">
              <a:spcAft>
                <a:spcPts val="300"/>
              </a:spcAft>
            </a:pPr>
            <a:r>
              <a:rPr sz="1700" b="1" i="0">
                <a:solidFill>
                  <a:srgbClr val="FFFFFF"/>
                </a:solidFill>
                <a:latin typeface="League Spartan"/>
              </a:rPr>
              <a:t>Works on managed Chromebooks</a:t>
            </a:r>
          </a:p>
          <a:p>
            <a:pPr algn="l">
              <a:spcAft>
                <a:spcPts val="600"/>
              </a:spcAft>
            </a:pPr>
            <a:r>
              <a:rPr sz="1200" b="0" i="0">
                <a:solidFill>
                  <a:srgbClr val="FFFFFF"/>
                </a:solidFill>
                <a:latin typeface="Roboto"/>
              </a:rPr>
              <a:t>Even when third-party cookies are blocked</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97"/>
                                        </p:tgtEl>
                                        <p:attrNameLst>
                                          <p:attrName>style.visibility</p:attrName>
                                        </p:attrNameLst>
                                      </p:cBhvr>
                                      <p:to>
                                        <p:strVal val="visible"/>
                                      </p:to>
                                    </p:set>
                                    <p:animEffect transition="in" filter="fade">
                                      <p:cBhvr>
                                        <p:cTn id="5" dur="500"/>
                                        <p:tgtEl>
                                          <p:spTgt spid="597"/>
                                        </p:tgtEl>
                                      </p:cBhvr>
                                    </p:animEffect>
                                  </p:childTnLst>
                                </p:cTn>
                              </p:par>
                              <p:par>
                                <p:cTn id="6" presetID="10" presetClass="entr" presetSubtype="0" fill="hold" nodeType="withEffect">
                                  <p:stCondLst>
                                    <p:cond delay="0"/>
                                  </p:stCondLst>
                                  <p:childTnLst>
                                    <p:set>
                                      <p:cBhvr>
                                        <p:cTn id="7" dur="1" fill="hold">
                                          <p:stCondLst>
                                            <p:cond delay="0"/>
                                          </p:stCondLst>
                                        </p:cTn>
                                        <p:tgtEl>
                                          <p:spTgt spid="607"/>
                                        </p:tgtEl>
                                        <p:attrNameLst>
                                          <p:attrName>style.visibility</p:attrName>
                                        </p:attrNameLst>
                                      </p:cBhvr>
                                      <p:to>
                                        <p:strVal val="visible"/>
                                      </p:to>
                                    </p:set>
                                    <p:animEffect transition="in" filter="fade">
                                      <p:cBhvr>
                                        <p:cTn id="8" dur="500"/>
                                        <p:tgtEl>
                                          <p:spTgt spid="607"/>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01"/>
                                        </p:tgtEl>
                                        <p:attrNameLst>
                                          <p:attrName>style.visibility</p:attrName>
                                        </p:attrNameLst>
                                      </p:cBhvr>
                                      <p:to>
                                        <p:strVal val="visible"/>
                                      </p:to>
                                    </p:set>
                                    <p:animEffect transition="in" filter="fade">
                                      <p:cBhvr>
                                        <p:cTn id="13" dur="500"/>
                                        <p:tgtEl>
                                          <p:spTgt spid="601"/>
                                        </p:tgtEl>
                                      </p:cBhvr>
                                    </p:animEffect>
                                  </p:childTnLst>
                                </p:cTn>
                              </p:par>
                              <p:par>
                                <p:cTn id="14" presetID="10" presetClass="entr" presetSubtype="0" fill="hold" nodeType="withEffect">
                                  <p:stCondLst>
                                    <p:cond delay="0"/>
                                  </p:stCondLst>
                                  <p:childTnLst>
                                    <p:set>
                                      <p:cBhvr>
                                        <p:cTn id="15" dur="1" fill="hold">
                                          <p:stCondLst>
                                            <p:cond delay="0"/>
                                          </p:stCondLst>
                                        </p:cTn>
                                        <p:tgtEl>
                                          <p:spTgt spid="608"/>
                                        </p:tgtEl>
                                        <p:attrNameLst>
                                          <p:attrName>style.visibility</p:attrName>
                                        </p:attrNameLst>
                                      </p:cBhvr>
                                      <p:to>
                                        <p:strVal val="visible"/>
                                      </p:to>
                                    </p:set>
                                    <p:animEffect transition="in" filter="fade">
                                      <p:cBhvr>
                                        <p:cTn id="16" dur="500"/>
                                        <p:tgtEl>
                                          <p:spTgt spid="608"/>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05"/>
                                        </p:tgtEl>
                                        <p:attrNameLst>
                                          <p:attrName>style.visibility</p:attrName>
                                        </p:attrNameLst>
                                      </p:cBhvr>
                                      <p:to>
                                        <p:strVal val="visible"/>
                                      </p:to>
                                    </p:set>
                                    <p:animEffect transition="in" filter="fade">
                                      <p:cBhvr>
                                        <p:cTn id="21" dur="500"/>
                                        <p:tgtEl>
                                          <p:spTgt spid="605"/>
                                        </p:tgtEl>
                                      </p:cBhvr>
                                    </p:animEffect>
                                  </p:childTnLst>
                                </p:cTn>
                              </p:par>
                              <p:par>
                                <p:cTn id="22" presetID="10" presetClass="entr" presetSubtype="0" fill="hold" nodeType="withEffect">
                                  <p:stCondLst>
                                    <p:cond delay="0"/>
                                  </p:stCondLst>
                                  <p:childTnLst>
                                    <p:set>
                                      <p:cBhvr>
                                        <p:cTn id="23" dur="1" fill="hold">
                                          <p:stCondLst>
                                            <p:cond delay="0"/>
                                          </p:stCondLst>
                                        </p:cTn>
                                        <p:tgtEl>
                                          <p:spTgt spid="609"/>
                                        </p:tgtEl>
                                        <p:attrNameLst>
                                          <p:attrName>style.visibility</p:attrName>
                                        </p:attrNameLst>
                                      </p:cBhvr>
                                      <p:to>
                                        <p:strVal val="visible"/>
                                      </p:to>
                                    </p:set>
                                    <p:animEffect transition="in" filter="fade">
                                      <p:cBhvr>
                                        <p:cTn id="24" dur="500"/>
                                        <p:tgtEl>
                                          <p:spTgt spid="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B5FF"/>
        </a:solidFill>
      </p:bgPr>
    </p:bg>
    <p:spTree>
      <p:nvGrpSpPr>
        <p:cNvPr id="572" name="Shape 572"/>
        <p:cNvGrpSpPr/>
        <p:nvPr/>
      </p:nvGrpSpPr>
      <p:grpSpPr>
        <a:xfrm>
          <a:off x="0" y="0"/>
          <a:ext cx="0" cy="0"/>
          <a:chOff x="0" y="0"/>
          <a:chExt cx="0" cy="0"/>
        </a:xfrm>
      </p:grpSpPr>
      <p:sp>
        <p:nvSpPr>
          <p:cNvPr id="573" name="Google Shape;573;p54"/>
          <p:cNvSpPr/>
          <p:nvPr/>
        </p:nvSpPr>
        <p:spPr>
          <a:xfrm>
            <a:off x="4934038" y="4574825"/>
            <a:ext cx="1374000" cy="1344900"/>
          </a:xfrm>
          <a:prstGeom prst="donut">
            <a:avLst>
              <a:gd fmla="val 13443" name="adj"/>
            </a:avLst>
          </a:prstGeom>
          <a:solidFill>
            <a:srgbClr val="C0C0C0"/>
          </a:solidFill>
          <a:ln cap="flat" cmpd="sng" w="9525">
            <a:solidFill>
              <a:srgbClr val="C0C0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4" name="Google Shape;574;p54"/>
          <p:cNvPicPr preferRelativeResize="0"/>
          <p:nvPr/>
        </p:nvPicPr>
        <p:blipFill rotWithShape="1">
          <a:blip r:embed="rId3">
            <a:alphaModFix/>
          </a:blip>
          <a:srcRect b="0" l="0" r="0" t="0"/>
          <a:stretch/>
        </p:blipFill>
        <p:spPr>
          <a:xfrm flipH="1" rot="5400000">
            <a:off x="0" y="0"/>
            <a:ext cx="2571750" cy="2571750"/>
          </a:xfrm>
          <a:prstGeom prst="rect">
            <a:avLst/>
          </a:prstGeom>
          <a:noFill/>
          <a:ln>
            <a:noFill/>
          </a:ln>
        </p:spPr>
      </p:pic>
      <p:pic>
        <p:nvPicPr>
          <p:cNvPr id="575" name="Google Shape;575;p54"/>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sp>
        <p:nvSpPr>
          <p:cNvPr id="576" name="Google Shape;576;p54"/>
          <p:cNvSpPr/>
          <p:nvPr/>
        </p:nvSpPr>
        <p:spPr>
          <a:xfrm>
            <a:off x="618263" y="342580"/>
            <a:ext cx="3696941" cy="2075212"/>
          </a:xfrm>
          <a:custGeom>
            <a:rect b="b" l="l" r="r" t="t"/>
            <a:pathLst>
              <a:path extrusionOk="0" h="895453" w="1595228">
                <a:moveTo>
                  <a:pt x="1470768" y="895453"/>
                </a:moveTo>
                <a:lnTo>
                  <a:pt x="124460" y="895453"/>
                </a:lnTo>
                <a:cubicBezTo>
                  <a:pt x="55880" y="895453"/>
                  <a:pt x="0" y="839573"/>
                  <a:pt x="0" y="770993"/>
                </a:cubicBezTo>
                <a:lnTo>
                  <a:pt x="0" y="124460"/>
                </a:lnTo>
                <a:cubicBezTo>
                  <a:pt x="0" y="55880"/>
                  <a:pt x="55880" y="0"/>
                  <a:pt x="124460" y="0"/>
                </a:cubicBezTo>
                <a:lnTo>
                  <a:pt x="1470768" y="0"/>
                </a:lnTo>
                <a:cubicBezTo>
                  <a:pt x="1539348" y="0"/>
                  <a:pt x="1595228" y="55880"/>
                  <a:pt x="1595228" y="124460"/>
                </a:cubicBezTo>
                <a:lnTo>
                  <a:pt x="1595228" y="770993"/>
                </a:lnTo>
                <a:cubicBezTo>
                  <a:pt x="1595228" y="839573"/>
                  <a:pt x="1539348" y="895453"/>
                  <a:pt x="1470768" y="895453"/>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7" name="Google Shape;577;p54"/>
          <p:cNvSpPr/>
          <p:nvPr/>
        </p:nvSpPr>
        <p:spPr>
          <a:xfrm>
            <a:off x="4934079" y="342580"/>
            <a:ext cx="3696941" cy="2075212"/>
          </a:xfrm>
          <a:custGeom>
            <a:rect b="b" l="l" r="r" t="t"/>
            <a:pathLst>
              <a:path extrusionOk="0" h="895453" w="1595228">
                <a:moveTo>
                  <a:pt x="1470768" y="895453"/>
                </a:moveTo>
                <a:lnTo>
                  <a:pt x="124460" y="895453"/>
                </a:lnTo>
                <a:cubicBezTo>
                  <a:pt x="55880" y="895453"/>
                  <a:pt x="0" y="839573"/>
                  <a:pt x="0" y="770993"/>
                </a:cubicBezTo>
                <a:lnTo>
                  <a:pt x="0" y="124460"/>
                </a:lnTo>
                <a:cubicBezTo>
                  <a:pt x="0" y="55880"/>
                  <a:pt x="55880" y="0"/>
                  <a:pt x="124460" y="0"/>
                </a:cubicBezTo>
                <a:lnTo>
                  <a:pt x="1470768" y="0"/>
                </a:lnTo>
                <a:cubicBezTo>
                  <a:pt x="1539348" y="0"/>
                  <a:pt x="1595228" y="55880"/>
                  <a:pt x="1595228" y="124460"/>
                </a:cubicBezTo>
                <a:lnTo>
                  <a:pt x="1595228" y="770993"/>
                </a:lnTo>
                <a:cubicBezTo>
                  <a:pt x="1595228" y="839573"/>
                  <a:pt x="1539348" y="895453"/>
                  <a:pt x="1470768" y="895453"/>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8" name="Google Shape;578;p54"/>
          <p:cNvSpPr/>
          <p:nvPr/>
        </p:nvSpPr>
        <p:spPr>
          <a:xfrm>
            <a:off x="618263" y="2670938"/>
            <a:ext cx="3696941" cy="2075212"/>
          </a:xfrm>
          <a:custGeom>
            <a:rect b="b" l="l" r="r" t="t"/>
            <a:pathLst>
              <a:path extrusionOk="0" h="895453" w="1595228">
                <a:moveTo>
                  <a:pt x="1470768" y="895453"/>
                </a:moveTo>
                <a:lnTo>
                  <a:pt x="124460" y="895453"/>
                </a:lnTo>
                <a:cubicBezTo>
                  <a:pt x="55880" y="895453"/>
                  <a:pt x="0" y="839573"/>
                  <a:pt x="0" y="770993"/>
                </a:cubicBezTo>
                <a:lnTo>
                  <a:pt x="0" y="124460"/>
                </a:lnTo>
                <a:cubicBezTo>
                  <a:pt x="0" y="55880"/>
                  <a:pt x="55880" y="0"/>
                  <a:pt x="124460" y="0"/>
                </a:cubicBezTo>
                <a:lnTo>
                  <a:pt x="1470768" y="0"/>
                </a:lnTo>
                <a:cubicBezTo>
                  <a:pt x="1539348" y="0"/>
                  <a:pt x="1595228" y="55880"/>
                  <a:pt x="1595228" y="124460"/>
                </a:cubicBezTo>
                <a:lnTo>
                  <a:pt x="1595228" y="770993"/>
                </a:lnTo>
                <a:cubicBezTo>
                  <a:pt x="1595228" y="839573"/>
                  <a:pt x="1539348" y="895453"/>
                  <a:pt x="1470768" y="895453"/>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579" name="Google Shape;579;p54"/>
          <p:cNvSpPr/>
          <p:nvPr/>
        </p:nvSpPr>
        <p:spPr>
          <a:xfrm>
            <a:off x="4934079" y="2670938"/>
            <a:ext cx="3696941" cy="2075212"/>
          </a:xfrm>
          <a:custGeom>
            <a:rect b="b" l="l" r="r" t="t"/>
            <a:pathLst>
              <a:path extrusionOk="0" h="895453" w="1595228">
                <a:moveTo>
                  <a:pt x="1470768" y="895453"/>
                </a:moveTo>
                <a:lnTo>
                  <a:pt x="124460" y="895453"/>
                </a:lnTo>
                <a:cubicBezTo>
                  <a:pt x="55880" y="895453"/>
                  <a:pt x="0" y="839573"/>
                  <a:pt x="0" y="770993"/>
                </a:cubicBezTo>
                <a:lnTo>
                  <a:pt x="0" y="124460"/>
                </a:lnTo>
                <a:cubicBezTo>
                  <a:pt x="0" y="55880"/>
                  <a:pt x="55880" y="0"/>
                  <a:pt x="124460" y="0"/>
                </a:cubicBezTo>
                <a:lnTo>
                  <a:pt x="1470768" y="0"/>
                </a:lnTo>
                <a:cubicBezTo>
                  <a:pt x="1539348" y="0"/>
                  <a:pt x="1595228" y="55880"/>
                  <a:pt x="1595228" y="124460"/>
                </a:cubicBezTo>
                <a:lnTo>
                  <a:pt x="1595228" y="770993"/>
                </a:lnTo>
                <a:cubicBezTo>
                  <a:pt x="1595228" y="839573"/>
                  <a:pt x="1539348" y="895453"/>
                  <a:pt x="1470768" y="895453"/>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580" name="Google Shape;580;p54"/>
          <p:cNvPicPr preferRelativeResize="0"/>
          <p:nvPr/>
        </p:nvPicPr>
        <p:blipFill rotWithShape="1">
          <a:blip r:embed="rId5">
            <a:alphaModFix/>
          </a:blip>
          <a:srcRect b="0" l="0" r="0" t="0"/>
          <a:stretch/>
        </p:blipFill>
        <p:spPr>
          <a:xfrm>
            <a:off x="79132" y="4418758"/>
            <a:ext cx="1078263" cy="653248"/>
          </a:xfrm>
          <a:prstGeom prst="rect">
            <a:avLst/>
          </a:prstGeom>
          <a:noFill/>
          <a:ln>
            <a:noFill/>
          </a:ln>
        </p:spPr>
      </p:pic>
      <p:pic>
        <p:nvPicPr>
          <p:cNvPr id="581" name="Picture 580" descr="launch-lab-desktop.png"/>
          <p:cNvPicPr>
            <a:picLocks noChangeAspect="1"/>
          </p:cNvPicPr>
          <p:nvPr/>
        </p:nvPicPr>
        <p:blipFill>
          <a:blip r:embed="rId2"/>
          <a:stretch>
            <a:fillRect/>
          </a:stretch>
        </p:blipFill>
        <p:spPr>
          <a:xfrm>
            <a:off x="758952" y="493776"/>
            <a:ext cx="2377440" cy="1578769"/>
          </a:xfrm>
          <a:prstGeom prst="rect">
            <a:avLst/>
          </a:prstGeom>
        </p:spPr>
      </p:pic>
      <p:sp>
        <p:nvSpPr>
          <p:cNvPr id="582" name="TextBox 581"/>
          <p:cNvSpPr txBox="1"/>
          <p:nvPr/>
        </p:nvSpPr>
        <p:spPr>
          <a:xfrm>
            <a:off x="3273552" y="612647"/>
            <a:ext cx="960120" cy="1554480"/>
          </a:xfrm>
          <a:prstGeom prst="rect">
            <a:avLst/>
          </a:prstGeom>
          <a:noFill/>
        </p:spPr>
        <p:txBody>
          <a:bodyPr wrap="square" anchor="t" lIns="0" rIns="0" tIns="0" bIns="0">
            <a:spAutoFit/>
          </a:bodyPr>
          <a:lstStyle/>
          <a:p>
            <a:pPr algn="l">
              <a:spcAft>
                <a:spcPts val="400"/>
              </a:spcAft>
            </a:pPr>
            <a:r>
              <a:rPr sz="1400" b="1" i="0">
                <a:solidFill>
                  <a:srgbClr val="131313"/>
                </a:solidFill>
                <a:latin typeface="League Spartan"/>
              </a:rPr>
              <a:t>Launch Lab</a:t>
            </a:r>
          </a:p>
          <a:p>
            <a:pPr algn="l">
              <a:spcAft>
                <a:spcPts val="600"/>
              </a:spcAft>
            </a:pPr>
            <a:r>
              <a:rPr sz="1000" b="0" i="0">
                <a:solidFill>
                  <a:srgbClr val="605F5E"/>
                </a:solidFill>
                <a:latin typeface="Roboto"/>
              </a:rPr>
              <a:t>Physics</a:t>
            </a:r>
          </a:p>
        </p:txBody>
      </p:sp>
      <p:pic>
        <p:nvPicPr>
          <p:cNvPr id="583" name="Picture 582" descr="graph-match-desktop.png"/>
          <p:cNvPicPr>
            <a:picLocks noChangeAspect="1"/>
          </p:cNvPicPr>
          <p:nvPr/>
        </p:nvPicPr>
        <p:blipFill>
          <a:blip r:embed="rId6"/>
          <a:stretch>
            <a:fillRect/>
          </a:stretch>
        </p:blipFill>
        <p:spPr>
          <a:xfrm>
            <a:off x="5074920" y="493776"/>
            <a:ext cx="2377440" cy="1578769"/>
          </a:xfrm>
          <a:prstGeom prst="rect">
            <a:avLst/>
          </a:prstGeom>
        </p:spPr>
      </p:pic>
      <p:sp>
        <p:nvSpPr>
          <p:cNvPr id="584" name="TextBox 583"/>
          <p:cNvSpPr txBox="1"/>
          <p:nvPr/>
        </p:nvSpPr>
        <p:spPr>
          <a:xfrm>
            <a:off x="7589520" y="612647"/>
            <a:ext cx="960120" cy="1554480"/>
          </a:xfrm>
          <a:prstGeom prst="rect">
            <a:avLst/>
          </a:prstGeom>
          <a:noFill/>
        </p:spPr>
        <p:txBody>
          <a:bodyPr wrap="square" anchor="t" lIns="0" rIns="0" tIns="0" bIns="0">
            <a:spAutoFit/>
          </a:bodyPr>
          <a:lstStyle/>
          <a:p>
            <a:pPr algn="l">
              <a:spcAft>
                <a:spcPts val="400"/>
              </a:spcAft>
            </a:pPr>
            <a:r>
              <a:rPr sz="1400" b="1" i="0">
                <a:solidFill>
                  <a:srgbClr val="131313"/>
                </a:solidFill>
                <a:latin typeface="League Spartan"/>
              </a:rPr>
              <a:t>Graph Match</a:t>
            </a:r>
          </a:p>
          <a:p>
            <a:pPr algn="l">
              <a:spcAft>
                <a:spcPts val="600"/>
              </a:spcAft>
            </a:pPr>
            <a:r>
              <a:rPr sz="1000" b="0" i="0">
                <a:solidFill>
                  <a:srgbClr val="605F5E"/>
                </a:solidFill>
                <a:latin typeface="Roboto"/>
              </a:rPr>
              <a:t>Algebra 2</a:t>
            </a:r>
          </a:p>
        </p:txBody>
      </p:sp>
      <p:pic>
        <p:nvPicPr>
          <p:cNvPr id="585" name="Picture 584" descr="sketch-label-desktop.png"/>
          <p:cNvPicPr>
            <a:picLocks noChangeAspect="1"/>
          </p:cNvPicPr>
          <p:nvPr/>
        </p:nvPicPr>
        <p:blipFill>
          <a:blip r:embed="rId7"/>
          <a:stretch>
            <a:fillRect/>
          </a:stretch>
        </p:blipFill>
        <p:spPr>
          <a:xfrm>
            <a:off x="758952" y="2825496"/>
            <a:ext cx="2377440" cy="1578769"/>
          </a:xfrm>
          <a:prstGeom prst="rect">
            <a:avLst/>
          </a:prstGeom>
        </p:spPr>
      </p:pic>
      <p:sp>
        <p:nvSpPr>
          <p:cNvPr id="586" name="TextBox 585"/>
          <p:cNvSpPr txBox="1"/>
          <p:nvPr/>
        </p:nvSpPr>
        <p:spPr>
          <a:xfrm>
            <a:off x="3273552" y="2944368"/>
            <a:ext cx="960120" cy="1554480"/>
          </a:xfrm>
          <a:prstGeom prst="rect">
            <a:avLst/>
          </a:prstGeom>
          <a:noFill/>
        </p:spPr>
        <p:txBody>
          <a:bodyPr wrap="square" anchor="t" lIns="0" rIns="0" tIns="0" bIns="0">
            <a:spAutoFit/>
          </a:bodyPr>
          <a:lstStyle/>
          <a:p>
            <a:pPr algn="l">
              <a:spcAft>
                <a:spcPts val="400"/>
              </a:spcAft>
            </a:pPr>
            <a:r>
              <a:rPr sz="1400" b="1" i="0">
                <a:solidFill>
                  <a:srgbClr val="131313"/>
                </a:solidFill>
                <a:latin typeface="League Spartan"/>
              </a:rPr>
              <a:t>Sketch &amp; Label</a:t>
            </a:r>
          </a:p>
          <a:p>
            <a:pPr algn="l">
              <a:spcAft>
                <a:spcPts val="600"/>
              </a:spcAft>
            </a:pPr>
            <a:r>
              <a:rPr sz="1000" b="0" i="0">
                <a:solidFill>
                  <a:srgbClr val="605F5E"/>
                </a:solidFill>
                <a:latin typeface="Roboto"/>
              </a:rPr>
              <a:t>Life Science</a:t>
            </a:r>
          </a:p>
        </p:txBody>
      </p:sp>
      <p:pic>
        <p:nvPicPr>
          <p:cNvPr id="587" name="Picture 586" descr="escape-the-archive-desktop.png"/>
          <p:cNvPicPr>
            <a:picLocks noChangeAspect="1"/>
          </p:cNvPicPr>
          <p:nvPr/>
        </p:nvPicPr>
        <p:blipFill>
          <a:blip r:embed="rId8"/>
          <a:stretch>
            <a:fillRect/>
          </a:stretch>
        </p:blipFill>
        <p:spPr>
          <a:xfrm>
            <a:off x="5074920" y="2825496"/>
            <a:ext cx="2377440" cy="1578769"/>
          </a:xfrm>
          <a:prstGeom prst="rect">
            <a:avLst/>
          </a:prstGeom>
        </p:spPr>
      </p:pic>
      <p:sp>
        <p:nvSpPr>
          <p:cNvPr id="588" name="TextBox 587"/>
          <p:cNvSpPr txBox="1"/>
          <p:nvPr/>
        </p:nvSpPr>
        <p:spPr>
          <a:xfrm>
            <a:off x="7589520" y="2944368"/>
            <a:ext cx="960120" cy="1554480"/>
          </a:xfrm>
          <a:prstGeom prst="rect">
            <a:avLst/>
          </a:prstGeom>
          <a:noFill/>
        </p:spPr>
        <p:txBody>
          <a:bodyPr wrap="square" anchor="t" lIns="0" rIns="0" tIns="0" bIns="0">
            <a:spAutoFit/>
          </a:bodyPr>
          <a:lstStyle/>
          <a:p>
            <a:pPr algn="l">
              <a:spcAft>
                <a:spcPts val="400"/>
              </a:spcAft>
            </a:pPr>
            <a:r>
              <a:rPr sz="1400" b="1" i="0">
                <a:solidFill>
                  <a:srgbClr val="131313"/>
                </a:solidFill>
                <a:latin typeface="League Spartan"/>
              </a:rPr>
              <a:t>Escape the Archive</a:t>
            </a:r>
          </a:p>
          <a:p>
            <a:pPr algn="l">
              <a:spcAft>
                <a:spcPts val="600"/>
              </a:spcAft>
            </a:pPr>
            <a:r>
              <a:rPr sz="1000" b="0" i="0">
                <a:solidFill>
                  <a:srgbClr val="605F5E"/>
                </a:solidFill>
                <a:latin typeface="Roboto"/>
              </a:rPr>
              <a:t>U.S. History</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40"/>
          <p:cNvGrpSpPr/>
          <p:nvPr/>
        </p:nvGrpSpPr>
        <p:grpSpPr>
          <a:xfrm>
            <a:off x="7704129" y="4183226"/>
            <a:ext cx="915496" cy="471026"/>
            <a:chOff x="61924" y="79616"/>
            <a:chExt cx="2441323" cy="1256068"/>
          </a:xfrm>
        </p:grpSpPr>
        <p:sp>
          <p:nvSpPr>
            <p:cNvPr id="233" name="Google Shape;233;p40"/>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34" name="Google Shape;234;p40"/>
            <p:cNvPicPr preferRelativeResize="0"/>
            <p:nvPr/>
          </p:nvPicPr>
          <p:blipFill rotWithShape="1">
            <a:blip r:embed="rId3">
              <a:alphaModFix/>
            </a:blip>
            <a:srcRect b="0" l="0" r="0" t="0"/>
            <a:stretch/>
          </p:blipFill>
          <p:spPr>
            <a:xfrm>
              <a:off x="1328489" y="190500"/>
              <a:ext cx="1034400" cy="1034400"/>
            </a:xfrm>
            <a:prstGeom prst="rect">
              <a:avLst/>
            </a:prstGeom>
            <a:noFill/>
            <a:ln>
              <a:noFill/>
            </a:ln>
          </p:spPr>
        </p:pic>
      </p:grpSp>
      <p:pic>
        <p:nvPicPr>
          <p:cNvPr id="235" name="Google Shape;235;p40"/>
          <p:cNvPicPr preferRelativeResize="0"/>
          <p:nvPr/>
        </p:nvPicPr>
        <p:blipFill rotWithShape="1">
          <a:blip r:embed="rId4">
            <a:alphaModFix/>
          </a:blip>
          <a:srcRect b="0" l="0" r="0" t="0"/>
          <a:stretch/>
        </p:blipFill>
        <p:spPr>
          <a:xfrm>
            <a:off x="8236813" y="4282529"/>
            <a:ext cx="272458" cy="272458"/>
          </a:xfrm>
          <a:prstGeom prst="rect">
            <a:avLst/>
          </a:prstGeom>
          <a:noFill/>
          <a:ln>
            <a:noFill/>
          </a:ln>
        </p:spPr>
      </p:pic>
      <p:pic>
        <p:nvPicPr>
          <p:cNvPr id="236" name="Google Shape;236;p40"/>
          <p:cNvPicPr preferRelativeResize="0"/>
          <p:nvPr/>
        </p:nvPicPr>
        <p:blipFill rotWithShape="1">
          <a:blip r:embed="rId5">
            <a:alphaModFix/>
          </a:blip>
          <a:srcRect b="0" l="0" r="0" t="0"/>
          <a:stretch/>
        </p:blipFill>
        <p:spPr>
          <a:xfrm rot="-5400000">
            <a:off x="-950519" y="1378208"/>
            <a:ext cx="3802074" cy="1901037"/>
          </a:xfrm>
          <a:prstGeom prst="rect">
            <a:avLst/>
          </a:prstGeom>
          <a:noFill/>
          <a:ln>
            <a:noFill/>
          </a:ln>
        </p:spPr>
      </p:pic>
      <p:sp>
        <p:nvSpPr>
          <p:cNvPr id="237" name="Google Shape;237;p40"/>
          <p:cNvSpPr/>
          <p:nvPr/>
        </p:nvSpPr>
        <p:spPr>
          <a:xfrm>
            <a:off x="3245525" y="574000"/>
            <a:ext cx="1374000" cy="1344900"/>
          </a:xfrm>
          <a:prstGeom prst="donut">
            <a:avLst>
              <a:gd fmla="val 13443" name="adj"/>
            </a:avLst>
          </a:prstGeom>
          <a:solidFill>
            <a:srgbClr val="25AFFA"/>
          </a:solidFill>
          <a:ln cap="flat" cmpd="sng" w="9525">
            <a:solidFill>
              <a:srgbClr val="25AF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40"/>
          <p:cNvPicPr preferRelativeResize="0"/>
          <p:nvPr/>
        </p:nvPicPr>
        <p:blipFill rotWithShape="1">
          <a:blip r:embed="rId3">
            <a:alphaModFix/>
          </a:blip>
          <a:srcRect b="0" l="0" r="0" t="0"/>
          <a:stretch/>
        </p:blipFill>
        <p:spPr>
          <a:xfrm>
            <a:off x="2734257" y="4035814"/>
            <a:ext cx="377988" cy="377988"/>
          </a:xfrm>
          <a:prstGeom prst="rect">
            <a:avLst/>
          </a:prstGeom>
          <a:noFill/>
          <a:ln>
            <a:noFill/>
          </a:ln>
        </p:spPr>
      </p:pic>
      <p:pic>
        <p:nvPicPr>
          <p:cNvPr id="245" name="Google Shape;245;p40"/>
          <p:cNvPicPr preferRelativeResize="0"/>
          <p:nvPr/>
        </p:nvPicPr>
        <p:blipFill rotWithShape="1">
          <a:blip r:embed="rId7">
            <a:alphaModFix/>
          </a:blip>
          <a:srcRect b="0" l="0" r="0" t="0"/>
          <a:stretch/>
        </p:blipFill>
        <p:spPr>
          <a:xfrm rot="10800000">
            <a:off x="1249432" y="4754283"/>
            <a:ext cx="778434" cy="389218"/>
          </a:xfrm>
          <a:prstGeom prst="rect">
            <a:avLst/>
          </a:prstGeom>
          <a:noFill/>
          <a:ln>
            <a:noFill/>
          </a:ln>
        </p:spPr>
      </p:pic>
      <p:pic>
        <p:nvPicPr>
          <p:cNvPr id="249" name="Google Shape;249;p40"/>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pic>
        <p:nvPicPr>
          <p:cNvPr id="250" name="Picture 249" descr="launch-lab-desktop.png"/>
          <p:cNvPicPr>
            <a:picLocks noChangeAspect="1"/>
          </p:cNvPicPr>
          <p:nvPr/>
        </p:nvPicPr>
        <p:blipFill>
          <a:blip r:embed="rId2"/>
          <a:stretch>
            <a:fillRect/>
          </a:stretch>
        </p:blipFill>
        <p:spPr>
          <a:xfrm>
            <a:off x="228600" y="767238"/>
            <a:ext cx="4023360" cy="2671762"/>
          </a:xfrm>
          <a:prstGeom prst="rect">
            <a:avLst/>
          </a:prstGeom>
          <a:ln w="12700">
            <a:solidFill>
              <a:srgbClr val="CCCCCC"/>
            </a:solidFill>
          </a:ln>
        </p:spPr>
      </p:pic>
      <p:sp>
        <p:nvSpPr>
          <p:cNvPr id="251" name="TextBox 250"/>
          <p:cNvSpPr txBox="1"/>
          <p:nvPr/>
        </p:nvSpPr>
        <p:spPr>
          <a:xfrm>
            <a:off x="4846320" y="411480"/>
            <a:ext cx="3840480" cy="502920"/>
          </a:xfrm>
          <a:prstGeom prst="rect">
            <a:avLst/>
          </a:prstGeom>
          <a:noFill/>
        </p:spPr>
        <p:txBody>
          <a:bodyPr wrap="square" anchor="t" lIns="0" rIns="0" tIns="0" bIns="0">
            <a:spAutoFit/>
          </a:bodyPr>
          <a:lstStyle/>
          <a:p>
            <a:pPr algn="l">
              <a:spcAft>
                <a:spcPts val="0"/>
              </a:spcAft>
            </a:pPr>
            <a:r>
              <a:rPr sz="2600" b="1" i="0">
                <a:solidFill>
                  <a:srgbClr val="131313"/>
                </a:solidFill>
                <a:latin typeface="League Spartan"/>
              </a:rPr>
              <a:t>Launch Lab</a:t>
            </a:r>
          </a:p>
        </p:txBody>
      </p:sp>
      <p:sp>
        <p:nvSpPr>
          <p:cNvPr id="252" name="TextBox 251"/>
          <p:cNvSpPr txBox="1"/>
          <p:nvPr/>
        </p:nvSpPr>
        <p:spPr>
          <a:xfrm>
            <a:off x="4846320" y="914400"/>
            <a:ext cx="3840480" cy="274320"/>
          </a:xfrm>
          <a:prstGeom prst="rect">
            <a:avLst/>
          </a:prstGeom>
          <a:noFill/>
        </p:spPr>
        <p:txBody>
          <a:bodyPr wrap="square" anchor="t" lIns="0" rIns="0" tIns="0" bIns="0">
            <a:spAutoFit/>
          </a:bodyPr>
          <a:lstStyle/>
          <a:p>
            <a:pPr algn="l">
              <a:spcAft>
                <a:spcPts val="600"/>
              </a:spcAft>
            </a:pPr>
            <a:r>
              <a:rPr sz="1100" b="1" i="0">
                <a:solidFill>
                  <a:srgbClr val="960000"/>
                </a:solidFill>
                <a:latin typeface="Roboto"/>
              </a:rPr>
              <a:t>Physics  |  Auto-graded</a:t>
            </a:r>
          </a:p>
        </p:txBody>
      </p:sp>
      <p:sp>
        <p:nvSpPr>
          <p:cNvPr id="253" name="TextBox 252"/>
          <p:cNvSpPr txBox="1"/>
          <p:nvPr/>
        </p:nvSpPr>
        <p:spPr>
          <a:xfrm>
            <a:off x="4846320" y="1325880"/>
            <a:ext cx="3794760" cy="1828800"/>
          </a:xfrm>
          <a:prstGeom prst="rect">
            <a:avLst/>
          </a:prstGeom>
          <a:noFill/>
        </p:spPr>
        <p:txBody>
          <a:bodyPr wrap="square" anchor="t" lIns="0" rIns="0" tIns="0" bIns="0">
            <a:spAutoFit/>
          </a:bodyPr>
          <a:lstStyle/>
          <a:p>
            <a:pPr algn="l">
              <a:spcAft>
                <a:spcPts val="300"/>
              </a:spcAft>
            </a:pPr>
            <a:r>
              <a:rPr sz="1000" b="1" i="0">
                <a:solidFill>
                  <a:srgbClr val="605F5E"/>
                </a:solidFill>
                <a:latin typeface="Roboto"/>
              </a:rPr>
              <a:t>The prompt</a:t>
            </a:r>
          </a:p>
          <a:p>
            <a:pPr algn="l">
              <a:spcAft>
                <a:spcPts val="600"/>
              </a:spcAft>
            </a:pPr>
            <a:r>
              <a:rPr sz="1250" b="0" i="1">
                <a:solidFill>
                  <a:srgbClr val="131313"/>
                </a:solidFill>
                <a:latin typeface="Roboto"/>
              </a:rPr>
              <a:t>“Make a projectile motion lab where students predict the launch angle to hit a target, auto-graded, with the target distance set by the teacher.”</a:t>
            </a:r>
          </a:p>
        </p:txBody>
      </p:sp>
      <p:sp>
        <p:nvSpPr>
          <p:cNvPr id="254" name="TextBox 253"/>
          <p:cNvSpPr txBox="1"/>
          <p:nvPr/>
        </p:nvSpPr>
        <p:spPr>
          <a:xfrm>
            <a:off x="4846320" y="3200400"/>
            <a:ext cx="2651760" cy="731520"/>
          </a:xfrm>
          <a:prstGeom prst="rect">
            <a:avLst/>
          </a:prstGeom>
          <a:noFill/>
        </p:spPr>
        <p:txBody>
          <a:bodyPr wrap="square" anchor="t" lIns="0" rIns="0" tIns="0" bIns="0">
            <a:spAutoFit/>
          </a:bodyPr>
          <a:lstStyle/>
          <a:p>
            <a:pPr algn="l">
              <a:spcAft>
                <a:spcPts val="600"/>
              </a:spcAft>
            </a:pPr>
            <a:r>
              <a:rPr sz="1100" b="0" i="0">
                <a:solidFill>
                  <a:srgbClr val="1B3168"/>
                </a:solidFill>
                <a:latin typeface="Roboto"/>
              </a:rPr>
              <a:t>Same sentence as before, plus a few answers about rounds and practice shots.</a:t>
            </a:r>
          </a:p>
        </p:txBody>
      </p:sp>
      <p:sp>
        <p:nvSpPr>
          <p:cNvPr id="255" name="Rounded Rectangle 254"/>
          <p:cNvSpPr/>
          <p:nvPr/>
        </p:nvSpPr>
        <p:spPr>
          <a:xfrm>
            <a:off x="7635240" y="3063240"/>
            <a:ext cx="960120" cy="960120"/>
          </a:xfrm>
          <a:prstGeom prst="roundRect">
            <a:avLst/>
          </a:prstGeom>
          <a:solidFill>
            <a:srgbClr val="FFFFFF"/>
          </a:solidFill>
          <a:ln w="19050">
            <a:solidFill>
              <a:srgbClr val="96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60000"/>
                </a:solidFill>
                <a:latin typeface="Roboto"/>
              </a:rPr>
              <a:t>QR code
(link coming)</a:t>
            </a:r>
          </a:p>
        </p:txBody>
      </p:sp>
      <p:pic>
        <p:nvPicPr>
          <p:cNvPr id="256" name="Picture 255" descr="launch-lab-review.png"/>
          <p:cNvPicPr>
            <a:picLocks noChangeAspect="1"/>
          </p:cNvPicPr>
          <p:nvPr/>
        </p:nvPicPr>
        <p:blipFill>
          <a:blip r:embed="rId9"/>
          <a:stretch>
            <a:fillRect/>
          </a:stretch>
        </p:blipFill>
        <p:spPr>
          <a:xfrm>
            <a:off x="1783080" y="2148840"/>
            <a:ext cx="2926080" cy="1943100"/>
          </a:xfrm>
          <a:prstGeom prst="rect">
            <a:avLst/>
          </a:prstGeom>
          <a:ln w="12700">
            <a:solidFill>
              <a:srgbClr val="1B3168"/>
            </a:solidFill>
          </a:ln>
        </p:spPr>
      </p:pic>
      <p:sp>
        <p:nvSpPr>
          <p:cNvPr id="257" name="Rounded Rectangle 256"/>
          <p:cNvSpPr/>
          <p:nvPr/>
        </p:nvSpPr>
        <p:spPr>
          <a:xfrm>
            <a:off x="1783080" y="1847088"/>
            <a:ext cx="233172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Roboto"/>
              </a:rPr>
              <a:t>What the teacher sees in SpeedGrader</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56"/>
                                        </p:tgtEl>
                                        <p:attrNameLst>
                                          <p:attrName>style.visibility</p:attrName>
                                        </p:attrNameLst>
                                      </p:cBhvr>
                                      <p:to>
                                        <p:strVal val="visible"/>
                                      </p:to>
                                    </p:set>
                                    <p:animEffect transition="in" filter="fade">
                                      <p:cBhvr>
                                        <p:cTn id="5" dur="500"/>
                                        <p:tgtEl>
                                          <p:spTgt spid="256"/>
                                        </p:tgtEl>
                                      </p:cBhvr>
                                    </p:animEffect>
                                  </p:childTnLst>
                                </p:cTn>
                              </p:par>
                              <p:par>
                                <p:cTn id="6" presetID="10" presetClass="entr" presetSubtype="0" fill="hold" nodeType="withEffect">
                                  <p:stCondLst>
                                    <p:cond delay="0"/>
                                  </p:stCondLst>
                                  <p:childTnLst>
                                    <p:set>
                                      <p:cBhvr>
                                        <p:cTn id="7" dur="1" fill="hold">
                                          <p:stCondLst>
                                            <p:cond delay="0"/>
                                          </p:stCondLst>
                                        </p:cTn>
                                        <p:tgtEl>
                                          <p:spTgt spid="257"/>
                                        </p:tgtEl>
                                        <p:attrNameLst>
                                          <p:attrName>style.visibility</p:attrName>
                                        </p:attrNameLst>
                                      </p:cBhvr>
                                      <p:to>
                                        <p:strVal val="visible"/>
                                      </p:to>
                                    </p:set>
                                    <p:animEffect transition="in" filter="fade">
                                      <p:cBhvr>
                                        <p:cTn id="8"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40"/>
          <p:cNvGrpSpPr/>
          <p:nvPr/>
        </p:nvGrpSpPr>
        <p:grpSpPr>
          <a:xfrm>
            <a:off x="7704129" y="4183226"/>
            <a:ext cx="915496" cy="471026"/>
            <a:chOff x="61924" y="79616"/>
            <a:chExt cx="2441323" cy="1256068"/>
          </a:xfrm>
        </p:grpSpPr>
        <p:sp>
          <p:nvSpPr>
            <p:cNvPr id="233" name="Google Shape;233;p40"/>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34" name="Google Shape;234;p40"/>
            <p:cNvPicPr preferRelativeResize="0"/>
            <p:nvPr/>
          </p:nvPicPr>
          <p:blipFill rotWithShape="1">
            <a:blip r:embed="rId3">
              <a:alphaModFix/>
            </a:blip>
            <a:srcRect b="0" l="0" r="0" t="0"/>
            <a:stretch/>
          </p:blipFill>
          <p:spPr>
            <a:xfrm>
              <a:off x="1328489" y="190500"/>
              <a:ext cx="1034400" cy="1034400"/>
            </a:xfrm>
            <a:prstGeom prst="rect">
              <a:avLst/>
            </a:prstGeom>
            <a:noFill/>
            <a:ln>
              <a:noFill/>
            </a:ln>
          </p:spPr>
        </p:pic>
      </p:grpSp>
      <p:pic>
        <p:nvPicPr>
          <p:cNvPr id="235" name="Google Shape;235;p40"/>
          <p:cNvPicPr preferRelativeResize="0"/>
          <p:nvPr/>
        </p:nvPicPr>
        <p:blipFill rotWithShape="1">
          <a:blip r:embed="rId4">
            <a:alphaModFix/>
          </a:blip>
          <a:srcRect b="0" l="0" r="0" t="0"/>
          <a:stretch/>
        </p:blipFill>
        <p:spPr>
          <a:xfrm>
            <a:off x="8236813" y="4282529"/>
            <a:ext cx="272458" cy="272458"/>
          </a:xfrm>
          <a:prstGeom prst="rect">
            <a:avLst/>
          </a:prstGeom>
          <a:noFill/>
          <a:ln>
            <a:noFill/>
          </a:ln>
        </p:spPr>
      </p:pic>
      <p:pic>
        <p:nvPicPr>
          <p:cNvPr id="236" name="Google Shape;236;p40"/>
          <p:cNvPicPr preferRelativeResize="0"/>
          <p:nvPr/>
        </p:nvPicPr>
        <p:blipFill rotWithShape="1">
          <a:blip r:embed="rId5">
            <a:alphaModFix/>
          </a:blip>
          <a:srcRect b="0" l="0" r="0" t="0"/>
          <a:stretch/>
        </p:blipFill>
        <p:spPr>
          <a:xfrm rot="-5400000">
            <a:off x="-950519" y="1378208"/>
            <a:ext cx="3802074" cy="1901037"/>
          </a:xfrm>
          <a:prstGeom prst="rect">
            <a:avLst/>
          </a:prstGeom>
          <a:noFill/>
          <a:ln>
            <a:noFill/>
          </a:ln>
        </p:spPr>
      </p:pic>
      <p:sp>
        <p:nvSpPr>
          <p:cNvPr id="237" name="Google Shape;237;p40"/>
          <p:cNvSpPr/>
          <p:nvPr/>
        </p:nvSpPr>
        <p:spPr>
          <a:xfrm>
            <a:off x="3245525" y="574000"/>
            <a:ext cx="1374000" cy="1344900"/>
          </a:xfrm>
          <a:prstGeom prst="donut">
            <a:avLst>
              <a:gd fmla="val 13443" name="adj"/>
            </a:avLst>
          </a:prstGeom>
          <a:solidFill>
            <a:srgbClr val="25AFFA"/>
          </a:solidFill>
          <a:ln cap="flat" cmpd="sng" w="9525">
            <a:solidFill>
              <a:srgbClr val="25AF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40"/>
          <p:cNvPicPr preferRelativeResize="0"/>
          <p:nvPr/>
        </p:nvPicPr>
        <p:blipFill rotWithShape="1">
          <a:blip r:embed="rId3">
            <a:alphaModFix/>
          </a:blip>
          <a:srcRect b="0" l="0" r="0" t="0"/>
          <a:stretch/>
        </p:blipFill>
        <p:spPr>
          <a:xfrm>
            <a:off x="2734257" y="4035814"/>
            <a:ext cx="377988" cy="377988"/>
          </a:xfrm>
          <a:prstGeom prst="rect">
            <a:avLst/>
          </a:prstGeom>
          <a:noFill/>
          <a:ln>
            <a:noFill/>
          </a:ln>
        </p:spPr>
      </p:pic>
      <p:pic>
        <p:nvPicPr>
          <p:cNvPr id="245" name="Google Shape;245;p40"/>
          <p:cNvPicPr preferRelativeResize="0"/>
          <p:nvPr/>
        </p:nvPicPr>
        <p:blipFill rotWithShape="1">
          <a:blip r:embed="rId7">
            <a:alphaModFix/>
          </a:blip>
          <a:srcRect b="0" l="0" r="0" t="0"/>
          <a:stretch/>
        </p:blipFill>
        <p:spPr>
          <a:xfrm rot="10800000">
            <a:off x="1249432" y="4754283"/>
            <a:ext cx="778434" cy="389218"/>
          </a:xfrm>
          <a:prstGeom prst="rect">
            <a:avLst/>
          </a:prstGeom>
          <a:noFill/>
          <a:ln>
            <a:noFill/>
          </a:ln>
        </p:spPr>
      </p:pic>
      <p:pic>
        <p:nvPicPr>
          <p:cNvPr id="249" name="Google Shape;249;p40"/>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pic>
        <p:nvPicPr>
          <p:cNvPr id="250" name="Picture 249" descr="graph-match-desktop.png"/>
          <p:cNvPicPr>
            <a:picLocks noChangeAspect="1"/>
          </p:cNvPicPr>
          <p:nvPr/>
        </p:nvPicPr>
        <p:blipFill>
          <a:blip r:embed="rId2"/>
          <a:stretch>
            <a:fillRect/>
          </a:stretch>
        </p:blipFill>
        <p:spPr>
          <a:xfrm>
            <a:off x="228600" y="767238"/>
            <a:ext cx="4023360" cy="2671762"/>
          </a:xfrm>
          <a:prstGeom prst="rect">
            <a:avLst/>
          </a:prstGeom>
          <a:ln w="12700">
            <a:solidFill>
              <a:srgbClr val="CCCCCC"/>
            </a:solidFill>
          </a:ln>
        </p:spPr>
      </p:pic>
      <p:sp>
        <p:nvSpPr>
          <p:cNvPr id="251" name="TextBox 250"/>
          <p:cNvSpPr txBox="1"/>
          <p:nvPr/>
        </p:nvSpPr>
        <p:spPr>
          <a:xfrm>
            <a:off x="4846320" y="411480"/>
            <a:ext cx="3840480" cy="502920"/>
          </a:xfrm>
          <a:prstGeom prst="rect">
            <a:avLst/>
          </a:prstGeom>
          <a:noFill/>
        </p:spPr>
        <p:txBody>
          <a:bodyPr wrap="square" anchor="t" lIns="0" rIns="0" tIns="0" bIns="0">
            <a:spAutoFit/>
          </a:bodyPr>
          <a:lstStyle/>
          <a:p>
            <a:pPr algn="l">
              <a:spcAft>
                <a:spcPts val="0"/>
              </a:spcAft>
            </a:pPr>
            <a:r>
              <a:rPr sz="2600" b="1" i="0">
                <a:solidFill>
                  <a:srgbClr val="131313"/>
                </a:solidFill>
                <a:latin typeface="League Spartan"/>
              </a:rPr>
              <a:t>Graph Match</a:t>
            </a:r>
          </a:p>
        </p:txBody>
      </p:sp>
      <p:sp>
        <p:nvSpPr>
          <p:cNvPr id="252" name="TextBox 251"/>
          <p:cNvSpPr txBox="1"/>
          <p:nvPr/>
        </p:nvSpPr>
        <p:spPr>
          <a:xfrm>
            <a:off x="4846320" y="914400"/>
            <a:ext cx="3840480" cy="274320"/>
          </a:xfrm>
          <a:prstGeom prst="rect">
            <a:avLst/>
          </a:prstGeom>
          <a:noFill/>
        </p:spPr>
        <p:txBody>
          <a:bodyPr wrap="square" anchor="t" lIns="0" rIns="0" tIns="0" bIns="0">
            <a:spAutoFit/>
          </a:bodyPr>
          <a:lstStyle/>
          <a:p>
            <a:pPr algn="l">
              <a:spcAft>
                <a:spcPts val="600"/>
              </a:spcAft>
            </a:pPr>
            <a:r>
              <a:rPr sz="1100" b="1" i="0">
                <a:solidFill>
                  <a:srgbClr val="960000"/>
                </a:solidFill>
                <a:latin typeface="Roboto"/>
              </a:rPr>
              <a:t>Algebra 2  |  Auto-graded</a:t>
            </a:r>
          </a:p>
        </p:txBody>
      </p:sp>
      <p:sp>
        <p:nvSpPr>
          <p:cNvPr id="253" name="TextBox 252"/>
          <p:cNvSpPr txBox="1"/>
          <p:nvPr/>
        </p:nvSpPr>
        <p:spPr>
          <a:xfrm>
            <a:off x="4846320" y="1325880"/>
            <a:ext cx="3794760" cy="1828800"/>
          </a:xfrm>
          <a:prstGeom prst="rect">
            <a:avLst/>
          </a:prstGeom>
          <a:noFill/>
        </p:spPr>
        <p:txBody>
          <a:bodyPr wrap="square" anchor="t" lIns="0" rIns="0" tIns="0" bIns="0">
            <a:spAutoFit/>
          </a:bodyPr>
          <a:lstStyle/>
          <a:p>
            <a:pPr algn="l">
              <a:spcAft>
                <a:spcPts val="300"/>
              </a:spcAft>
            </a:pPr>
            <a:r>
              <a:rPr sz="1000" b="1" i="0">
                <a:solidFill>
                  <a:srgbClr val="605F5E"/>
                </a:solidFill>
                <a:latin typeface="Roboto"/>
              </a:rPr>
              <a:t>The prompt</a:t>
            </a:r>
          </a:p>
          <a:p>
            <a:pPr algn="l">
              <a:spcAft>
                <a:spcPts val="600"/>
              </a:spcAft>
            </a:pPr>
            <a:r>
              <a:rPr sz="1250" b="0" i="1">
                <a:solidFill>
                  <a:srgbClr val="131313"/>
                </a:solidFill>
                <a:latin typeface="Roboto"/>
              </a:rPr>
              <a:t>“Build a function transformations game for Algebra 2: students drag sliders to make their graph match a target curve. Auto-graded, and I want to pick the target functions myself.”</a:t>
            </a:r>
          </a:p>
        </p:txBody>
      </p:sp>
      <p:sp>
        <p:nvSpPr>
          <p:cNvPr id="254" name="TextBox 253"/>
          <p:cNvSpPr txBox="1"/>
          <p:nvPr/>
        </p:nvSpPr>
        <p:spPr>
          <a:xfrm>
            <a:off x="4846320" y="3200400"/>
            <a:ext cx="2651760" cy="731520"/>
          </a:xfrm>
          <a:prstGeom prst="rect">
            <a:avLst/>
          </a:prstGeom>
          <a:noFill/>
        </p:spPr>
        <p:txBody>
          <a:bodyPr wrap="square" anchor="t" lIns="0" rIns="0" tIns="0" bIns="0">
            <a:spAutoFit/>
          </a:bodyPr>
          <a:lstStyle/>
          <a:p>
            <a:pPr algn="l">
              <a:spcAft>
                <a:spcPts val="600"/>
              </a:spcAft>
            </a:pPr>
            <a:r>
              <a:rPr sz="1100" b="0" i="0">
                <a:solidFill>
                  <a:srgbClr val="1B3168"/>
                </a:solidFill>
                <a:latin typeface="Roboto"/>
              </a:rPr>
              <a:t>The AI also built the settings page where the teacher picks the targets.</a:t>
            </a:r>
          </a:p>
        </p:txBody>
      </p:sp>
      <p:sp>
        <p:nvSpPr>
          <p:cNvPr id="255" name="Rounded Rectangle 254"/>
          <p:cNvSpPr/>
          <p:nvPr/>
        </p:nvSpPr>
        <p:spPr>
          <a:xfrm>
            <a:off x="7635240" y="3063240"/>
            <a:ext cx="960120" cy="960120"/>
          </a:xfrm>
          <a:prstGeom prst="roundRect">
            <a:avLst/>
          </a:prstGeom>
          <a:solidFill>
            <a:srgbClr val="FFFFFF"/>
          </a:solidFill>
          <a:ln w="19050">
            <a:solidFill>
              <a:srgbClr val="96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60000"/>
                </a:solidFill>
                <a:latin typeface="Roboto"/>
              </a:rPr>
              <a:t>QR code
(link coming)</a:t>
            </a:r>
          </a:p>
        </p:txBody>
      </p:sp>
      <p:pic>
        <p:nvPicPr>
          <p:cNvPr id="256" name="Picture 255" descr="graph-match-review.png"/>
          <p:cNvPicPr>
            <a:picLocks noChangeAspect="1"/>
          </p:cNvPicPr>
          <p:nvPr/>
        </p:nvPicPr>
        <p:blipFill>
          <a:blip r:embed="rId9"/>
          <a:stretch>
            <a:fillRect/>
          </a:stretch>
        </p:blipFill>
        <p:spPr>
          <a:xfrm>
            <a:off x="1783080" y="2148840"/>
            <a:ext cx="2926080" cy="1943100"/>
          </a:xfrm>
          <a:prstGeom prst="rect">
            <a:avLst/>
          </a:prstGeom>
          <a:ln w="12700">
            <a:solidFill>
              <a:srgbClr val="1B3168"/>
            </a:solidFill>
          </a:ln>
        </p:spPr>
      </p:pic>
      <p:sp>
        <p:nvSpPr>
          <p:cNvPr id="257" name="Rounded Rectangle 256"/>
          <p:cNvSpPr/>
          <p:nvPr/>
        </p:nvSpPr>
        <p:spPr>
          <a:xfrm>
            <a:off x="1783080" y="1847088"/>
            <a:ext cx="233172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Roboto"/>
              </a:rPr>
              <a:t>What the teacher sees in SpeedGrader</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56"/>
                                        </p:tgtEl>
                                        <p:attrNameLst>
                                          <p:attrName>style.visibility</p:attrName>
                                        </p:attrNameLst>
                                      </p:cBhvr>
                                      <p:to>
                                        <p:strVal val="visible"/>
                                      </p:to>
                                    </p:set>
                                    <p:animEffect transition="in" filter="fade">
                                      <p:cBhvr>
                                        <p:cTn id="5" dur="500"/>
                                        <p:tgtEl>
                                          <p:spTgt spid="256"/>
                                        </p:tgtEl>
                                      </p:cBhvr>
                                    </p:animEffect>
                                  </p:childTnLst>
                                </p:cTn>
                              </p:par>
                              <p:par>
                                <p:cTn id="6" presetID="10" presetClass="entr" presetSubtype="0" fill="hold" nodeType="withEffect">
                                  <p:stCondLst>
                                    <p:cond delay="0"/>
                                  </p:stCondLst>
                                  <p:childTnLst>
                                    <p:set>
                                      <p:cBhvr>
                                        <p:cTn id="7" dur="1" fill="hold">
                                          <p:stCondLst>
                                            <p:cond delay="0"/>
                                          </p:stCondLst>
                                        </p:cTn>
                                        <p:tgtEl>
                                          <p:spTgt spid="257"/>
                                        </p:tgtEl>
                                        <p:attrNameLst>
                                          <p:attrName>style.visibility</p:attrName>
                                        </p:attrNameLst>
                                      </p:cBhvr>
                                      <p:to>
                                        <p:strVal val="visible"/>
                                      </p:to>
                                    </p:set>
                                    <p:animEffect transition="in" filter="fade">
                                      <p:cBhvr>
                                        <p:cTn id="8"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40"/>
          <p:cNvGrpSpPr/>
          <p:nvPr/>
        </p:nvGrpSpPr>
        <p:grpSpPr>
          <a:xfrm>
            <a:off x="7704129" y="4183226"/>
            <a:ext cx="915496" cy="471026"/>
            <a:chOff x="61924" y="79616"/>
            <a:chExt cx="2441323" cy="1256068"/>
          </a:xfrm>
        </p:grpSpPr>
        <p:sp>
          <p:nvSpPr>
            <p:cNvPr id="233" name="Google Shape;233;p40"/>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34" name="Google Shape;234;p40"/>
            <p:cNvPicPr preferRelativeResize="0"/>
            <p:nvPr/>
          </p:nvPicPr>
          <p:blipFill rotWithShape="1">
            <a:blip r:embed="rId3">
              <a:alphaModFix/>
            </a:blip>
            <a:srcRect b="0" l="0" r="0" t="0"/>
            <a:stretch/>
          </p:blipFill>
          <p:spPr>
            <a:xfrm>
              <a:off x="1328489" y="190500"/>
              <a:ext cx="1034400" cy="1034400"/>
            </a:xfrm>
            <a:prstGeom prst="rect">
              <a:avLst/>
            </a:prstGeom>
            <a:noFill/>
            <a:ln>
              <a:noFill/>
            </a:ln>
          </p:spPr>
        </p:pic>
      </p:grpSp>
      <p:pic>
        <p:nvPicPr>
          <p:cNvPr id="235" name="Google Shape;235;p40"/>
          <p:cNvPicPr preferRelativeResize="0"/>
          <p:nvPr/>
        </p:nvPicPr>
        <p:blipFill rotWithShape="1">
          <a:blip r:embed="rId4">
            <a:alphaModFix/>
          </a:blip>
          <a:srcRect b="0" l="0" r="0" t="0"/>
          <a:stretch/>
        </p:blipFill>
        <p:spPr>
          <a:xfrm>
            <a:off x="8236813" y="4282529"/>
            <a:ext cx="272458" cy="272458"/>
          </a:xfrm>
          <a:prstGeom prst="rect">
            <a:avLst/>
          </a:prstGeom>
          <a:noFill/>
          <a:ln>
            <a:noFill/>
          </a:ln>
        </p:spPr>
      </p:pic>
      <p:pic>
        <p:nvPicPr>
          <p:cNvPr id="236" name="Google Shape;236;p40"/>
          <p:cNvPicPr preferRelativeResize="0"/>
          <p:nvPr/>
        </p:nvPicPr>
        <p:blipFill rotWithShape="1">
          <a:blip r:embed="rId5">
            <a:alphaModFix/>
          </a:blip>
          <a:srcRect b="0" l="0" r="0" t="0"/>
          <a:stretch/>
        </p:blipFill>
        <p:spPr>
          <a:xfrm rot="-5400000">
            <a:off x="-950519" y="1378208"/>
            <a:ext cx="3802074" cy="1901037"/>
          </a:xfrm>
          <a:prstGeom prst="rect">
            <a:avLst/>
          </a:prstGeom>
          <a:noFill/>
          <a:ln>
            <a:noFill/>
          </a:ln>
        </p:spPr>
      </p:pic>
      <p:sp>
        <p:nvSpPr>
          <p:cNvPr id="237" name="Google Shape;237;p40"/>
          <p:cNvSpPr/>
          <p:nvPr/>
        </p:nvSpPr>
        <p:spPr>
          <a:xfrm>
            <a:off x="3245525" y="574000"/>
            <a:ext cx="1374000" cy="1344900"/>
          </a:xfrm>
          <a:prstGeom prst="donut">
            <a:avLst>
              <a:gd fmla="val 13443" name="adj"/>
            </a:avLst>
          </a:prstGeom>
          <a:solidFill>
            <a:srgbClr val="25AFFA"/>
          </a:solidFill>
          <a:ln cap="flat" cmpd="sng" w="9525">
            <a:solidFill>
              <a:srgbClr val="25AF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40"/>
          <p:cNvPicPr preferRelativeResize="0"/>
          <p:nvPr/>
        </p:nvPicPr>
        <p:blipFill rotWithShape="1">
          <a:blip r:embed="rId3">
            <a:alphaModFix/>
          </a:blip>
          <a:srcRect b="0" l="0" r="0" t="0"/>
          <a:stretch/>
        </p:blipFill>
        <p:spPr>
          <a:xfrm>
            <a:off x="2734257" y="4035814"/>
            <a:ext cx="377988" cy="377988"/>
          </a:xfrm>
          <a:prstGeom prst="rect">
            <a:avLst/>
          </a:prstGeom>
          <a:noFill/>
          <a:ln>
            <a:noFill/>
          </a:ln>
        </p:spPr>
      </p:pic>
      <p:pic>
        <p:nvPicPr>
          <p:cNvPr id="245" name="Google Shape;245;p40"/>
          <p:cNvPicPr preferRelativeResize="0"/>
          <p:nvPr/>
        </p:nvPicPr>
        <p:blipFill rotWithShape="1">
          <a:blip r:embed="rId7">
            <a:alphaModFix/>
          </a:blip>
          <a:srcRect b="0" l="0" r="0" t="0"/>
          <a:stretch/>
        </p:blipFill>
        <p:spPr>
          <a:xfrm rot="10800000">
            <a:off x="1249432" y="4754283"/>
            <a:ext cx="778434" cy="389218"/>
          </a:xfrm>
          <a:prstGeom prst="rect">
            <a:avLst/>
          </a:prstGeom>
          <a:noFill/>
          <a:ln>
            <a:noFill/>
          </a:ln>
        </p:spPr>
      </p:pic>
      <p:pic>
        <p:nvPicPr>
          <p:cNvPr id="249" name="Google Shape;249;p40"/>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pic>
        <p:nvPicPr>
          <p:cNvPr id="250" name="Picture 249" descr="sketch-label-desktop.png"/>
          <p:cNvPicPr>
            <a:picLocks noChangeAspect="1"/>
          </p:cNvPicPr>
          <p:nvPr/>
        </p:nvPicPr>
        <p:blipFill>
          <a:blip r:embed="rId2"/>
          <a:stretch>
            <a:fillRect/>
          </a:stretch>
        </p:blipFill>
        <p:spPr>
          <a:xfrm>
            <a:off x="228600" y="767238"/>
            <a:ext cx="4023360" cy="2671762"/>
          </a:xfrm>
          <a:prstGeom prst="rect">
            <a:avLst/>
          </a:prstGeom>
          <a:ln w="12700">
            <a:solidFill>
              <a:srgbClr val="CCCCCC"/>
            </a:solidFill>
          </a:ln>
        </p:spPr>
      </p:pic>
      <p:sp>
        <p:nvSpPr>
          <p:cNvPr id="251" name="TextBox 250"/>
          <p:cNvSpPr txBox="1"/>
          <p:nvPr/>
        </p:nvSpPr>
        <p:spPr>
          <a:xfrm>
            <a:off x="4846320" y="411480"/>
            <a:ext cx="3840480" cy="502920"/>
          </a:xfrm>
          <a:prstGeom prst="rect">
            <a:avLst/>
          </a:prstGeom>
          <a:noFill/>
        </p:spPr>
        <p:txBody>
          <a:bodyPr wrap="square" anchor="t" lIns="0" rIns="0" tIns="0" bIns="0">
            <a:spAutoFit/>
          </a:bodyPr>
          <a:lstStyle/>
          <a:p>
            <a:pPr algn="l">
              <a:spcAft>
                <a:spcPts val="0"/>
              </a:spcAft>
            </a:pPr>
            <a:r>
              <a:rPr sz="2600" b="1" i="0">
                <a:solidFill>
                  <a:srgbClr val="131313"/>
                </a:solidFill>
                <a:latin typeface="League Spartan"/>
              </a:rPr>
              <a:t>Sketch &amp; Label</a:t>
            </a:r>
          </a:p>
        </p:txBody>
      </p:sp>
      <p:sp>
        <p:nvSpPr>
          <p:cNvPr id="252" name="TextBox 251"/>
          <p:cNvSpPr txBox="1"/>
          <p:nvPr/>
        </p:nvSpPr>
        <p:spPr>
          <a:xfrm>
            <a:off x="4846320" y="914400"/>
            <a:ext cx="3840480" cy="274320"/>
          </a:xfrm>
          <a:prstGeom prst="rect">
            <a:avLst/>
          </a:prstGeom>
          <a:noFill/>
        </p:spPr>
        <p:txBody>
          <a:bodyPr wrap="square" anchor="t" lIns="0" rIns="0" tIns="0" bIns="0">
            <a:spAutoFit/>
          </a:bodyPr>
          <a:lstStyle/>
          <a:p>
            <a:pPr algn="l">
              <a:spcAft>
                <a:spcPts val="600"/>
              </a:spcAft>
            </a:pPr>
            <a:r>
              <a:rPr sz="1100" b="1" i="0">
                <a:solidFill>
                  <a:srgbClr val="960000"/>
                </a:solidFill>
                <a:latin typeface="Roboto"/>
              </a:rPr>
              <a:t>Life Science  |  Teacher-graded</a:t>
            </a:r>
          </a:p>
        </p:txBody>
      </p:sp>
      <p:sp>
        <p:nvSpPr>
          <p:cNvPr id="253" name="TextBox 252"/>
          <p:cNvSpPr txBox="1"/>
          <p:nvPr/>
        </p:nvSpPr>
        <p:spPr>
          <a:xfrm>
            <a:off x="4846320" y="1325880"/>
            <a:ext cx="3794760" cy="1828800"/>
          </a:xfrm>
          <a:prstGeom prst="rect">
            <a:avLst/>
          </a:prstGeom>
          <a:noFill/>
        </p:spPr>
        <p:txBody>
          <a:bodyPr wrap="square" anchor="t" lIns="0" rIns="0" tIns="0" bIns="0">
            <a:spAutoFit/>
          </a:bodyPr>
          <a:lstStyle/>
          <a:p>
            <a:pPr algn="l">
              <a:spcAft>
                <a:spcPts val="300"/>
              </a:spcAft>
            </a:pPr>
            <a:r>
              <a:rPr sz="1000" b="1" i="0">
                <a:solidFill>
                  <a:srgbClr val="605F5E"/>
                </a:solidFill>
                <a:latin typeface="Roboto"/>
              </a:rPr>
              <a:t>The prompt</a:t>
            </a:r>
          </a:p>
          <a:p>
            <a:pPr algn="l">
              <a:spcAft>
                <a:spcPts val="600"/>
              </a:spcAft>
            </a:pPr>
            <a:r>
              <a:rPr sz="1150" b="0" i="1">
                <a:solidFill>
                  <a:srgbClr val="131313"/>
                </a:solidFill>
                <a:latin typeface="Roboto"/>
              </a:rPr>
              <a:t>“Students label a plant cell by drawing arrows and writing the names of the parts right on the diagram, then explain in a sentence what the chloroplast does. I’ll grade it myself, and in SpeedGrader I want to see their drawing and watch how they drew it.”</a:t>
            </a:r>
          </a:p>
        </p:txBody>
      </p:sp>
      <p:sp>
        <p:nvSpPr>
          <p:cNvPr id="254" name="TextBox 253"/>
          <p:cNvSpPr txBox="1"/>
          <p:nvPr/>
        </p:nvSpPr>
        <p:spPr>
          <a:xfrm>
            <a:off x="4846320" y="3200400"/>
            <a:ext cx="2651760" cy="731520"/>
          </a:xfrm>
          <a:prstGeom prst="rect">
            <a:avLst/>
          </a:prstGeom>
          <a:noFill/>
        </p:spPr>
        <p:txBody>
          <a:bodyPr wrap="square" anchor="t" lIns="0" rIns="0" tIns="0" bIns="0">
            <a:spAutoFit/>
          </a:bodyPr>
          <a:lstStyle/>
          <a:p>
            <a:pPr algn="l">
              <a:spcAft>
                <a:spcPts val="600"/>
              </a:spcAft>
            </a:pPr>
            <a:r>
              <a:rPr sz="1100" b="0" i="0">
                <a:solidFill>
                  <a:srgbClr val="1B3168"/>
                </a:solidFill>
                <a:latin typeface="Roboto"/>
              </a:rPr>
              <a:t>Students can draw with a finger on a phone or tablet.</a:t>
            </a:r>
          </a:p>
        </p:txBody>
      </p:sp>
      <p:sp>
        <p:nvSpPr>
          <p:cNvPr id="255" name="Rounded Rectangle 254"/>
          <p:cNvSpPr/>
          <p:nvPr/>
        </p:nvSpPr>
        <p:spPr>
          <a:xfrm>
            <a:off x="7635240" y="3063240"/>
            <a:ext cx="960120" cy="960120"/>
          </a:xfrm>
          <a:prstGeom prst="roundRect">
            <a:avLst/>
          </a:prstGeom>
          <a:solidFill>
            <a:srgbClr val="FFFFFF"/>
          </a:solidFill>
          <a:ln w="19050">
            <a:solidFill>
              <a:srgbClr val="96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60000"/>
                </a:solidFill>
                <a:latin typeface="Roboto"/>
              </a:rPr>
              <a:t>QR code
(link coming)</a:t>
            </a:r>
          </a:p>
        </p:txBody>
      </p:sp>
      <p:pic>
        <p:nvPicPr>
          <p:cNvPr id="256" name="Picture 255" descr="sketch-label-review.png"/>
          <p:cNvPicPr>
            <a:picLocks noChangeAspect="1"/>
          </p:cNvPicPr>
          <p:nvPr/>
        </p:nvPicPr>
        <p:blipFill>
          <a:blip r:embed="rId9"/>
          <a:stretch>
            <a:fillRect/>
          </a:stretch>
        </p:blipFill>
        <p:spPr>
          <a:xfrm>
            <a:off x="1783080" y="2148840"/>
            <a:ext cx="2926080" cy="1943100"/>
          </a:xfrm>
          <a:prstGeom prst="rect">
            <a:avLst/>
          </a:prstGeom>
          <a:ln w="12700">
            <a:solidFill>
              <a:srgbClr val="1B3168"/>
            </a:solidFill>
          </a:ln>
        </p:spPr>
      </p:pic>
      <p:sp>
        <p:nvSpPr>
          <p:cNvPr id="257" name="Rounded Rectangle 256"/>
          <p:cNvSpPr/>
          <p:nvPr/>
        </p:nvSpPr>
        <p:spPr>
          <a:xfrm>
            <a:off x="1783080" y="1847088"/>
            <a:ext cx="233172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Roboto"/>
              </a:rPr>
              <a:t>What the teacher sees in SpeedGrader</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56"/>
                                        </p:tgtEl>
                                        <p:attrNameLst>
                                          <p:attrName>style.visibility</p:attrName>
                                        </p:attrNameLst>
                                      </p:cBhvr>
                                      <p:to>
                                        <p:strVal val="visible"/>
                                      </p:to>
                                    </p:set>
                                    <p:animEffect transition="in" filter="fade">
                                      <p:cBhvr>
                                        <p:cTn id="5" dur="500"/>
                                        <p:tgtEl>
                                          <p:spTgt spid="256"/>
                                        </p:tgtEl>
                                      </p:cBhvr>
                                    </p:animEffect>
                                  </p:childTnLst>
                                </p:cTn>
                              </p:par>
                              <p:par>
                                <p:cTn id="6" presetID="10" presetClass="entr" presetSubtype="0" fill="hold" nodeType="withEffect">
                                  <p:stCondLst>
                                    <p:cond delay="0"/>
                                  </p:stCondLst>
                                  <p:childTnLst>
                                    <p:set>
                                      <p:cBhvr>
                                        <p:cTn id="7" dur="1" fill="hold">
                                          <p:stCondLst>
                                            <p:cond delay="0"/>
                                          </p:stCondLst>
                                        </p:cTn>
                                        <p:tgtEl>
                                          <p:spTgt spid="257"/>
                                        </p:tgtEl>
                                        <p:attrNameLst>
                                          <p:attrName>style.visibility</p:attrName>
                                        </p:attrNameLst>
                                      </p:cBhvr>
                                      <p:to>
                                        <p:strVal val="visible"/>
                                      </p:to>
                                    </p:set>
                                    <p:animEffect transition="in" filter="fade">
                                      <p:cBhvr>
                                        <p:cTn id="8"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40"/>
          <p:cNvGrpSpPr/>
          <p:nvPr/>
        </p:nvGrpSpPr>
        <p:grpSpPr>
          <a:xfrm>
            <a:off x="7704129" y="4183226"/>
            <a:ext cx="915496" cy="471026"/>
            <a:chOff x="61924" y="79616"/>
            <a:chExt cx="2441323" cy="1256068"/>
          </a:xfrm>
        </p:grpSpPr>
        <p:sp>
          <p:nvSpPr>
            <p:cNvPr id="233" name="Google Shape;233;p40"/>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34" name="Google Shape;234;p40"/>
            <p:cNvPicPr preferRelativeResize="0"/>
            <p:nvPr/>
          </p:nvPicPr>
          <p:blipFill rotWithShape="1">
            <a:blip r:embed="rId3">
              <a:alphaModFix/>
            </a:blip>
            <a:srcRect b="0" l="0" r="0" t="0"/>
            <a:stretch/>
          </p:blipFill>
          <p:spPr>
            <a:xfrm>
              <a:off x="1328489" y="190500"/>
              <a:ext cx="1034400" cy="1034400"/>
            </a:xfrm>
            <a:prstGeom prst="rect">
              <a:avLst/>
            </a:prstGeom>
            <a:noFill/>
            <a:ln>
              <a:noFill/>
            </a:ln>
          </p:spPr>
        </p:pic>
      </p:grpSp>
      <p:pic>
        <p:nvPicPr>
          <p:cNvPr id="235" name="Google Shape;235;p40"/>
          <p:cNvPicPr preferRelativeResize="0"/>
          <p:nvPr/>
        </p:nvPicPr>
        <p:blipFill rotWithShape="1">
          <a:blip r:embed="rId4">
            <a:alphaModFix/>
          </a:blip>
          <a:srcRect b="0" l="0" r="0" t="0"/>
          <a:stretch/>
        </p:blipFill>
        <p:spPr>
          <a:xfrm>
            <a:off x="8236813" y="4282529"/>
            <a:ext cx="272458" cy="272458"/>
          </a:xfrm>
          <a:prstGeom prst="rect">
            <a:avLst/>
          </a:prstGeom>
          <a:noFill/>
          <a:ln>
            <a:noFill/>
          </a:ln>
        </p:spPr>
      </p:pic>
      <p:pic>
        <p:nvPicPr>
          <p:cNvPr id="236" name="Google Shape;236;p40"/>
          <p:cNvPicPr preferRelativeResize="0"/>
          <p:nvPr/>
        </p:nvPicPr>
        <p:blipFill rotWithShape="1">
          <a:blip r:embed="rId5">
            <a:alphaModFix/>
          </a:blip>
          <a:srcRect b="0" l="0" r="0" t="0"/>
          <a:stretch/>
        </p:blipFill>
        <p:spPr>
          <a:xfrm rot="-5400000">
            <a:off x="-950519" y="1378208"/>
            <a:ext cx="3802074" cy="1901037"/>
          </a:xfrm>
          <a:prstGeom prst="rect">
            <a:avLst/>
          </a:prstGeom>
          <a:noFill/>
          <a:ln>
            <a:noFill/>
          </a:ln>
        </p:spPr>
      </p:pic>
      <p:sp>
        <p:nvSpPr>
          <p:cNvPr id="237" name="Google Shape;237;p40"/>
          <p:cNvSpPr/>
          <p:nvPr/>
        </p:nvSpPr>
        <p:spPr>
          <a:xfrm>
            <a:off x="3245525" y="574000"/>
            <a:ext cx="1374000" cy="1344900"/>
          </a:xfrm>
          <a:prstGeom prst="donut">
            <a:avLst>
              <a:gd fmla="val 13443" name="adj"/>
            </a:avLst>
          </a:prstGeom>
          <a:solidFill>
            <a:srgbClr val="25AFFA"/>
          </a:solidFill>
          <a:ln cap="flat" cmpd="sng" w="9525">
            <a:solidFill>
              <a:srgbClr val="25AF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40"/>
          <p:cNvPicPr preferRelativeResize="0"/>
          <p:nvPr/>
        </p:nvPicPr>
        <p:blipFill rotWithShape="1">
          <a:blip r:embed="rId3">
            <a:alphaModFix/>
          </a:blip>
          <a:srcRect b="0" l="0" r="0" t="0"/>
          <a:stretch/>
        </p:blipFill>
        <p:spPr>
          <a:xfrm>
            <a:off x="2734257" y="4035814"/>
            <a:ext cx="377988" cy="377988"/>
          </a:xfrm>
          <a:prstGeom prst="rect">
            <a:avLst/>
          </a:prstGeom>
          <a:noFill/>
          <a:ln>
            <a:noFill/>
          </a:ln>
        </p:spPr>
      </p:pic>
      <p:pic>
        <p:nvPicPr>
          <p:cNvPr id="245" name="Google Shape;245;p40"/>
          <p:cNvPicPr preferRelativeResize="0"/>
          <p:nvPr/>
        </p:nvPicPr>
        <p:blipFill rotWithShape="1">
          <a:blip r:embed="rId7">
            <a:alphaModFix/>
          </a:blip>
          <a:srcRect b="0" l="0" r="0" t="0"/>
          <a:stretch/>
        </p:blipFill>
        <p:spPr>
          <a:xfrm rot="10800000">
            <a:off x="1249432" y="4754283"/>
            <a:ext cx="778434" cy="389218"/>
          </a:xfrm>
          <a:prstGeom prst="rect">
            <a:avLst/>
          </a:prstGeom>
          <a:noFill/>
          <a:ln>
            <a:noFill/>
          </a:ln>
        </p:spPr>
      </p:pic>
      <p:pic>
        <p:nvPicPr>
          <p:cNvPr id="249" name="Google Shape;249;p40"/>
          <p:cNvPicPr preferRelativeResize="0"/>
          <p:nvPr/>
        </p:nvPicPr>
        <p:blipFill rotWithShape="1">
          <a:blip r:embed="rId8">
            <a:alphaModFix/>
          </a:blip>
          <a:srcRect b="0" l="0" r="0" t="0"/>
          <a:stretch/>
        </p:blipFill>
        <p:spPr>
          <a:xfrm>
            <a:off x="79132" y="4418758"/>
            <a:ext cx="1078263" cy="653248"/>
          </a:xfrm>
          <a:prstGeom prst="rect">
            <a:avLst/>
          </a:prstGeom>
          <a:noFill/>
          <a:ln>
            <a:noFill/>
          </a:ln>
        </p:spPr>
      </p:pic>
      <p:pic>
        <p:nvPicPr>
          <p:cNvPr id="250" name="Picture 249" descr="escape-the-archive-desktop.png"/>
          <p:cNvPicPr>
            <a:picLocks noChangeAspect="1"/>
          </p:cNvPicPr>
          <p:nvPr/>
        </p:nvPicPr>
        <p:blipFill>
          <a:blip r:embed="rId2"/>
          <a:stretch>
            <a:fillRect/>
          </a:stretch>
        </p:blipFill>
        <p:spPr>
          <a:xfrm>
            <a:off x="228600" y="767238"/>
            <a:ext cx="4023360" cy="2671762"/>
          </a:xfrm>
          <a:prstGeom prst="rect">
            <a:avLst/>
          </a:prstGeom>
          <a:ln w="12700">
            <a:solidFill>
              <a:srgbClr val="CCCCCC"/>
            </a:solidFill>
          </a:ln>
        </p:spPr>
      </p:pic>
      <p:sp>
        <p:nvSpPr>
          <p:cNvPr id="251" name="TextBox 250"/>
          <p:cNvSpPr txBox="1"/>
          <p:nvPr/>
        </p:nvSpPr>
        <p:spPr>
          <a:xfrm>
            <a:off x="4846320" y="411480"/>
            <a:ext cx="3840480" cy="502920"/>
          </a:xfrm>
          <a:prstGeom prst="rect">
            <a:avLst/>
          </a:prstGeom>
          <a:noFill/>
        </p:spPr>
        <p:txBody>
          <a:bodyPr wrap="square" anchor="t" lIns="0" rIns="0" tIns="0" bIns="0">
            <a:spAutoFit/>
          </a:bodyPr>
          <a:lstStyle/>
          <a:p>
            <a:pPr algn="l">
              <a:spcAft>
                <a:spcPts val="0"/>
              </a:spcAft>
            </a:pPr>
            <a:r>
              <a:rPr sz="2600" b="1" i="0">
                <a:solidFill>
                  <a:srgbClr val="131313"/>
                </a:solidFill>
                <a:latin typeface="League Spartan"/>
              </a:rPr>
              <a:t>Escape the Archive</a:t>
            </a:r>
          </a:p>
        </p:txBody>
      </p:sp>
      <p:sp>
        <p:nvSpPr>
          <p:cNvPr id="252" name="TextBox 251"/>
          <p:cNvSpPr txBox="1"/>
          <p:nvPr/>
        </p:nvSpPr>
        <p:spPr>
          <a:xfrm>
            <a:off x="4846320" y="914400"/>
            <a:ext cx="3840480" cy="274320"/>
          </a:xfrm>
          <a:prstGeom prst="rect">
            <a:avLst/>
          </a:prstGeom>
          <a:noFill/>
        </p:spPr>
        <p:txBody>
          <a:bodyPr wrap="square" anchor="t" lIns="0" rIns="0" tIns="0" bIns="0">
            <a:spAutoFit/>
          </a:bodyPr>
          <a:lstStyle/>
          <a:p>
            <a:pPr algn="l">
              <a:spcAft>
                <a:spcPts val="600"/>
              </a:spcAft>
            </a:pPr>
            <a:r>
              <a:rPr sz="1100" b="1" i="0">
                <a:solidFill>
                  <a:srgbClr val="960000"/>
                </a:solidFill>
                <a:latin typeface="Roboto"/>
              </a:rPr>
              <a:t>U.S. History  |  Auto-graded</a:t>
            </a:r>
          </a:p>
        </p:txBody>
      </p:sp>
      <p:sp>
        <p:nvSpPr>
          <p:cNvPr id="253" name="TextBox 252"/>
          <p:cNvSpPr txBox="1"/>
          <p:nvPr/>
        </p:nvSpPr>
        <p:spPr>
          <a:xfrm>
            <a:off x="4846320" y="1325880"/>
            <a:ext cx="3794760" cy="1828800"/>
          </a:xfrm>
          <a:prstGeom prst="rect">
            <a:avLst/>
          </a:prstGeom>
          <a:noFill/>
        </p:spPr>
        <p:txBody>
          <a:bodyPr wrap="square" anchor="t" lIns="0" rIns="0" tIns="0" bIns="0">
            <a:spAutoFit/>
          </a:bodyPr>
          <a:lstStyle/>
          <a:p>
            <a:pPr algn="l">
              <a:spcAft>
                <a:spcPts val="300"/>
              </a:spcAft>
            </a:pPr>
            <a:r>
              <a:rPr sz="1000" b="1" i="0">
                <a:solidFill>
                  <a:srgbClr val="605F5E"/>
                </a:solidFill>
                <a:latin typeface="Roboto"/>
              </a:rPr>
              <a:t>The prompt</a:t>
            </a:r>
          </a:p>
          <a:p>
            <a:pPr algn="l">
              <a:spcAft>
                <a:spcPts val="600"/>
              </a:spcAft>
            </a:pPr>
            <a:r>
              <a:rPr sz="1250" b="0" i="1">
                <a:solidFill>
                  <a:srgbClr val="131313"/>
                </a:solidFill>
                <a:latin typeface="Roboto"/>
              </a:rPr>
              <a:t>“Create a digital escape room for U.S. History where students unlock four locks using clues from primary sources, one of them about the Little Rock Nine. Auto-graded, with hints I can turn off.”</a:t>
            </a:r>
          </a:p>
        </p:txBody>
      </p:sp>
      <p:sp>
        <p:nvSpPr>
          <p:cNvPr id="254" name="TextBox 253"/>
          <p:cNvSpPr txBox="1"/>
          <p:nvPr/>
        </p:nvSpPr>
        <p:spPr>
          <a:xfrm>
            <a:off x="4846320" y="3200400"/>
            <a:ext cx="2651760" cy="731520"/>
          </a:xfrm>
          <a:prstGeom prst="rect">
            <a:avLst/>
          </a:prstGeom>
          <a:noFill/>
        </p:spPr>
        <p:txBody>
          <a:bodyPr wrap="square" anchor="t" lIns="0" rIns="0" tIns="0" bIns="0">
            <a:spAutoFit/>
          </a:bodyPr>
          <a:lstStyle/>
          <a:p>
            <a:pPr algn="l">
              <a:spcAft>
                <a:spcPts val="600"/>
              </a:spcAft>
            </a:pPr>
            <a:r>
              <a:rPr sz="1100" b="0" i="0">
                <a:solidFill>
                  <a:srgbClr val="1B3168"/>
                </a:solidFill>
                <a:latin typeface="Roboto"/>
              </a:rPr>
              <a:t>Hints cost points. The teacher can turn them off or set a time limit.</a:t>
            </a:r>
          </a:p>
        </p:txBody>
      </p:sp>
      <p:sp>
        <p:nvSpPr>
          <p:cNvPr id="255" name="Rounded Rectangle 254"/>
          <p:cNvSpPr/>
          <p:nvPr/>
        </p:nvSpPr>
        <p:spPr>
          <a:xfrm>
            <a:off x="7635240" y="3063240"/>
            <a:ext cx="960120" cy="960120"/>
          </a:xfrm>
          <a:prstGeom prst="roundRect">
            <a:avLst/>
          </a:prstGeom>
          <a:solidFill>
            <a:srgbClr val="FFFFFF"/>
          </a:solidFill>
          <a:ln w="19050">
            <a:solidFill>
              <a:srgbClr val="96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60000"/>
                </a:solidFill>
                <a:latin typeface="Roboto"/>
              </a:rPr>
              <a:t>QR code
(link coming)</a:t>
            </a:r>
          </a:p>
        </p:txBody>
      </p:sp>
      <p:pic>
        <p:nvPicPr>
          <p:cNvPr id="256" name="Picture 255" descr="escape-the-archive-review.png"/>
          <p:cNvPicPr>
            <a:picLocks noChangeAspect="1"/>
          </p:cNvPicPr>
          <p:nvPr/>
        </p:nvPicPr>
        <p:blipFill>
          <a:blip r:embed="rId9"/>
          <a:stretch>
            <a:fillRect/>
          </a:stretch>
        </p:blipFill>
        <p:spPr>
          <a:xfrm>
            <a:off x="1783080" y="2148840"/>
            <a:ext cx="2926080" cy="1943100"/>
          </a:xfrm>
          <a:prstGeom prst="rect">
            <a:avLst/>
          </a:prstGeom>
          <a:ln w="12700">
            <a:solidFill>
              <a:srgbClr val="1B3168"/>
            </a:solidFill>
          </a:ln>
        </p:spPr>
      </p:pic>
      <p:sp>
        <p:nvSpPr>
          <p:cNvPr id="257" name="Rounded Rectangle 256"/>
          <p:cNvSpPr/>
          <p:nvPr/>
        </p:nvSpPr>
        <p:spPr>
          <a:xfrm>
            <a:off x="1783080" y="1847088"/>
            <a:ext cx="2331720" cy="274320"/>
          </a:xfrm>
          <a:prstGeom prst="roundRect">
            <a:avLst/>
          </a:prstGeom>
          <a:solidFill>
            <a:srgbClr val="1B316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50" b="1">
                <a:solidFill>
                  <a:srgbClr val="FFFFFF"/>
                </a:solidFill>
                <a:latin typeface="Roboto"/>
              </a:rPr>
              <a:t>What the teacher sees in SpeedGrader</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256"/>
                                        </p:tgtEl>
                                        <p:attrNameLst>
                                          <p:attrName>style.visibility</p:attrName>
                                        </p:attrNameLst>
                                      </p:cBhvr>
                                      <p:to>
                                        <p:strVal val="visible"/>
                                      </p:to>
                                    </p:set>
                                    <p:animEffect transition="in" filter="fade">
                                      <p:cBhvr>
                                        <p:cTn id="5" dur="500"/>
                                        <p:tgtEl>
                                          <p:spTgt spid="256"/>
                                        </p:tgtEl>
                                      </p:cBhvr>
                                    </p:animEffect>
                                  </p:childTnLst>
                                </p:cTn>
                              </p:par>
                              <p:par>
                                <p:cTn id="6" presetID="10" presetClass="entr" presetSubtype="0" fill="hold" nodeType="withEffect">
                                  <p:stCondLst>
                                    <p:cond delay="0"/>
                                  </p:stCondLst>
                                  <p:childTnLst>
                                    <p:set>
                                      <p:cBhvr>
                                        <p:cTn id="7" dur="1" fill="hold">
                                          <p:stCondLst>
                                            <p:cond delay="0"/>
                                          </p:stCondLst>
                                        </p:cTn>
                                        <p:tgtEl>
                                          <p:spTgt spid="257"/>
                                        </p:tgtEl>
                                        <p:attrNameLst>
                                          <p:attrName>style.visibility</p:attrName>
                                        </p:attrNameLst>
                                      </p:cBhvr>
                                      <p:to>
                                        <p:strVal val="visible"/>
                                      </p:to>
                                    </p:set>
                                    <p:animEffect transition="in" filter="fade">
                                      <p:cBhvr>
                                        <p:cTn id="8"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p:nvPr/>
        </p:nvSpPr>
        <p:spPr>
          <a:xfrm>
            <a:off x="0" y="4186673"/>
            <a:ext cx="9144000" cy="957000"/>
          </a:xfrm>
          <a:prstGeom prst="rect">
            <a:avLst/>
          </a:prstGeom>
          <a:solidFill>
            <a:srgbClr val="25B5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24" name="Google Shape;324;p44"/>
          <p:cNvSpPr/>
          <p:nvPr/>
        </p:nvSpPr>
        <p:spPr>
          <a:xfrm>
            <a:off x="0" y="1942211"/>
            <a:ext cx="9144000" cy="2244600"/>
          </a:xfrm>
          <a:prstGeom prst="rect">
            <a:avLst/>
          </a:prstGeom>
          <a:solidFill>
            <a:srgbClr val="000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28" name="Google Shape;328;p44"/>
          <p:cNvPicPr preferRelativeResize="0"/>
          <p:nvPr/>
        </p:nvPicPr>
        <p:blipFill rotWithShape="1">
          <a:blip r:embed="rId3">
            <a:alphaModFix/>
          </a:blip>
          <a:srcRect b="0" l="0" r="0" t="0"/>
          <a:stretch/>
        </p:blipFill>
        <p:spPr>
          <a:xfrm rot="-5400000">
            <a:off x="8155279" y="0"/>
            <a:ext cx="988721" cy="988721"/>
          </a:xfrm>
          <a:prstGeom prst="rect">
            <a:avLst/>
          </a:prstGeom>
          <a:noFill/>
          <a:ln>
            <a:noFill/>
          </a:ln>
        </p:spPr>
      </p:pic>
      <p:pic>
        <p:nvPicPr>
          <p:cNvPr id="329" name="Google Shape;329;p44"/>
          <p:cNvPicPr preferRelativeResize="0"/>
          <p:nvPr/>
        </p:nvPicPr>
        <p:blipFill rotWithShape="1">
          <a:blip r:embed="rId4">
            <a:alphaModFix/>
          </a:blip>
          <a:srcRect b="0" l="0" r="0" t="0"/>
          <a:stretch/>
        </p:blipFill>
        <p:spPr>
          <a:xfrm>
            <a:off x="8251663" y="1753217"/>
            <a:ext cx="377988" cy="377988"/>
          </a:xfrm>
          <a:prstGeom prst="rect">
            <a:avLst/>
          </a:prstGeom>
          <a:noFill/>
          <a:ln>
            <a:noFill/>
          </a:ln>
        </p:spPr>
      </p:pic>
      <p:grpSp>
        <p:nvGrpSpPr>
          <p:cNvPr id="336" name="Google Shape;336;p44"/>
          <p:cNvGrpSpPr/>
          <p:nvPr/>
        </p:nvGrpSpPr>
        <p:grpSpPr>
          <a:xfrm>
            <a:off x="7704129" y="4183226"/>
            <a:ext cx="915496" cy="471026"/>
            <a:chOff x="61924" y="79616"/>
            <a:chExt cx="2441323" cy="1256068"/>
          </a:xfrm>
        </p:grpSpPr>
        <p:sp>
          <p:nvSpPr>
            <p:cNvPr id="337" name="Google Shape;337;p44"/>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38" name="Google Shape;338;p44"/>
            <p:cNvPicPr preferRelativeResize="0"/>
            <p:nvPr/>
          </p:nvPicPr>
          <p:blipFill rotWithShape="1">
            <a:blip r:embed="rId5">
              <a:alphaModFix/>
            </a:blip>
            <a:srcRect b="0" l="0" r="0" t="0"/>
            <a:stretch/>
          </p:blipFill>
          <p:spPr>
            <a:xfrm>
              <a:off x="1328489" y="190500"/>
              <a:ext cx="1034400" cy="1034400"/>
            </a:xfrm>
            <a:prstGeom prst="rect">
              <a:avLst/>
            </a:prstGeom>
            <a:noFill/>
            <a:ln>
              <a:noFill/>
            </a:ln>
          </p:spPr>
        </p:pic>
      </p:grpSp>
      <p:pic>
        <p:nvPicPr>
          <p:cNvPr id="339" name="Google Shape;339;p44"/>
          <p:cNvPicPr preferRelativeResize="0"/>
          <p:nvPr/>
        </p:nvPicPr>
        <p:blipFill rotWithShape="1">
          <a:blip r:embed="rId6">
            <a:alphaModFix/>
          </a:blip>
          <a:srcRect b="0" l="0" r="0" t="0"/>
          <a:stretch/>
        </p:blipFill>
        <p:spPr>
          <a:xfrm>
            <a:off x="8236813" y="4282529"/>
            <a:ext cx="272458" cy="272458"/>
          </a:xfrm>
          <a:prstGeom prst="rect">
            <a:avLst/>
          </a:prstGeom>
          <a:noFill/>
          <a:ln>
            <a:noFill/>
          </a:ln>
        </p:spPr>
      </p:pic>
      <p:pic>
        <p:nvPicPr>
          <p:cNvPr id="340" name="Google Shape;340;p44"/>
          <p:cNvPicPr preferRelativeResize="0"/>
          <p:nvPr/>
        </p:nvPicPr>
        <p:blipFill rotWithShape="1">
          <a:blip r:embed="rId7">
            <a:alphaModFix/>
          </a:blip>
          <a:srcRect b="0" l="0" r="0" t="0"/>
          <a:stretch/>
        </p:blipFill>
        <p:spPr>
          <a:xfrm>
            <a:off x="79132" y="4418758"/>
            <a:ext cx="1078263" cy="653248"/>
          </a:xfrm>
          <a:prstGeom prst="rect">
            <a:avLst/>
          </a:prstGeom>
          <a:noFill/>
          <a:ln>
            <a:noFill/>
          </a:ln>
        </p:spPr>
      </p:pic>
      <p:sp>
        <p:nvSpPr>
          <p:cNvPr id="341" name="TextBox 340"/>
          <p:cNvSpPr txBox="1"/>
          <p:nvPr/>
        </p:nvSpPr>
        <p:spPr>
          <a:xfrm>
            <a:off x="512064" y="502920"/>
            <a:ext cx="6858000" cy="548640"/>
          </a:xfrm>
          <a:prstGeom prst="rect">
            <a:avLst/>
          </a:prstGeom>
          <a:noFill/>
        </p:spPr>
        <p:txBody>
          <a:bodyPr wrap="square" anchor="t" lIns="0" rIns="0" tIns="0" bIns="0">
            <a:spAutoFit/>
          </a:bodyPr>
          <a:lstStyle/>
          <a:p>
            <a:pPr algn="l">
              <a:spcAft>
                <a:spcPts val="0"/>
              </a:spcAft>
            </a:pPr>
            <a:r>
              <a:rPr sz="3000" b="1" i="0">
                <a:solidFill>
                  <a:srgbClr val="131313"/>
                </a:solidFill>
                <a:latin typeface="League Spartan"/>
              </a:rPr>
              <a:t>Why Build It Ourselves?</a:t>
            </a:r>
          </a:p>
        </p:txBody>
      </p:sp>
      <p:sp>
        <p:nvSpPr>
          <p:cNvPr id="342" name="TextBox 341"/>
          <p:cNvSpPr txBox="1"/>
          <p:nvPr/>
        </p:nvSpPr>
        <p:spPr>
          <a:xfrm>
            <a:off x="512064" y="2240280"/>
            <a:ext cx="3566160" cy="777240"/>
          </a:xfrm>
          <a:prstGeom prst="rect">
            <a:avLst/>
          </a:prstGeom>
          <a:noFill/>
        </p:spPr>
        <p:txBody>
          <a:bodyPr wrap="square" anchor="t" lIns="0" rIns="0" tIns="0" bIns="0">
            <a:spAutoFit/>
          </a:bodyPr>
          <a:lstStyle/>
          <a:p>
            <a:pPr algn="l">
              <a:spcAft>
                <a:spcPts val="200"/>
              </a:spcAft>
            </a:pPr>
            <a:r>
              <a:rPr sz="1800" b="1" i="0">
                <a:solidFill>
                  <a:srgbClr val="FFFFFF"/>
                </a:solidFill>
                <a:latin typeface="League Spartan"/>
              </a:rPr>
              <a:t>Grades inside Canvas</a:t>
            </a:r>
          </a:p>
          <a:p>
            <a:pPr algn="l">
              <a:spcAft>
                <a:spcPts val="600"/>
              </a:spcAft>
            </a:pPr>
            <a:r>
              <a:rPr sz="1200" b="0" i="0">
                <a:solidFill>
                  <a:srgbClr val="FFFFFF"/>
                </a:solidFill>
                <a:latin typeface="Roboto"/>
              </a:rPr>
              <a:t>Not in another tool</a:t>
            </a:r>
          </a:p>
        </p:txBody>
      </p:sp>
      <p:sp>
        <p:nvSpPr>
          <p:cNvPr id="343" name="TextBox 342"/>
          <p:cNvSpPr txBox="1"/>
          <p:nvPr/>
        </p:nvSpPr>
        <p:spPr>
          <a:xfrm>
            <a:off x="512064" y="3063240"/>
            <a:ext cx="3566160" cy="777240"/>
          </a:xfrm>
          <a:prstGeom prst="rect">
            <a:avLst/>
          </a:prstGeom>
          <a:noFill/>
        </p:spPr>
        <p:txBody>
          <a:bodyPr wrap="square" anchor="t" lIns="0" rIns="0" tIns="0" bIns="0">
            <a:spAutoFit/>
          </a:bodyPr>
          <a:lstStyle/>
          <a:p>
            <a:pPr algn="l">
              <a:spcAft>
                <a:spcPts val="200"/>
              </a:spcAft>
            </a:pPr>
            <a:r>
              <a:rPr sz="1800" b="1" i="0">
                <a:solidFill>
                  <a:srgbClr val="FFFFFF"/>
                </a:solidFill>
                <a:latin typeface="League Spartan"/>
              </a:rPr>
              <a:t>Our data, our server</a:t>
            </a:r>
          </a:p>
          <a:p>
            <a:pPr algn="l">
              <a:spcAft>
                <a:spcPts val="600"/>
              </a:spcAft>
            </a:pPr>
            <a:r>
              <a:rPr sz="1200" b="0" i="0">
                <a:solidFill>
                  <a:srgbClr val="FFFFFF"/>
                </a:solidFill>
                <a:latin typeface="Roboto"/>
              </a:rPr>
              <a:t>Student work stays with us</a:t>
            </a:r>
          </a:p>
        </p:txBody>
      </p:sp>
      <p:sp>
        <p:nvSpPr>
          <p:cNvPr id="344" name="TextBox 343"/>
          <p:cNvSpPr txBox="1"/>
          <p:nvPr/>
        </p:nvSpPr>
        <p:spPr>
          <a:xfrm>
            <a:off x="5157216" y="2240280"/>
            <a:ext cx="3566160" cy="777240"/>
          </a:xfrm>
          <a:prstGeom prst="rect">
            <a:avLst/>
          </a:prstGeom>
          <a:noFill/>
        </p:spPr>
        <p:txBody>
          <a:bodyPr wrap="square" anchor="t" lIns="0" rIns="0" tIns="0" bIns="0">
            <a:spAutoFit/>
          </a:bodyPr>
          <a:lstStyle/>
          <a:p>
            <a:pPr algn="l">
              <a:spcAft>
                <a:spcPts val="200"/>
              </a:spcAft>
            </a:pPr>
            <a:r>
              <a:rPr sz="1800" b="1" i="0">
                <a:solidFill>
                  <a:srgbClr val="FFFFFF"/>
                </a:solidFill>
                <a:latin typeface="League Spartan"/>
              </a:rPr>
              <a:t>No per-seat license</a:t>
            </a:r>
          </a:p>
          <a:p>
            <a:pPr algn="l">
              <a:spcAft>
                <a:spcPts val="600"/>
              </a:spcAft>
            </a:pPr>
            <a:r>
              <a:rPr sz="1200" b="0" i="0">
                <a:solidFill>
                  <a:srgbClr val="FFFFFF"/>
                </a:solidFill>
                <a:latin typeface="Roboto"/>
              </a:rPr>
              <a:t>Add students without a new contract</a:t>
            </a:r>
          </a:p>
        </p:txBody>
      </p:sp>
      <p:sp>
        <p:nvSpPr>
          <p:cNvPr id="345" name="TextBox 344"/>
          <p:cNvSpPr txBox="1"/>
          <p:nvPr/>
        </p:nvSpPr>
        <p:spPr>
          <a:xfrm>
            <a:off x="5157216" y="3063240"/>
            <a:ext cx="3566160" cy="777240"/>
          </a:xfrm>
          <a:prstGeom prst="rect">
            <a:avLst/>
          </a:prstGeom>
          <a:noFill/>
        </p:spPr>
        <p:txBody>
          <a:bodyPr wrap="square" anchor="t" lIns="0" rIns="0" tIns="0" bIns="0">
            <a:spAutoFit/>
          </a:bodyPr>
          <a:lstStyle/>
          <a:p>
            <a:pPr algn="l">
              <a:spcAft>
                <a:spcPts val="200"/>
              </a:spcAft>
            </a:pPr>
            <a:r>
              <a:rPr sz="1800" b="1" i="0">
                <a:solidFill>
                  <a:srgbClr val="FFFFFF"/>
                </a:solidFill>
                <a:latin typeface="League Spartan"/>
              </a:rPr>
              <a:t>Content needed a home</a:t>
            </a:r>
          </a:p>
          <a:p>
            <a:pPr algn="l">
              <a:spcAft>
                <a:spcPts val="600"/>
              </a:spcAft>
            </a:pPr>
            <a:r>
              <a:rPr sz="1200" b="0" i="0">
                <a:solidFill>
                  <a:srgbClr val="FFFFFF"/>
                </a:solidFill>
                <a:latin typeface="Roboto"/>
              </a:rPr>
              <a:t>We already had it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42"/>
                                        </p:tgtEl>
                                        <p:attrNameLst>
                                          <p:attrName>style.visibility</p:attrName>
                                        </p:attrNameLst>
                                      </p:cBhvr>
                                      <p:to>
                                        <p:strVal val="visible"/>
                                      </p:to>
                                    </p:set>
                                    <p:animEffect transition="in" filter="fade">
                                      <p:cBhvr>
                                        <p:cTn id="5" dur="500"/>
                                        <p:tgtEl>
                                          <p:spTgt spid="34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343"/>
                                        </p:tgtEl>
                                        <p:attrNameLst>
                                          <p:attrName>style.visibility</p:attrName>
                                        </p:attrNameLst>
                                      </p:cBhvr>
                                      <p:to>
                                        <p:strVal val="visible"/>
                                      </p:to>
                                    </p:set>
                                    <p:animEffect transition="in" filter="fade">
                                      <p:cBhvr>
                                        <p:cTn id="10" dur="500"/>
                                        <p:tgtEl>
                                          <p:spTgt spid="34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4"/>
                                        </p:tgtEl>
                                        <p:attrNameLst>
                                          <p:attrName>style.visibility</p:attrName>
                                        </p:attrNameLst>
                                      </p:cBhvr>
                                      <p:to>
                                        <p:strVal val="visible"/>
                                      </p:to>
                                    </p:set>
                                    <p:animEffect transition="in" filter="fade">
                                      <p:cBhvr>
                                        <p:cTn id="15" dur="500"/>
                                        <p:tgtEl>
                                          <p:spTgt spid="34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45"/>
                                        </p:tgtEl>
                                        <p:attrNameLst>
                                          <p:attrName>style.visibility</p:attrName>
                                        </p:attrNameLst>
                                      </p:cBhvr>
                                      <p:to>
                                        <p:strVal val="visible"/>
                                      </p:to>
                                    </p:set>
                                    <p:animEffect transition="in" filter="fade">
                                      <p:cBhvr>
                                        <p:cTn id="20" dur="5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60000"/>
        </a:solidFill>
      </p:bgPr>
    </p:bg>
    <p:spTree>
      <p:nvGrpSpPr>
        <p:cNvPr id="383" name="Shape 383"/>
        <p:cNvGrpSpPr/>
        <p:nvPr/>
      </p:nvGrpSpPr>
      <p:grpSpPr>
        <a:xfrm>
          <a:off x="0" y="0"/>
          <a:ext cx="0" cy="0"/>
          <a:chOff x="0" y="0"/>
          <a:chExt cx="0" cy="0"/>
        </a:xfrm>
      </p:grpSpPr>
      <p:pic>
        <p:nvPicPr>
          <p:cNvPr id="384" name="Google Shape;384;p46"/>
          <p:cNvPicPr preferRelativeResize="0"/>
          <p:nvPr/>
        </p:nvPicPr>
        <p:blipFill rotWithShape="1">
          <a:blip r:embed="rId3">
            <a:alphaModFix/>
          </a:blip>
          <a:srcRect b="0" l="0" r="0" t="0"/>
          <a:stretch/>
        </p:blipFill>
        <p:spPr>
          <a:xfrm flipH="1" rot="5400000">
            <a:off x="0" y="0"/>
            <a:ext cx="2481427" cy="2481427"/>
          </a:xfrm>
          <a:prstGeom prst="rect">
            <a:avLst/>
          </a:prstGeom>
          <a:noFill/>
          <a:ln>
            <a:noFill/>
          </a:ln>
        </p:spPr>
      </p:pic>
      <p:sp>
        <p:nvSpPr>
          <p:cNvPr id="385" name="Google Shape;385;p46"/>
          <p:cNvSpPr/>
          <p:nvPr/>
        </p:nvSpPr>
        <p:spPr>
          <a:xfrm>
            <a:off x="514350" y="514350"/>
            <a:ext cx="3808641" cy="4113621"/>
          </a:xfrm>
          <a:custGeom>
            <a:rect b="b" l="l" r="r" t="t"/>
            <a:pathLst>
              <a:path extrusionOk="0" h="2067146" w="1913890">
                <a:moveTo>
                  <a:pt x="1789430" y="2067146"/>
                </a:moveTo>
                <a:lnTo>
                  <a:pt x="124460" y="2067146"/>
                </a:lnTo>
                <a:cubicBezTo>
                  <a:pt x="55880" y="2067146"/>
                  <a:pt x="0" y="2011266"/>
                  <a:pt x="0" y="1942686"/>
                </a:cubicBezTo>
                <a:lnTo>
                  <a:pt x="0" y="124460"/>
                </a:lnTo>
                <a:cubicBezTo>
                  <a:pt x="0" y="55880"/>
                  <a:pt x="55880" y="0"/>
                  <a:pt x="124460" y="0"/>
                </a:cubicBezTo>
                <a:lnTo>
                  <a:pt x="1789430" y="0"/>
                </a:lnTo>
                <a:cubicBezTo>
                  <a:pt x="1858010" y="0"/>
                  <a:pt x="1913890" y="55880"/>
                  <a:pt x="1913890" y="124460"/>
                </a:cubicBezTo>
                <a:lnTo>
                  <a:pt x="1913890" y="1942686"/>
                </a:lnTo>
                <a:cubicBezTo>
                  <a:pt x="1913890" y="2011266"/>
                  <a:pt x="1858010" y="2067146"/>
                  <a:pt x="1789430" y="2067146"/>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86" name="Google Shape;386;p46"/>
          <p:cNvPicPr preferRelativeResize="0"/>
          <p:nvPr/>
        </p:nvPicPr>
        <p:blipFill rotWithShape="1">
          <a:blip r:embed="rId4">
            <a:alphaModFix/>
          </a:blip>
          <a:srcRect b="0" l="0" r="0" t="0"/>
          <a:stretch/>
        </p:blipFill>
        <p:spPr>
          <a:xfrm flipH="1" rot="-5400000">
            <a:off x="6662573" y="2662073"/>
            <a:ext cx="2481427" cy="2481427"/>
          </a:xfrm>
          <a:prstGeom prst="rect">
            <a:avLst/>
          </a:prstGeom>
          <a:noFill/>
          <a:ln>
            <a:noFill/>
          </a:ln>
        </p:spPr>
      </p:pic>
      <p:sp>
        <p:nvSpPr>
          <p:cNvPr id="387" name="Google Shape;387;p46"/>
          <p:cNvSpPr/>
          <p:nvPr/>
        </p:nvSpPr>
        <p:spPr>
          <a:xfrm>
            <a:off x="4819917" y="514350"/>
            <a:ext cx="3808641" cy="4113621"/>
          </a:xfrm>
          <a:custGeom>
            <a:rect b="b" l="l" r="r" t="t"/>
            <a:pathLst>
              <a:path extrusionOk="0" h="2067146" w="1913890">
                <a:moveTo>
                  <a:pt x="1789430" y="2067146"/>
                </a:moveTo>
                <a:lnTo>
                  <a:pt x="124460" y="2067146"/>
                </a:lnTo>
                <a:cubicBezTo>
                  <a:pt x="55880" y="2067146"/>
                  <a:pt x="0" y="2011266"/>
                  <a:pt x="0" y="1942686"/>
                </a:cubicBezTo>
                <a:lnTo>
                  <a:pt x="0" y="124460"/>
                </a:lnTo>
                <a:cubicBezTo>
                  <a:pt x="0" y="55880"/>
                  <a:pt x="55880" y="0"/>
                  <a:pt x="124460" y="0"/>
                </a:cubicBezTo>
                <a:lnTo>
                  <a:pt x="1789430" y="0"/>
                </a:lnTo>
                <a:cubicBezTo>
                  <a:pt x="1858010" y="0"/>
                  <a:pt x="1913890" y="55880"/>
                  <a:pt x="1913890" y="124460"/>
                </a:cubicBezTo>
                <a:lnTo>
                  <a:pt x="1913890" y="1942686"/>
                </a:lnTo>
                <a:cubicBezTo>
                  <a:pt x="1913890" y="2011266"/>
                  <a:pt x="1858010" y="2067146"/>
                  <a:pt x="1789430" y="2067146"/>
                </a:cubicBezTo>
                <a:close/>
              </a:path>
            </a:pathLst>
          </a:custGeom>
          <a:solidFill>
            <a:srgbClr val="1B3168"/>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98" name="Google Shape;398;p46"/>
          <p:cNvPicPr preferRelativeResize="0"/>
          <p:nvPr/>
        </p:nvPicPr>
        <p:blipFill rotWithShape="1">
          <a:blip r:embed="rId10">
            <a:alphaModFix/>
          </a:blip>
          <a:srcRect b="0" l="0" r="0" t="0"/>
          <a:stretch/>
        </p:blipFill>
        <p:spPr>
          <a:xfrm rot="5400000">
            <a:off x="0" y="3792331"/>
            <a:ext cx="1351170" cy="1351169"/>
          </a:xfrm>
          <a:prstGeom prst="rect">
            <a:avLst/>
          </a:prstGeom>
          <a:noFill/>
          <a:ln>
            <a:noFill/>
          </a:ln>
        </p:spPr>
      </p:pic>
      <p:pic>
        <p:nvPicPr>
          <p:cNvPr id="399" name="Google Shape;399;p46"/>
          <p:cNvPicPr preferRelativeResize="0"/>
          <p:nvPr/>
        </p:nvPicPr>
        <p:blipFill rotWithShape="1">
          <a:blip r:embed="rId11">
            <a:alphaModFix/>
          </a:blip>
          <a:srcRect b="0" l="0" r="0" t="0"/>
          <a:stretch/>
        </p:blipFill>
        <p:spPr>
          <a:xfrm>
            <a:off x="79132" y="4418758"/>
            <a:ext cx="1078263" cy="653248"/>
          </a:xfrm>
          <a:prstGeom prst="rect">
            <a:avLst/>
          </a:prstGeom>
          <a:noFill/>
          <a:ln>
            <a:noFill/>
          </a:ln>
        </p:spPr>
      </p:pic>
      <p:sp>
        <p:nvSpPr>
          <p:cNvPr id="400" name="TextBox 399"/>
          <p:cNvSpPr txBox="1"/>
          <p:nvPr/>
        </p:nvSpPr>
        <p:spPr>
          <a:xfrm>
            <a:off x="914400" y="868680"/>
            <a:ext cx="3063240" cy="3474720"/>
          </a:xfrm>
          <a:prstGeom prst="rect">
            <a:avLst/>
          </a:prstGeom>
          <a:noFill/>
        </p:spPr>
        <p:txBody>
          <a:bodyPr wrap="square" anchor="t" lIns="0" rIns="0" tIns="0" bIns="0">
            <a:spAutoFit/>
          </a:bodyPr>
          <a:lstStyle/>
          <a:p>
            <a:pPr algn="l">
              <a:spcAft>
                <a:spcPts val="1000"/>
              </a:spcAft>
            </a:pPr>
            <a:r>
              <a:rPr sz="2800" b="1" i="0">
                <a:solidFill>
                  <a:srgbClr val="960000"/>
                </a:solidFill>
                <a:latin typeface="League Spartan"/>
              </a:rPr>
              <a:t>One File</a:t>
            </a:r>
          </a:p>
          <a:p>
            <a:pPr algn="l">
              <a:spcAft>
                <a:spcPts val="1400"/>
              </a:spcAft>
            </a:pPr>
            <a:r>
              <a:rPr sz="1500" b="0" i="0">
                <a:solidFill>
                  <a:srgbClr val="131313"/>
                </a:solidFill>
                <a:latin typeface="Roboto"/>
              </a:rPr>
              <a:t>A zest is a single file</a:t>
            </a:r>
          </a:p>
          <a:p>
            <a:pPr algn="l">
              <a:spcAft>
                <a:spcPts val="1400"/>
              </a:spcAft>
            </a:pPr>
            <a:r>
              <a:rPr sz="1500" b="0" i="0">
                <a:solidFill>
                  <a:srgbClr val="131313"/>
                </a:solidFill>
                <a:latin typeface="Roboto"/>
              </a:rPr>
              <a:t>Any program running Zest can upload it</a:t>
            </a:r>
          </a:p>
          <a:p>
            <a:pPr algn="l">
              <a:spcAft>
                <a:spcPts val="0"/>
              </a:spcAft>
            </a:pPr>
            <a:r>
              <a:rPr sz="1500" b="0" i="0">
                <a:solidFill>
                  <a:srgbClr val="131313"/>
                </a:solidFill>
                <a:latin typeface="Roboto"/>
              </a:rPr>
              <a:t>Your keyboarding activity can be my keyboarding activity</a:t>
            </a:r>
          </a:p>
        </p:txBody>
      </p:sp>
      <p:sp>
        <p:nvSpPr>
          <p:cNvPr id="401" name="TextBox 400"/>
          <p:cNvSpPr txBox="1"/>
          <p:nvPr/>
        </p:nvSpPr>
        <p:spPr>
          <a:xfrm>
            <a:off x="5212080" y="868680"/>
            <a:ext cx="3063240" cy="3474720"/>
          </a:xfrm>
          <a:prstGeom prst="rect">
            <a:avLst/>
          </a:prstGeom>
          <a:noFill/>
        </p:spPr>
        <p:txBody>
          <a:bodyPr wrap="square" anchor="t" lIns="0" rIns="0" tIns="0" bIns="0">
            <a:spAutoFit/>
          </a:bodyPr>
          <a:lstStyle/>
          <a:p>
            <a:pPr algn="l">
              <a:spcAft>
                <a:spcPts val="1000"/>
              </a:spcAft>
            </a:pPr>
            <a:r>
              <a:rPr sz="2800" b="1" i="0">
                <a:solidFill>
                  <a:srgbClr val="25AEFA"/>
                </a:solidFill>
                <a:latin typeface="League Spartan"/>
              </a:rPr>
              <a:t>Written Down</a:t>
            </a:r>
          </a:p>
          <a:p>
            <a:pPr algn="l">
              <a:spcAft>
                <a:spcPts val="1400"/>
              </a:spcAft>
            </a:pPr>
            <a:r>
              <a:rPr sz="1500" b="0" i="0">
                <a:solidFill>
                  <a:srgbClr val="FFFFFF"/>
                </a:solidFill>
                <a:latin typeface="Roboto"/>
              </a:rPr>
              <a:t>The package format is a published specification</a:t>
            </a:r>
          </a:p>
          <a:p>
            <a:pPr algn="l">
              <a:spcAft>
                <a:spcPts val="1400"/>
              </a:spcAft>
            </a:pPr>
            <a:r>
              <a:rPr sz="1500" b="0" i="0">
                <a:solidFill>
                  <a:srgbClr val="FFFFFF"/>
                </a:solidFill>
                <a:latin typeface="Roboto"/>
              </a:rPr>
              <a:t>The zest-creator template is public</a:t>
            </a:r>
          </a:p>
          <a:p>
            <a:pPr algn="l">
              <a:spcAft>
                <a:spcPts val="0"/>
              </a:spcAft>
            </a:pPr>
            <a:r>
              <a:rPr sz="1500" b="0" i="0">
                <a:solidFill>
                  <a:srgbClr val="FFFFFF"/>
                </a:solidFill>
                <a:latin typeface="Roboto"/>
              </a:rPr>
              <a:t>Picture a shared library of gradable activities across programs</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87"/>
                                        </p:tgtEl>
                                        <p:attrNameLst>
                                          <p:attrName>style.visibility</p:attrName>
                                        </p:attrNameLst>
                                      </p:cBhvr>
                                      <p:to>
                                        <p:strVal val="visible"/>
                                      </p:to>
                                    </p:set>
                                    <p:animEffect transition="in" filter="fade">
                                      <p:cBhvr>
                                        <p:cTn id="5" dur="500"/>
                                        <p:tgtEl>
                                          <p:spTgt spid="387"/>
                                        </p:tgtEl>
                                      </p:cBhvr>
                                    </p:animEffect>
                                  </p:childTnLst>
                                </p:cTn>
                              </p:par>
                              <p:par>
                                <p:cTn id="6" presetID="10" presetClass="entr" presetSubtype="0" fill="hold" nodeType="withEffect">
                                  <p:stCondLst>
                                    <p:cond delay="0"/>
                                  </p:stCondLst>
                                  <p:childTnLst>
                                    <p:set>
                                      <p:cBhvr>
                                        <p:cTn id="7" dur="1" fill="hold">
                                          <p:stCondLst>
                                            <p:cond delay="0"/>
                                          </p:stCondLst>
                                        </p:cTn>
                                        <p:tgtEl>
                                          <p:spTgt spid="401"/>
                                        </p:tgtEl>
                                        <p:attrNameLst>
                                          <p:attrName>style.visibility</p:attrName>
                                        </p:attrNameLst>
                                      </p:cBhvr>
                                      <p:to>
                                        <p:strVal val="visible"/>
                                      </p:to>
                                    </p:set>
                                    <p:animEffect transition="in" filter="fade">
                                      <p:cBhvr>
                                        <p:cTn id="8" dur="500"/>
                                        <p:tgtEl>
                                          <p:spTgt spid="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0C0C0"/>
        </a:solidFill>
      </p:bgPr>
    </p:bg>
    <p:spTree>
      <p:nvGrpSpPr>
        <p:cNvPr id="403" name="Shape 403"/>
        <p:cNvGrpSpPr/>
        <p:nvPr/>
      </p:nvGrpSpPr>
      <p:grpSpPr>
        <a:xfrm>
          <a:off x="0" y="0"/>
          <a:ext cx="0" cy="0"/>
          <a:chOff x="0" y="0"/>
          <a:chExt cx="0" cy="0"/>
        </a:xfrm>
      </p:grpSpPr>
      <p:sp>
        <p:nvSpPr>
          <p:cNvPr id="404" name="Google Shape;404;p47"/>
          <p:cNvSpPr/>
          <p:nvPr/>
        </p:nvSpPr>
        <p:spPr>
          <a:xfrm>
            <a:off x="0" y="0"/>
            <a:ext cx="3529800" cy="5143500"/>
          </a:xfrm>
          <a:prstGeom prst="rect">
            <a:avLst/>
          </a:prstGeom>
          <a:solidFill>
            <a:srgbClr val="000000"/>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406" name="Google Shape;406;p47"/>
          <p:cNvPicPr preferRelativeResize="0"/>
          <p:nvPr/>
        </p:nvPicPr>
        <p:blipFill rotWithShape="1">
          <a:blip r:embed="rId3">
            <a:alphaModFix/>
          </a:blip>
          <a:srcRect b="0" l="0" r="0" t="0"/>
          <a:stretch/>
        </p:blipFill>
        <p:spPr>
          <a:xfrm>
            <a:off x="2478958" y="4092793"/>
            <a:ext cx="1050708" cy="1050708"/>
          </a:xfrm>
          <a:prstGeom prst="rect">
            <a:avLst/>
          </a:prstGeom>
          <a:noFill/>
          <a:ln>
            <a:noFill/>
          </a:ln>
        </p:spPr>
      </p:pic>
      <p:pic>
        <p:nvPicPr>
          <p:cNvPr id="407" name="Google Shape;407;p47"/>
          <p:cNvPicPr preferRelativeResize="0"/>
          <p:nvPr/>
        </p:nvPicPr>
        <p:blipFill rotWithShape="1">
          <a:blip r:embed="rId4">
            <a:alphaModFix/>
          </a:blip>
          <a:srcRect b="0" l="0" r="0" t="0"/>
          <a:stretch/>
        </p:blipFill>
        <p:spPr>
          <a:xfrm>
            <a:off x="2784378" y="3076091"/>
            <a:ext cx="417859" cy="417859"/>
          </a:xfrm>
          <a:prstGeom prst="rect">
            <a:avLst/>
          </a:prstGeom>
          <a:noFill/>
          <a:ln>
            <a:noFill/>
          </a:ln>
        </p:spPr>
      </p:pic>
      <p:pic>
        <p:nvPicPr>
          <p:cNvPr id="420" name="Google Shape;420;p47"/>
          <p:cNvPicPr preferRelativeResize="0"/>
          <p:nvPr/>
        </p:nvPicPr>
        <p:blipFill rotWithShape="1">
          <a:blip r:embed="rId5">
            <a:alphaModFix/>
          </a:blip>
          <a:srcRect b="0" l="0" r="0" t="0"/>
          <a:stretch/>
        </p:blipFill>
        <p:spPr>
          <a:xfrm flipH="1">
            <a:off x="3529664" y="4092793"/>
            <a:ext cx="1050707" cy="1050707"/>
          </a:xfrm>
          <a:prstGeom prst="rect">
            <a:avLst/>
          </a:prstGeom>
          <a:noFill/>
          <a:ln>
            <a:noFill/>
          </a:ln>
        </p:spPr>
      </p:pic>
      <p:grpSp>
        <p:nvGrpSpPr>
          <p:cNvPr id="421" name="Google Shape;421;p47"/>
          <p:cNvGrpSpPr/>
          <p:nvPr/>
        </p:nvGrpSpPr>
        <p:grpSpPr>
          <a:xfrm>
            <a:off x="7704129" y="4183226"/>
            <a:ext cx="915496" cy="471026"/>
            <a:chOff x="61924" y="79616"/>
            <a:chExt cx="2441323" cy="1256068"/>
          </a:xfrm>
        </p:grpSpPr>
        <p:sp>
          <p:nvSpPr>
            <p:cNvPr id="422" name="Google Shape;422;p47"/>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423" name="Google Shape;423;p47"/>
            <p:cNvPicPr preferRelativeResize="0"/>
            <p:nvPr/>
          </p:nvPicPr>
          <p:blipFill rotWithShape="1">
            <a:blip r:embed="rId6">
              <a:alphaModFix/>
            </a:blip>
            <a:srcRect b="0" l="0" r="0" t="0"/>
            <a:stretch/>
          </p:blipFill>
          <p:spPr>
            <a:xfrm>
              <a:off x="1328489" y="190500"/>
              <a:ext cx="1034400" cy="1034400"/>
            </a:xfrm>
            <a:prstGeom prst="rect">
              <a:avLst/>
            </a:prstGeom>
            <a:noFill/>
            <a:ln>
              <a:noFill/>
            </a:ln>
          </p:spPr>
        </p:pic>
      </p:grpSp>
      <p:pic>
        <p:nvPicPr>
          <p:cNvPr id="424" name="Google Shape;424;p47"/>
          <p:cNvPicPr preferRelativeResize="0"/>
          <p:nvPr/>
        </p:nvPicPr>
        <p:blipFill rotWithShape="1">
          <a:blip r:embed="rId7">
            <a:alphaModFix/>
          </a:blip>
          <a:srcRect b="0" l="0" r="0" t="0"/>
          <a:stretch/>
        </p:blipFill>
        <p:spPr>
          <a:xfrm>
            <a:off x="8236813" y="4282529"/>
            <a:ext cx="272458" cy="272458"/>
          </a:xfrm>
          <a:prstGeom prst="rect">
            <a:avLst/>
          </a:prstGeom>
          <a:noFill/>
          <a:ln>
            <a:noFill/>
          </a:ln>
        </p:spPr>
      </p:pic>
      <p:pic>
        <p:nvPicPr>
          <p:cNvPr id="425" name="Google Shape;425;p47"/>
          <p:cNvPicPr preferRelativeResize="0"/>
          <p:nvPr/>
        </p:nvPicPr>
        <p:blipFill rotWithShape="1">
          <a:blip r:embed="rId8">
            <a:alphaModFix/>
          </a:blip>
          <a:srcRect b="0" l="0" r="0" t="0"/>
          <a:stretch/>
        </p:blipFill>
        <p:spPr>
          <a:xfrm rot="5400000">
            <a:off x="0" y="3792331"/>
            <a:ext cx="1351170" cy="1351169"/>
          </a:xfrm>
          <a:prstGeom prst="rect">
            <a:avLst/>
          </a:prstGeom>
          <a:noFill/>
          <a:ln>
            <a:noFill/>
          </a:ln>
        </p:spPr>
      </p:pic>
      <p:pic>
        <p:nvPicPr>
          <p:cNvPr id="426" name="Google Shape;426;p47"/>
          <p:cNvPicPr preferRelativeResize="0"/>
          <p:nvPr/>
        </p:nvPicPr>
        <p:blipFill rotWithShape="1">
          <a:blip r:embed="rId9">
            <a:alphaModFix/>
          </a:blip>
          <a:srcRect b="0" l="0" r="0" t="0"/>
          <a:stretch/>
        </p:blipFill>
        <p:spPr>
          <a:xfrm>
            <a:off x="79132" y="4418758"/>
            <a:ext cx="1078263" cy="653248"/>
          </a:xfrm>
          <a:prstGeom prst="rect">
            <a:avLst/>
          </a:prstGeom>
          <a:noFill/>
          <a:ln>
            <a:noFill/>
          </a:ln>
        </p:spPr>
      </p:pic>
      <p:sp>
        <p:nvSpPr>
          <p:cNvPr id="427" name="TextBox 426"/>
          <p:cNvSpPr txBox="1"/>
          <p:nvPr/>
        </p:nvSpPr>
        <p:spPr>
          <a:xfrm>
            <a:off x="512064" y="502920"/>
            <a:ext cx="2651760" cy="640080"/>
          </a:xfrm>
          <a:prstGeom prst="rect">
            <a:avLst/>
          </a:prstGeom>
          <a:noFill/>
        </p:spPr>
        <p:txBody>
          <a:bodyPr wrap="square" anchor="t" lIns="0" rIns="0" tIns="0" bIns="0">
            <a:spAutoFit/>
          </a:bodyPr>
          <a:lstStyle/>
          <a:p>
            <a:pPr algn="l">
              <a:spcAft>
                <a:spcPts val="0"/>
              </a:spcAft>
            </a:pPr>
            <a:r>
              <a:rPr sz="3000" b="1" i="0">
                <a:solidFill>
                  <a:srgbClr val="FFFFFF"/>
                </a:solidFill>
                <a:latin typeface="League Spartan"/>
              </a:rPr>
              <a:t>Challenges</a:t>
            </a:r>
          </a:p>
        </p:txBody>
      </p:sp>
      <p:sp>
        <p:nvSpPr>
          <p:cNvPr id="428" name="TextBox 427"/>
          <p:cNvSpPr txBox="1"/>
          <p:nvPr/>
        </p:nvSpPr>
        <p:spPr>
          <a:xfrm>
            <a:off x="512064" y="1234440"/>
            <a:ext cx="2651760" cy="1371600"/>
          </a:xfrm>
          <a:prstGeom prst="rect">
            <a:avLst/>
          </a:prstGeom>
          <a:noFill/>
        </p:spPr>
        <p:txBody>
          <a:bodyPr wrap="square" anchor="t" lIns="0" rIns="0" tIns="0" bIns="0">
            <a:spAutoFit/>
          </a:bodyPr>
          <a:lstStyle/>
          <a:p>
            <a:pPr algn="l">
              <a:spcAft>
                <a:spcPts val="600"/>
              </a:spcAft>
            </a:pPr>
            <a:r>
              <a:rPr sz="1300" b="0" i="0">
                <a:solidFill>
                  <a:srgbClr val="FFFFFF"/>
                </a:solidFill>
                <a:latin typeface="Roboto"/>
              </a:rPr>
              <a:t>What took the most work</a:t>
            </a:r>
          </a:p>
        </p:txBody>
      </p:sp>
      <p:sp>
        <p:nvSpPr>
          <p:cNvPr id="429" name="TextBox 428"/>
          <p:cNvSpPr txBox="1"/>
          <p:nvPr/>
        </p:nvSpPr>
        <p:spPr>
          <a:xfrm>
            <a:off x="4050791" y="548640"/>
            <a:ext cx="2011680" cy="1554480"/>
          </a:xfrm>
          <a:prstGeom prst="rect">
            <a:avLst/>
          </a:prstGeom>
          <a:noFill/>
        </p:spPr>
        <p:txBody>
          <a:bodyPr wrap="square" anchor="t" lIns="0" rIns="0" tIns="0" bIns="0">
            <a:spAutoFit/>
          </a:bodyPr>
          <a:lstStyle/>
          <a:p>
            <a:pPr algn="l">
              <a:spcAft>
                <a:spcPts val="400"/>
              </a:spcAft>
            </a:pPr>
            <a:r>
              <a:rPr sz="1600" b="1" i="0">
                <a:solidFill>
                  <a:srgbClr val="131313"/>
                </a:solidFill>
                <a:latin typeface="League Spartan"/>
              </a:rPr>
              <a:t>LTI and Canvas</a:t>
            </a:r>
          </a:p>
          <a:p>
            <a:pPr algn="l">
              <a:spcAft>
                <a:spcPts val="600"/>
              </a:spcAft>
            </a:pPr>
            <a:r>
              <a:rPr sz="1200" b="0" i="0">
                <a:solidFill>
                  <a:srgbClr val="131313"/>
                </a:solidFill>
                <a:latin typeface="Roboto"/>
              </a:rPr>
              <a:t>Most of the work. Again.</a:t>
            </a:r>
          </a:p>
        </p:txBody>
      </p:sp>
      <p:sp>
        <p:nvSpPr>
          <p:cNvPr id="430" name="TextBox 429"/>
          <p:cNvSpPr txBox="1"/>
          <p:nvPr/>
        </p:nvSpPr>
        <p:spPr>
          <a:xfrm>
            <a:off x="6629400" y="548640"/>
            <a:ext cx="2011680" cy="1554480"/>
          </a:xfrm>
          <a:prstGeom prst="rect">
            <a:avLst/>
          </a:prstGeom>
          <a:noFill/>
        </p:spPr>
        <p:txBody>
          <a:bodyPr wrap="square" anchor="t" lIns="0" rIns="0" tIns="0" bIns="0">
            <a:spAutoFit/>
          </a:bodyPr>
          <a:lstStyle/>
          <a:p>
            <a:pPr algn="l">
              <a:spcAft>
                <a:spcPts val="400"/>
              </a:spcAft>
            </a:pPr>
            <a:r>
              <a:rPr sz="1600" b="1" i="0">
                <a:solidFill>
                  <a:srgbClr val="131313"/>
                </a:solidFill>
                <a:latin typeface="League Spartan"/>
              </a:rPr>
              <a:t>Canvas quirks</a:t>
            </a:r>
          </a:p>
          <a:p>
            <a:pPr algn="l">
              <a:spcAft>
                <a:spcPts val="600"/>
              </a:spcAft>
            </a:pPr>
            <a:r>
              <a:rPr sz="1200" b="0" i="0">
                <a:solidFill>
                  <a:srgbClr val="131313"/>
                </a:solidFill>
                <a:latin typeface="Roboto"/>
              </a:rPr>
              <a:t>Pop-up alerts are blocked in assignments, and the frames can’t resize</a:t>
            </a:r>
          </a:p>
        </p:txBody>
      </p:sp>
      <p:sp>
        <p:nvSpPr>
          <p:cNvPr id="431" name="TextBox 430"/>
          <p:cNvSpPr txBox="1"/>
          <p:nvPr/>
        </p:nvSpPr>
        <p:spPr>
          <a:xfrm>
            <a:off x="4050791" y="2286000"/>
            <a:ext cx="2011680" cy="1554480"/>
          </a:xfrm>
          <a:prstGeom prst="rect">
            <a:avLst/>
          </a:prstGeom>
          <a:noFill/>
        </p:spPr>
        <p:txBody>
          <a:bodyPr wrap="square" anchor="t" lIns="0" rIns="0" tIns="0" bIns="0">
            <a:spAutoFit/>
          </a:bodyPr>
          <a:lstStyle/>
          <a:p>
            <a:pPr algn="l">
              <a:spcAft>
                <a:spcPts val="400"/>
              </a:spcAft>
            </a:pPr>
            <a:r>
              <a:rPr sz="1600" b="1" i="0">
                <a:solidFill>
                  <a:srgbClr val="131313"/>
                </a:solidFill>
                <a:latin typeface="League Spartan"/>
              </a:rPr>
              <a:t>Chromebooks</a:t>
            </a:r>
          </a:p>
          <a:p>
            <a:pPr algn="l">
              <a:spcAft>
                <a:spcPts val="600"/>
              </a:spcAft>
            </a:pPr>
            <a:r>
              <a:rPr sz="1200" b="0" i="0">
                <a:solidFill>
                  <a:srgbClr val="131313"/>
                </a:solidFill>
                <a:latin typeface="Roboto"/>
              </a:rPr>
              <a:t>Launches had to work with third-party cookies blocked</a:t>
            </a:r>
          </a:p>
        </p:txBody>
      </p:sp>
      <p:sp>
        <p:nvSpPr>
          <p:cNvPr id="432" name="TextBox 431"/>
          <p:cNvSpPr txBox="1"/>
          <p:nvPr/>
        </p:nvSpPr>
        <p:spPr>
          <a:xfrm>
            <a:off x="6629400" y="2286000"/>
            <a:ext cx="2011680" cy="1554480"/>
          </a:xfrm>
          <a:prstGeom prst="rect">
            <a:avLst/>
          </a:prstGeom>
          <a:noFill/>
        </p:spPr>
        <p:txBody>
          <a:bodyPr wrap="square" anchor="t" lIns="0" rIns="0" tIns="0" bIns="0">
            <a:spAutoFit/>
          </a:bodyPr>
          <a:lstStyle/>
          <a:p>
            <a:pPr algn="l">
              <a:spcAft>
                <a:spcPts val="400"/>
              </a:spcAft>
            </a:pPr>
            <a:r>
              <a:rPr sz="1600" b="1" i="0">
                <a:solidFill>
                  <a:srgbClr val="131313"/>
                </a:solidFill>
                <a:latin typeface="League Spartan"/>
              </a:rPr>
              <a:t>Never lose student work</a:t>
            </a:r>
          </a:p>
          <a:p>
            <a:pPr algn="l">
              <a:spcAft>
                <a:spcPts val="600"/>
              </a:spcAft>
            </a:pPr>
            <a:r>
              <a:rPr sz="1200" b="0" i="0">
                <a:solidFill>
                  <a:srgbClr val="131313"/>
                </a:solidFill>
                <a:latin typeface="Roboto"/>
              </a:rPr>
              <a:t>Every change is tested with fake teachers, students and admins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29"/>
                                        </p:tgtEl>
                                        <p:attrNameLst>
                                          <p:attrName>style.visibility</p:attrName>
                                        </p:attrNameLst>
                                      </p:cBhvr>
                                      <p:to>
                                        <p:strVal val="visible"/>
                                      </p:to>
                                    </p:set>
                                    <p:animEffect transition="in" filter="fade">
                                      <p:cBhvr>
                                        <p:cTn id="5" dur="500"/>
                                        <p:tgtEl>
                                          <p:spTgt spid="429"/>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430"/>
                                        </p:tgtEl>
                                        <p:attrNameLst>
                                          <p:attrName>style.visibility</p:attrName>
                                        </p:attrNameLst>
                                      </p:cBhvr>
                                      <p:to>
                                        <p:strVal val="visible"/>
                                      </p:to>
                                    </p:set>
                                    <p:animEffect transition="in" filter="fade">
                                      <p:cBhvr>
                                        <p:cTn id="10" dur="500"/>
                                        <p:tgtEl>
                                          <p:spTgt spid="43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31"/>
                                        </p:tgtEl>
                                        <p:attrNameLst>
                                          <p:attrName>style.visibility</p:attrName>
                                        </p:attrNameLst>
                                      </p:cBhvr>
                                      <p:to>
                                        <p:strVal val="visible"/>
                                      </p:to>
                                    </p:set>
                                    <p:animEffect transition="in" filter="fade">
                                      <p:cBhvr>
                                        <p:cTn id="15" dur="500"/>
                                        <p:tgtEl>
                                          <p:spTgt spid="431"/>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2"/>
                                        </p:tgtEl>
                                        <p:attrNameLst>
                                          <p:attrName>style.visibility</p:attrName>
                                        </p:attrNameLst>
                                      </p:cBhvr>
                                      <p:to>
                                        <p:strVal val="visible"/>
                                      </p:to>
                                    </p:set>
                                    <p:animEffect transition="in" filter="fade">
                                      <p:cBhvr>
                                        <p:cTn id="20" dur="500"/>
                                        <p:tgtEl>
                                          <p:spTgt spid="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168"/>
        </a:solidFill>
      </p:bgPr>
    </p:bg>
    <p:spTree>
      <p:nvGrpSpPr>
        <p:cNvPr id="458" name="Shape 458"/>
        <p:cNvGrpSpPr/>
        <p:nvPr/>
      </p:nvGrpSpPr>
      <p:grpSpPr>
        <a:xfrm>
          <a:off x="0" y="0"/>
          <a:ext cx="0" cy="0"/>
          <a:chOff x="0" y="0"/>
          <a:chExt cx="0" cy="0"/>
        </a:xfrm>
      </p:grpSpPr>
      <p:sp>
        <p:nvSpPr>
          <p:cNvPr id="459" name="Google Shape;459;p49"/>
          <p:cNvSpPr/>
          <p:nvPr/>
        </p:nvSpPr>
        <p:spPr>
          <a:xfrm>
            <a:off x="7155625" y="-762000"/>
            <a:ext cx="2743200" cy="2688300"/>
          </a:xfrm>
          <a:prstGeom prst="donut">
            <a:avLst>
              <a:gd fmla="val 13443" name="adj"/>
            </a:avLst>
          </a:prstGeom>
          <a:solidFill>
            <a:srgbClr val="25AFFA"/>
          </a:solidFill>
          <a:ln cap="flat" cmpd="sng" w="9525">
            <a:solidFill>
              <a:srgbClr val="25AF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0" name="Google Shape;460;p49"/>
          <p:cNvPicPr preferRelativeResize="0"/>
          <p:nvPr/>
        </p:nvPicPr>
        <p:blipFill rotWithShape="1">
          <a:blip r:embed="rId3">
            <a:alphaModFix/>
          </a:blip>
          <a:srcRect b="0" l="0" r="0" t="0"/>
          <a:stretch/>
        </p:blipFill>
        <p:spPr>
          <a:xfrm rot="-5400000">
            <a:off x="-633564" y="623533"/>
            <a:ext cx="2494130" cy="1247065"/>
          </a:xfrm>
          <a:prstGeom prst="rect">
            <a:avLst/>
          </a:prstGeom>
          <a:noFill/>
          <a:ln>
            <a:noFill/>
          </a:ln>
        </p:spPr>
      </p:pic>
      <p:sp>
        <p:nvSpPr>
          <p:cNvPr id="461" name="Google Shape;461;p49"/>
          <p:cNvSpPr/>
          <p:nvPr/>
        </p:nvSpPr>
        <p:spPr>
          <a:xfrm>
            <a:off x="655268" y="2102484"/>
            <a:ext cx="2522434" cy="2385784"/>
          </a:xfrm>
          <a:custGeom>
            <a:rect b="b" l="l" r="r" t="t"/>
            <a:pathLst>
              <a:path extrusionOk="0" h="1109667" w="1173225">
                <a:moveTo>
                  <a:pt x="1048765" y="1109667"/>
                </a:moveTo>
                <a:lnTo>
                  <a:pt x="124460" y="1109667"/>
                </a:lnTo>
                <a:cubicBezTo>
                  <a:pt x="55880" y="1109667"/>
                  <a:pt x="0" y="1053787"/>
                  <a:pt x="0" y="985207"/>
                </a:cubicBezTo>
                <a:lnTo>
                  <a:pt x="0" y="124460"/>
                </a:lnTo>
                <a:cubicBezTo>
                  <a:pt x="0" y="55880"/>
                  <a:pt x="55880" y="0"/>
                  <a:pt x="124460" y="0"/>
                </a:cubicBezTo>
                <a:lnTo>
                  <a:pt x="1048765" y="0"/>
                </a:lnTo>
                <a:cubicBezTo>
                  <a:pt x="1117345" y="0"/>
                  <a:pt x="1173225" y="55880"/>
                  <a:pt x="1173225" y="124460"/>
                </a:cubicBezTo>
                <a:lnTo>
                  <a:pt x="1173225" y="985207"/>
                </a:lnTo>
                <a:cubicBezTo>
                  <a:pt x="1173225" y="1053787"/>
                  <a:pt x="1117345" y="1109667"/>
                  <a:pt x="1048765" y="1109667"/>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2" name="Google Shape;462;p49"/>
          <p:cNvSpPr/>
          <p:nvPr/>
        </p:nvSpPr>
        <p:spPr>
          <a:xfrm>
            <a:off x="3310802" y="2102484"/>
            <a:ext cx="2522434" cy="2385784"/>
          </a:xfrm>
          <a:custGeom>
            <a:rect b="b" l="l" r="r" t="t"/>
            <a:pathLst>
              <a:path extrusionOk="0" h="1109667" w="1173225">
                <a:moveTo>
                  <a:pt x="1048765" y="1109667"/>
                </a:moveTo>
                <a:lnTo>
                  <a:pt x="124460" y="1109667"/>
                </a:lnTo>
                <a:cubicBezTo>
                  <a:pt x="55880" y="1109667"/>
                  <a:pt x="0" y="1053787"/>
                  <a:pt x="0" y="985207"/>
                </a:cubicBezTo>
                <a:lnTo>
                  <a:pt x="0" y="124460"/>
                </a:lnTo>
                <a:cubicBezTo>
                  <a:pt x="0" y="55880"/>
                  <a:pt x="55880" y="0"/>
                  <a:pt x="124460" y="0"/>
                </a:cubicBezTo>
                <a:lnTo>
                  <a:pt x="1048765" y="0"/>
                </a:lnTo>
                <a:cubicBezTo>
                  <a:pt x="1117345" y="0"/>
                  <a:pt x="1173225" y="55880"/>
                  <a:pt x="1173225" y="124460"/>
                </a:cubicBezTo>
                <a:lnTo>
                  <a:pt x="1173225" y="985207"/>
                </a:lnTo>
                <a:cubicBezTo>
                  <a:pt x="1173225" y="1053787"/>
                  <a:pt x="1117345" y="1109667"/>
                  <a:pt x="1048765" y="1109667"/>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63" name="Google Shape;463;p49"/>
          <p:cNvSpPr/>
          <p:nvPr/>
        </p:nvSpPr>
        <p:spPr>
          <a:xfrm>
            <a:off x="5966338" y="2102484"/>
            <a:ext cx="2522434" cy="2385784"/>
          </a:xfrm>
          <a:custGeom>
            <a:rect b="b" l="l" r="r" t="t"/>
            <a:pathLst>
              <a:path extrusionOk="0" h="1109667" w="1173225">
                <a:moveTo>
                  <a:pt x="1048765" y="1109667"/>
                </a:moveTo>
                <a:lnTo>
                  <a:pt x="124460" y="1109667"/>
                </a:lnTo>
                <a:cubicBezTo>
                  <a:pt x="55880" y="1109667"/>
                  <a:pt x="0" y="1053787"/>
                  <a:pt x="0" y="985207"/>
                </a:cubicBezTo>
                <a:lnTo>
                  <a:pt x="0" y="124460"/>
                </a:lnTo>
                <a:cubicBezTo>
                  <a:pt x="0" y="55880"/>
                  <a:pt x="55880" y="0"/>
                  <a:pt x="124460" y="0"/>
                </a:cubicBezTo>
                <a:lnTo>
                  <a:pt x="1048765" y="0"/>
                </a:lnTo>
                <a:cubicBezTo>
                  <a:pt x="1117345" y="0"/>
                  <a:pt x="1173225" y="55880"/>
                  <a:pt x="1173225" y="124460"/>
                </a:cubicBezTo>
                <a:lnTo>
                  <a:pt x="1173225" y="985207"/>
                </a:lnTo>
                <a:cubicBezTo>
                  <a:pt x="1173225" y="1053787"/>
                  <a:pt x="1117345" y="1109667"/>
                  <a:pt x="1048765" y="1109667"/>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470" name="Google Shape;470;p49"/>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pic>
        <p:nvPicPr>
          <p:cNvPr id="471" name="Google Shape;471;p49"/>
          <p:cNvPicPr preferRelativeResize="0"/>
          <p:nvPr/>
        </p:nvPicPr>
        <p:blipFill rotWithShape="1">
          <a:blip r:embed="rId5">
            <a:alphaModFix/>
          </a:blip>
          <a:srcRect b="0" l="0" r="0" t="0"/>
          <a:stretch/>
        </p:blipFill>
        <p:spPr>
          <a:xfrm>
            <a:off x="79132" y="4418758"/>
            <a:ext cx="1078263" cy="653248"/>
          </a:xfrm>
          <a:prstGeom prst="rect">
            <a:avLst/>
          </a:prstGeom>
          <a:noFill/>
          <a:ln>
            <a:noFill/>
          </a:ln>
        </p:spPr>
      </p:pic>
      <p:sp>
        <p:nvSpPr>
          <p:cNvPr id="472" name="TextBox 471"/>
          <p:cNvSpPr txBox="1"/>
          <p:nvPr/>
        </p:nvSpPr>
        <p:spPr>
          <a:xfrm>
            <a:off x="1188720" y="548640"/>
            <a:ext cx="6766560" cy="548640"/>
          </a:xfrm>
          <a:prstGeom prst="rect">
            <a:avLst/>
          </a:prstGeom>
          <a:noFill/>
        </p:spPr>
        <p:txBody>
          <a:bodyPr wrap="square" anchor="t" lIns="0" rIns="0" tIns="0" bIns="0">
            <a:spAutoFit/>
          </a:bodyPr>
          <a:lstStyle/>
          <a:p>
            <a:pPr algn="ctr">
              <a:spcAft>
                <a:spcPts val="0"/>
              </a:spcAft>
            </a:pPr>
            <a:r>
              <a:rPr sz="2800" b="1" i="0">
                <a:solidFill>
                  <a:srgbClr val="FFFFFF"/>
                </a:solidFill>
                <a:latin typeface="League Spartan"/>
              </a:rPr>
              <a:t>Can You Trust What the AI Made?</a:t>
            </a:r>
          </a:p>
        </p:txBody>
      </p:sp>
      <p:sp>
        <p:nvSpPr>
          <p:cNvPr id="473" name="TextBox 472"/>
          <p:cNvSpPr txBox="1"/>
          <p:nvPr/>
        </p:nvSpPr>
        <p:spPr>
          <a:xfrm>
            <a:off x="1188720" y="1143000"/>
            <a:ext cx="6766560" cy="457200"/>
          </a:xfrm>
          <a:prstGeom prst="rect">
            <a:avLst/>
          </a:prstGeom>
          <a:noFill/>
        </p:spPr>
        <p:txBody>
          <a:bodyPr wrap="square" anchor="t" lIns="0" rIns="0" tIns="0" bIns="0">
            <a:spAutoFit/>
          </a:bodyPr>
          <a:lstStyle/>
          <a:p>
            <a:pPr algn="ctr">
              <a:spcAft>
                <a:spcPts val="600"/>
              </a:spcAft>
            </a:pPr>
            <a:r>
              <a:rPr sz="1300" b="0" i="0">
                <a:solidFill>
                  <a:srgbClr val="FFFFFF"/>
                </a:solidFill>
                <a:latin typeface="Roboto"/>
              </a:rPr>
              <a:t>What checks it, and what still needs a person</a:t>
            </a:r>
          </a:p>
        </p:txBody>
      </p:sp>
      <p:sp>
        <p:nvSpPr>
          <p:cNvPr id="474" name="TextBox 473"/>
          <p:cNvSpPr txBox="1"/>
          <p:nvPr/>
        </p:nvSpPr>
        <p:spPr>
          <a:xfrm>
            <a:off x="859536" y="2331720"/>
            <a:ext cx="2121408" cy="2011680"/>
          </a:xfrm>
          <a:prstGeom prst="rect">
            <a:avLst/>
          </a:prstGeom>
          <a:noFill/>
        </p:spPr>
        <p:txBody>
          <a:bodyPr wrap="square" anchor="t" lIns="0" rIns="0" tIns="0" bIns="0">
            <a:spAutoFit/>
          </a:bodyPr>
          <a:lstStyle/>
          <a:p>
            <a:pPr algn="l">
              <a:spcAft>
                <a:spcPts val="800"/>
              </a:spcAft>
            </a:pPr>
            <a:r>
              <a:rPr sz="1800" b="1" i="0">
                <a:solidFill>
                  <a:srgbClr val="1B3168"/>
                </a:solidFill>
                <a:latin typeface="League Spartan"/>
              </a:rPr>
              <a:t>Checked</a:t>
            </a:r>
          </a:p>
          <a:p>
            <a:pPr algn="l">
              <a:spcAft>
                <a:spcPts val="600"/>
              </a:spcAft>
            </a:pPr>
            <a:r>
              <a:rPr sz="1300" b="0" i="0">
                <a:solidFill>
                  <a:srgbClr val="131313"/>
                </a:solidFill>
                <a:latin typeface="Roboto"/>
              </a:rPr>
              <a:t>Every package is checked when it’s built. A separate review looks for anything that sends data out or tracks students.</a:t>
            </a:r>
          </a:p>
        </p:txBody>
      </p:sp>
      <p:sp>
        <p:nvSpPr>
          <p:cNvPr id="475" name="TextBox 474"/>
          <p:cNvSpPr txBox="1"/>
          <p:nvPr/>
        </p:nvSpPr>
        <p:spPr>
          <a:xfrm>
            <a:off x="3511296" y="2331720"/>
            <a:ext cx="2121408" cy="2011680"/>
          </a:xfrm>
          <a:prstGeom prst="rect">
            <a:avLst/>
          </a:prstGeom>
          <a:noFill/>
        </p:spPr>
        <p:txBody>
          <a:bodyPr wrap="square" anchor="t" lIns="0" rIns="0" tIns="0" bIns="0">
            <a:spAutoFit/>
          </a:bodyPr>
          <a:lstStyle/>
          <a:p>
            <a:pPr algn="l">
              <a:spcAft>
                <a:spcPts val="800"/>
              </a:spcAft>
            </a:pPr>
            <a:r>
              <a:rPr sz="1800" b="1" i="0">
                <a:solidFill>
                  <a:srgbClr val="1B3168"/>
                </a:solidFill>
                <a:latin typeface="League Spartan"/>
              </a:rPr>
              <a:t>Sandboxed</a:t>
            </a:r>
          </a:p>
          <a:p>
            <a:pPr algn="l">
              <a:spcAft>
                <a:spcPts val="600"/>
              </a:spcAft>
            </a:pPr>
            <a:r>
              <a:rPr sz="1300" b="0" i="0">
                <a:solidFill>
                  <a:srgbClr val="131313"/>
                </a:solidFill>
                <a:latin typeface="Roboto"/>
              </a:rPr>
              <a:t>Zest runs every package in a sandbox, with permissions off by default.</a:t>
            </a:r>
          </a:p>
        </p:txBody>
      </p:sp>
      <p:sp>
        <p:nvSpPr>
          <p:cNvPr id="476" name="TextBox 475"/>
          <p:cNvSpPr txBox="1"/>
          <p:nvPr/>
        </p:nvSpPr>
        <p:spPr>
          <a:xfrm>
            <a:off x="6163055" y="2331720"/>
            <a:ext cx="2121408" cy="2011680"/>
          </a:xfrm>
          <a:prstGeom prst="rect">
            <a:avLst/>
          </a:prstGeom>
          <a:noFill/>
        </p:spPr>
        <p:txBody>
          <a:bodyPr wrap="square" anchor="t" lIns="0" rIns="0" tIns="0" bIns="0">
            <a:spAutoFit/>
          </a:bodyPr>
          <a:lstStyle/>
          <a:p>
            <a:pPr algn="l">
              <a:spcAft>
                <a:spcPts val="800"/>
              </a:spcAft>
            </a:pPr>
            <a:r>
              <a:rPr sz="1800" b="1" i="0">
                <a:solidFill>
                  <a:srgbClr val="1B3168"/>
                </a:solidFill>
                <a:latin typeface="League Spartan"/>
              </a:rPr>
              <a:t>Still a person’s job</a:t>
            </a:r>
          </a:p>
          <a:p>
            <a:pPr algn="l">
              <a:spcAft>
                <a:spcPts val="600"/>
              </a:spcAft>
            </a:pPr>
            <a:r>
              <a:rPr sz="1300" b="0" i="0">
                <a:solidFill>
                  <a:srgbClr val="131313"/>
                </a:solidFill>
                <a:latin typeface="Roboto"/>
              </a:rPr>
              <a:t>Test it as a student. Have a subject expert check it. Use teacher grading for high stakes.</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461"/>
                                        </p:tgtEl>
                                        <p:attrNameLst>
                                          <p:attrName>style.visibility</p:attrName>
                                        </p:attrNameLst>
                                      </p:cBhvr>
                                      <p:to>
                                        <p:strVal val="visible"/>
                                      </p:to>
                                    </p:set>
                                    <p:animEffect transition="in" filter="fade">
                                      <p:cBhvr>
                                        <p:cTn id="5" dur="500"/>
                                        <p:tgtEl>
                                          <p:spTgt spid="461"/>
                                        </p:tgtEl>
                                      </p:cBhvr>
                                    </p:animEffect>
                                  </p:childTnLst>
                                </p:cTn>
                              </p:par>
                              <p:par>
                                <p:cTn id="6" presetID="10" presetClass="entr" presetSubtype="0" fill="hold" nodeType="withEffect">
                                  <p:stCondLst>
                                    <p:cond delay="0"/>
                                  </p:stCondLst>
                                  <p:childTnLst>
                                    <p:set>
                                      <p:cBhvr>
                                        <p:cTn id="7" dur="1" fill="hold">
                                          <p:stCondLst>
                                            <p:cond delay="0"/>
                                          </p:stCondLst>
                                        </p:cTn>
                                        <p:tgtEl>
                                          <p:spTgt spid="474"/>
                                        </p:tgtEl>
                                        <p:attrNameLst>
                                          <p:attrName>style.visibility</p:attrName>
                                        </p:attrNameLst>
                                      </p:cBhvr>
                                      <p:to>
                                        <p:strVal val="visible"/>
                                      </p:to>
                                    </p:set>
                                    <p:animEffect transition="in" filter="fade">
                                      <p:cBhvr>
                                        <p:cTn id="8" dur="500"/>
                                        <p:tgtEl>
                                          <p:spTgt spid="474"/>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462"/>
                                        </p:tgtEl>
                                        <p:attrNameLst>
                                          <p:attrName>style.visibility</p:attrName>
                                        </p:attrNameLst>
                                      </p:cBhvr>
                                      <p:to>
                                        <p:strVal val="visible"/>
                                      </p:to>
                                    </p:set>
                                    <p:animEffect transition="in" filter="fade">
                                      <p:cBhvr>
                                        <p:cTn id="13" dur="500"/>
                                        <p:tgtEl>
                                          <p:spTgt spid="462"/>
                                        </p:tgtEl>
                                      </p:cBhvr>
                                    </p:animEffect>
                                  </p:childTnLst>
                                </p:cTn>
                              </p:par>
                              <p:par>
                                <p:cTn id="14" presetID="10" presetClass="entr" presetSubtype="0" fill="hold" nodeType="withEffect">
                                  <p:stCondLst>
                                    <p:cond delay="0"/>
                                  </p:stCondLst>
                                  <p:childTnLst>
                                    <p:set>
                                      <p:cBhvr>
                                        <p:cTn id="15" dur="1" fill="hold">
                                          <p:stCondLst>
                                            <p:cond delay="0"/>
                                          </p:stCondLst>
                                        </p:cTn>
                                        <p:tgtEl>
                                          <p:spTgt spid="475"/>
                                        </p:tgtEl>
                                        <p:attrNameLst>
                                          <p:attrName>style.visibility</p:attrName>
                                        </p:attrNameLst>
                                      </p:cBhvr>
                                      <p:to>
                                        <p:strVal val="visible"/>
                                      </p:to>
                                    </p:set>
                                    <p:animEffect transition="in" filter="fade">
                                      <p:cBhvr>
                                        <p:cTn id="16" dur="500"/>
                                        <p:tgtEl>
                                          <p:spTgt spid="47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63"/>
                                        </p:tgtEl>
                                        <p:attrNameLst>
                                          <p:attrName>style.visibility</p:attrName>
                                        </p:attrNameLst>
                                      </p:cBhvr>
                                      <p:to>
                                        <p:strVal val="visible"/>
                                      </p:to>
                                    </p:set>
                                    <p:animEffect transition="in" filter="fade">
                                      <p:cBhvr>
                                        <p:cTn id="21" dur="500"/>
                                        <p:tgtEl>
                                          <p:spTgt spid="463"/>
                                        </p:tgtEl>
                                      </p:cBhvr>
                                    </p:animEffect>
                                  </p:childTnLst>
                                </p:cTn>
                              </p:par>
                              <p:par>
                                <p:cTn id="22" presetID="10" presetClass="entr" presetSubtype="0" fill="hold" nodeType="withEffect">
                                  <p:stCondLst>
                                    <p:cond delay="0"/>
                                  </p:stCondLst>
                                  <p:childTnLst>
                                    <p:set>
                                      <p:cBhvr>
                                        <p:cTn id="23" dur="1" fill="hold">
                                          <p:stCondLst>
                                            <p:cond delay="0"/>
                                          </p:stCondLst>
                                        </p:cTn>
                                        <p:tgtEl>
                                          <p:spTgt spid="476"/>
                                        </p:tgtEl>
                                        <p:attrNameLst>
                                          <p:attrName>style.visibility</p:attrName>
                                        </p:attrNameLst>
                                      </p:cBhvr>
                                      <p:to>
                                        <p:strVal val="visible"/>
                                      </p:to>
                                    </p:set>
                                    <p:animEffect transition="in" filter="fade">
                                      <p:cBhvr>
                                        <p:cTn id="24" dur="500"/>
                                        <p:tgtEl>
                                          <p:spTgt spid="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p51"/>
          <p:cNvPicPr preferRelativeResize="0"/>
          <p:nvPr/>
        </p:nvPicPr>
        <p:blipFill rotWithShape="1">
          <a:blip r:embed="rId3">
            <a:alphaModFix/>
          </a:blip>
          <a:srcRect b="0" l="0" r="0" t="0"/>
          <a:stretch/>
        </p:blipFill>
        <p:spPr>
          <a:xfrm flipH="1" rot="-5400000">
            <a:off x="8141822" y="4141322"/>
            <a:ext cx="1002179" cy="1002179"/>
          </a:xfrm>
          <a:prstGeom prst="rect">
            <a:avLst/>
          </a:prstGeom>
          <a:noFill/>
          <a:ln>
            <a:noFill/>
          </a:ln>
        </p:spPr>
      </p:pic>
      <p:sp>
        <p:nvSpPr>
          <p:cNvPr id="517" name="Google Shape;517;p51"/>
          <p:cNvSpPr/>
          <p:nvPr/>
        </p:nvSpPr>
        <p:spPr>
          <a:xfrm rot="-5400000">
            <a:off x="2843441" y="2422276"/>
            <a:ext cx="3457051" cy="230835"/>
          </a:xfrm>
          <a:custGeom>
            <a:rect b="b" l="l" r="r" t="t"/>
            <a:pathLst>
              <a:path extrusionOk="0" h="360680" w="5401642">
                <a:moveTo>
                  <a:pt x="5401642" y="180340"/>
                </a:moveTo>
                <a:cubicBezTo>
                  <a:pt x="5401642" y="81280"/>
                  <a:pt x="5321632" y="0"/>
                  <a:pt x="5221302" y="0"/>
                </a:cubicBezTo>
                <a:lnTo>
                  <a:pt x="172720" y="0"/>
                </a:lnTo>
                <a:lnTo>
                  <a:pt x="172720" y="1270"/>
                </a:lnTo>
                <a:cubicBezTo>
                  <a:pt x="76200" y="5080"/>
                  <a:pt x="0" y="83820"/>
                  <a:pt x="0" y="180340"/>
                </a:cubicBezTo>
                <a:cubicBezTo>
                  <a:pt x="0" y="276860"/>
                  <a:pt x="77470" y="355600"/>
                  <a:pt x="172720" y="359410"/>
                </a:cubicBezTo>
                <a:lnTo>
                  <a:pt x="172720" y="360680"/>
                </a:lnTo>
                <a:lnTo>
                  <a:pt x="5221301" y="360680"/>
                </a:lnTo>
                <a:cubicBezTo>
                  <a:pt x="5320362" y="360680"/>
                  <a:pt x="5401642" y="279400"/>
                  <a:pt x="5401642" y="180340"/>
                </a:cubicBezTo>
                <a:close/>
              </a:path>
            </a:pathLst>
          </a:custGeom>
          <a:solidFill>
            <a:srgbClr val="25B5FF">
              <a:alpha val="392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518" name="Google Shape;518;p51"/>
          <p:cNvPicPr preferRelativeResize="0"/>
          <p:nvPr/>
        </p:nvPicPr>
        <p:blipFill rotWithShape="1">
          <a:blip r:embed="rId4">
            <a:alphaModFix/>
          </a:blip>
          <a:srcRect b="0" l="0" r="0" t="0"/>
          <a:stretch/>
        </p:blipFill>
        <p:spPr>
          <a:xfrm>
            <a:off x="4298085" y="593390"/>
            <a:ext cx="662113" cy="662112"/>
          </a:xfrm>
          <a:prstGeom prst="rect">
            <a:avLst/>
          </a:prstGeom>
          <a:noFill/>
          <a:ln>
            <a:noFill/>
          </a:ln>
        </p:spPr>
      </p:pic>
      <p:pic>
        <p:nvPicPr>
          <p:cNvPr id="519" name="Google Shape;519;p51"/>
          <p:cNvPicPr preferRelativeResize="0"/>
          <p:nvPr/>
        </p:nvPicPr>
        <p:blipFill rotWithShape="1">
          <a:blip r:embed="rId4">
            <a:alphaModFix/>
          </a:blip>
          <a:srcRect b="0" l="0" r="0" t="0"/>
          <a:stretch/>
        </p:blipFill>
        <p:spPr>
          <a:xfrm>
            <a:off x="4298085" y="1681228"/>
            <a:ext cx="662113" cy="662113"/>
          </a:xfrm>
          <a:prstGeom prst="rect">
            <a:avLst/>
          </a:prstGeom>
          <a:noFill/>
          <a:ln>
            <a:noFill/>
          </a:ln>
        </p:spPr>
      </p:pic>
      <p:pic>
        <p:nvPicPr>
          <p:cNvPr id="520" name="Google Shape;520;p51"/>
          <p:cNvPicPr preferRelativeResize="0"/>
          <p:nvPr/>
        </p:nvPicPr>
        <p:blipFill rotWithShape="1">
          <a:blip r:embed="rId4">
            <a:alphaModFix/>
          </a:blip>
          <a:srcRect b="0" l="0" r="0" t="0"/>
          <a:stretch/>
        </p:blipFill>
        <p:spPr>
          <a:xfrm>
            <a:off x="4298085" y="2769064"/>
            <a:ext cx="662113" cy="662113"/>
          </a:xfrm>
          <a:prstGeom prst="rect">
            <a:avLst/>
          </a:prstGeom>
          <a:noFill/>
          <a:ln>
            <a:noFill/>
          </a:ln>
        </p:spPr>
      </p:pic>
      <p:pic>
        <p:nvPicPr>
          <p:cNvPr id="521" name="Google Shape;521;p51"/>
          <p:cNvPicPr preferRelativeResize="0"/>
          <p:nvPr/>
        </p:nvPicPr>
        <p:blipFill rotWithShape="1">
          <a:blip r:embed="rId4">
            <a:alphaModFix/>
          </a:blip>
          <a:srcRect b="0" l="0" r="0" t="0"/>
          <a:stretch/>
        </p:blipFill>
        <p:spPr>
          <a:xfrm>
            <a:off x="4298085" y="3856902"/>
            <a:ext cx="662113" cy="662113"/>
          </a:xfrm>
          <a:prstGeom prst="rect">
            <a:avLst/>
          </a:prstGeom>
          <a:noFill/>
          <a:ln>
            <a:noFill/>
          </a:ln>
        </p:spPr>
      </p:pic>
      <p:sp>
        <p:nvSpPr>
          <p:cNvPr id="522" name="Google Shape;522;p51"/>
          <p:cNvSpPr txBox="1"/>
          <p:nvPr/>
        </p:nvSpPr>
        <p:spPr>
          <a:xfrm>
            <a:off x="4402110" y="776563"/>
            <a:ext cx="454200" cy="307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 sz="2000" u="none" cap="none" strike="noStrike">
                <a:solidFill>
                  <a:srgbClr val="FFFFFF"/>
                </a:solidFill>
                <a:latin typeface="League Spartan"/>
                <a:ea typeface="League Spartan"/>
                <a:cs typeface="League Spartan"/>
                <a:sym typeface="League Spartan"/>
              </a:rPr>
              <a:t>1</a:t>
            </a:r>
            <a:endParaRPr sz="700"/>
          </a:p>
        </p:txBody>
      </p:sp>
      <p:sp>
        <p:nvSpPr>
          <p:cNvPr id="523" name="Google Shape;523;p51"/>
          <p:cNvSpPr txBox="1"/>
          <p:nvPr/>
        </p:nvSpPr>
        <p:spPr>
          <a:xfrm>
            <a:off x="4402110" y="1886039"/>
            <a:ext cx="454200" cy="307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 sz="2000" u="none" cap="none" strike="noStrike">
                <a:solidFill>
                  <a:srgbClr val="FFFFFF"/>
                </a:solidFill>
                <a:latin typeface="League Spartan"/>
                <a:ea typeface="League Spartan"/>
                <a:cs typeface="League Spartan"/>
                <a:sym typeface="League Spartan"/>
              </a:rPr>
              <a:t>2</a:t>
            </a:r>
            <a:endParaRPr sz="700"/>
          </a:p>
        </p:txBody>
      </p:sp>
      <p:sp>
        <p:nvSpPr>
          <p:cNvPr id="524" name="Google Shape;524;p51"/>
          <p:cNvSpPr txBox="1"/>
          <p:nvPr/>
        </p:nvSpPr>
        <p:spPr>
          <a:xfrm>
            <a:off x="4402110" y="2952354"/>
            <a:ext cx="454200" cy="307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 sz="2000" u="none" cap="none" strike="noStrike">
                <a:solidFill>
                  <a:srgbClr val="FFFFFF"/>
                </a:solidFill>
                <a:latin typeface="League Spartan"/>
                <a:ea typeface="League Spartan"/>
                <a:cs typeface="League Spartan"/>
                <a:sym typeface="League Spartan"/>
              </a:rPr>
              <a:t>3</a:t>
            </a:r>
            <a:endParaRPr sz="700"/>
          </a:p>
        </p:txBody>
      </p:sp>
      <p:sp>
        <p:nvSpPr>
          <p:cNvPr id="525" name="Google Shape;525;p51"/>
          <p:cNvSpPr txBox="1"/>
          <p:nvPr/>
        </p:nvSpPr>
        <p:spPr>
          <a:xfrm>
            <a:off x="4402110" y="4043463"/>
            <a:ext cx="454200" cy="307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 sz="2000" u="none" cap="none" strike="noStrike">
                <a:solidFill>
                  <a:srgbClr val="FFFFFF"/>
                </a:solidFill>
                <a:latin typeface="League Spartan"/>
                <a:ea typeface="League Spartan"/>
                <a:cs typeface="League Spartan"/>
                <a:sym typeface="League Spartan"/>
              </a:rPr>
              <a:t>4</a:t>
            </a:r>
            <a:endParaRPr sz="700"/>
          </a:p>
        </p:txBody>
      </p:sp>
      <p:pic>
        <p:nvPicPr>
          <p:cNvPr id="535" name="Google Shape;535;p51"/>
          <p:cNvPicPr preferRelativeResize="0"/>
          <p:nvPr/>
        </p:nvPicPr>
        <p:blipFill rotWithShape="1">
          <a:blip r:embed="rId5">
            <a:alphaModFix/>
          </a:blip>
          <a:srcRect b="0" l="0" r="0" t="0"/>
          <a:stretch/>
        </p:blipFill>
        <p:spPr>
          <a:xfrm>
            <a:off x="79132" y="4418758"/>
            <a:ext cx="1078263" cy="653248"/>
          </a:xfrm>
          <a:prstGeom prst="rect">
            <a:avLst/>
          </a:prstGeom>
          <a:noFill/>
          <a:ln>
            <a:noFill/>
          </a:ln>
        </p:spPr>
      </p:pic>
      <p:sp>
        <p:nvSpPr>
          <p:cNvPr id="536" name="TextBox 535"/>
          <p:cNvSpPr txBox="1"/>
          <p:nvPr/>
        </p:nvSpPr>
        <p:spPr>
          <a:xfrm>
            <a:off x="512064" y="548640"/>
            <a:ext cx="3291840" cy="548640"/>
          </a:xfrm>
          <a:prstGeom prst="rect">
            <a:avLst/>
          </a:prstGeom>
          <a:noFill/>
        </p:spPr>
        <p:txBody>
          <a:bodyPr wrap="square" anchor="t" lIns="0" rIns="0" tIns="0" bIns="0">
            <a:spAutoFit/>
          </a:bodyPr>
          <a:lstStyle/>
          <a:p>
            <a:pPr algn="l">
              <a:spcAft>
                <a:spcPts val="0"/>
              </a:spcAft>
            </a:pPr>
            <a:r>
              <a:rPr sz="3000" b="1" i="0">
                <a:solidFill>
                  <a:srgbClr val="131313"/>
                </a:solidFill>
                <a:latin typeface="League Spartan"/>
              </a:rPr>
              <a:t>What's Next</a:t>
            </a:r>
          </a:p>
        </p:txBody>
      </p:sp>
      <p:sp>
        <p:nvSpPr>
          <p:cNvPr id="537" name="TextBox 536"/>
          <p:cNvSpPr txBox="1"/>
          <p:nvPr/>
        </p:nvSpPr>
        <p:spPr>
          <a:xfrm>
            <a:off x="512064" y="1188720"/>
            <a:ext cx="3108960" cy="1097280"/>
          </a:xfrm>
          <a:prstGeom prst="rect">
            <a:avLst/>
          </a:prstGeom>
          <a:noFill/>
        </p:spPr>
        <p:txBody>
          <a:bodyPr wrap="square" anchor="t" lIns="0" rIns="0" tIns="0" bIns="0">
            <a:spAutoFit/>
          </a:bodyPr>
          <a:lstStyle/>
          <a:p>
            <a:pPr algn="l">
              <a:spcAft>
                <a:spcPts val="600"/>
              </a:spcAft>
            </a:pPr>
            <a:r>
              <a:rPr sz="1300" b="0" i="0">
                <a:solidFill>
                  <a:srgbClr val="605F5E"/>
                </a:solidFill>
                <a:latin typeface="Roboto"/>
              </a:rPr>
              <a:t>Where Zest goes from here</a:t>
            </a:r>
          </a:p>
        </p:txBody>
      </p:sp>
      <p:sp>
        <p:nvSpPr>
          <p:cNvPr id="538" name="TextBox 537"/>
          <p:cNvSpPr txBox="1"/>
          <p:nvPr/>
        </p:nvSpPr>
        <p:spPr>
          <a:xfrm>
            <a:off x="5257800" y="621792"/>
            <a:ext cx="3383280" cy="640080"/>
          </a:xfrm>
          <a:prstGeom prst="rect">
            <a:avLst/>
          </a:prstGeom>
          <a:noFill/>
        </p:spPr>
        <p:txBody>
          <a:bodyPr wrap="square" anchor="t" lIns="0" rIns="0" tIns="0" bIns="0">
            <a:spAutoFit/>
          </a:bodyPr>
          <a:lstStyle/>
          <a:p>
            <a:pPr algn="l">
              <a:spcAft>
                <a:spcPts val="100"/>
              </a:spcAft>
            </a:pPr>
            <a:r>
              <a:rPr sz="1500" b="1" i="0">
                <a:solidFill>
                  <a:srgbClr val="605F5E"/>
                </a:solidFill>
                <a:latin typeface="League Spartan"/>
              </a:rPr>
              <a:t>Release the server code</a:t>
            </a:r>
          </a:p>
          <a:p>
            <a:pPr algn="l">
              <a:spcAft>
                <a:spcPts val="600"/>
              </a:spcAft>
            </a:pPr>
            <a:r>
              <a:rPr sz="1100" b="0" i="0">
                <a:solidFill>
                  <a:srgbClr val="605F5E"/>
                </a:solidFill>
                <a:latin typeface="Roboto"/>
              </a:rPr>
              <a:t>MIT license</a:t>
            </a:r>
          </a:p>
        </p:txBody>
      </p:sp>
      <p:sp>
        <p:nvSpPr>
          <p:cNvPr id="539" name="TextBox 538"/>
          <p:cNvSpPr txBox="1"/>
          <p:nvPr/>
        </p:nvSpPr>
        <p:spPr>
          <a:xfrm>
            <a:off x="5257800" y="1709928"/>
            <a:ext cx="3383280" cy="640080"/>
          </a:xfrm>
          <a:prstGeom prst="rect">
            <a:avLst/>
          </a:prstGeom>
          <a:noFill/>
        </p:spPr>
        <p:txBody>
          <a:bodyPr wrap="square" anchor="t" lIns="0" rIns="0" tIns="0" bIns="0">
            <a:spAutoFit/>
          </a:bodyPr>
          <a:lstStyle/>
          <a:p>
            <a:pPr algn="l">
              <a:spcAft>
                <a:spcPts val="100"/>
              </a:spcAft>
            </a:pPr>
            <a:r>
              <a:rPr sz="1500" b="1" i="0">
                <a:solidFill>
                  <a:srgbClr val="605F5E"/>
                </a:solidFill>
                <a:latin typeface="League Spartan"/>
              </a:rPr>
              <a:t>A separate domain for packages</a:t>
            </a:r>
          </a:p>
          <a:p>
            <a:pPr algn="l">
              <a:spcAft>
                <a:spcPts val="600"/>
              </a:spcAft>
            </a:pPr>
            <a:r>
              <a:rPr sz="1100" b="0" i="0">
                <a:solidFill>
                  <a:srgbClr val="605F5E"/>
                </a:solidFill>
                <a:latin typeface="Roboto"/>
              </a:rPr>
              <a:t>The next security step</a:t>
            </a:r>
          </a:p>
        </p:txBody>
      </p:sp>
      <p:sp>
        <p:nvSpPr>
          <p:cNvPr id="540" name="TextBox 539"/>
          <p:cNvSpPr txBox="1"/>
          <p:nvPr/>
        </p:nvSpPr>
        <p:spPr>
          <a:xfrm>
            <a:off x="5257800" y="2798064"/>
            <a:ext cx="3383280" cy="640080"/>
          </a:xfrm>
          <a:prstGeom prst="rect">
            <a:avLst/>
          </a:prstGeom>
          <a:noFill/>
        </p:spPr>
        <p:txBody>
          <a:bodyPr wrap="square" anchor="t" lIns="0" rIns="0" tIns="0" bIns="0">
            <a:spAutoFit/>
          </a:bodyPr>
          <a:lstStyle/>
          <a:p>
            <a:pPr algn="l">
              <a:spcAft>
                <a:spcPts val="100"/>
              </a:spcAft>
            </a:pPr>
            <a:r>
              <a:rPr sz="1500" b="1" i="0">
                <a:solidFill>
                  <a:srgbClr val="605F5E"/>
                </a:solidFill>
                <a:latin typeface="League Spartan"/>
              </a:rPr>
              <a:t>Accessibility review</a:t>
            </a:r>
          </a:p>
          <a:p>
            <a:pPr algn="l">
              <a:spcAft>
                <a:spcPts val="600"/>
              </a:spcAft>
            </a:pPr>
            <a:r>
              <a:rPr sz="1100" b="0" i="0">
                <a:solidFill>
                  <a:srgbClr val="605F5E"/>
                </a:solidFill>
                <a:latin typeface="Roboto"/>
              </a:rPr>
              <a:t>No WCAG claims yet</a:t>
            </a:r>
          </a:p>
        </p:txBody>
      </p:sp>
      <p:sp>
        <p:nvSpPr>
          <p:cNvPr id="541" name="TextBox 540"/>
          <p:cNvSpPr txBox="1"/>
          <p:nvPr/>
        </p:nvSpPr>
        <p:spPr>
          <a:xfrm>
            <a:off x="5257800" y="3886200"/>
            <a:ext cx="3383280" cy="640080"/>
          </a:xfrm>
          <a:prstGeom prst="rect">
            <a:avLst/>
          </a:prstGeom>
          <a:noFill/>
        </p:spPr>
        <p:txBody>
          <a:bodyPr wrap="square" anchor="t" lIns="0" rIns="0" tIns="0" bIns="0">
            <a:spAutoFit/>
          </a:bodyPr>
          <a:lstStyle/>
          <a:p>
            <a:pPr algn="l">
              <a:spcAft>
                <a:spcPts val="100"/>
              </a:spcAft>
            </a:pPr>
            <a:r>
              <a:rPr sz="1500" b="1" i="0">
                <a:solidFill>
                  <a:srgbClr val="605F5E"/>
                </a:solidFill>
                <a:latin typeface="League Spartan"/>
              </a:rPr>
              <a:t>Other LMSs</a:t>
            </a:r>
          </a:p>
          <a:p>
            <a:pPr algn="l">
              <a:spcAft>
                <a:spcPts val="600"/>
              </a:spcAft>
            </a:pPr>
            <a:r>
              <a:rPr sz="1100" b="0" i="0">
                <a:solidFill>
                  <a:srgbClr val="605F5E"/>
                </a:solidFill>
                <a:latin typeface="Roboto"/>
              </a:rPr>
              <a:t>Researched Brightspace, Schoology and Buzz</a:t>
            </a:r>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18"/>
                                        </p:tgtEl>
                                        <p:attrNameLst>
                                          <p:attrName>style.visibility</p:attrName>
                                        </p:attrNameLst>
                                      </p:cBhvr>
                                      <p:to>
                                        <p:strVal val="visible"/>
                                      </p:to>
                                    </p:set>
                                    <p:animEffect transition="in" filter="fade">
                                      <p:cBhvr>
                                        <p:cTn id="5" dur="500"/>
                                        <p:tgtEl>
                                          <p:spTgt spid="518"/>
                                        </p:tgtEl>
                                      </p:cBhvr>
                                    </p:animEffect>
                                  </p:childTnLst>
                                </p:cTn>
                              </p:par>
                              <p:par>
                                <p:cTn id="6" presetID="10" presetClass="entr" presetSubtype="0" fill="hold" nodeType="withEffect">
                                  <p:stCondLst>
                                    <p:cond delay="0"/>
                                  </p:stCondLst>
                                  <p:childTnLst>
                                    <p:set>
                                      <p:cBhvr>
                                        <p:cTn id="7" dur="1" fill="hold">
                                          <p:stCondLst>
                                            <p:cond delay="0"/>
                                          </p:stCondLst>
                                        </p:cTn>
                                        <p:tgtEl>
                                          <p:spTgt spid="522"/>
                                        </p:tgtEl>
                                        <p:attrNameLst>
                                          <p:attrName>style.visibility</p:attrName>
                                        </p:attrNameLst>
                                      </p:cBhvr>
                                      <p:to>
                                        <p:strVal val="visible"/>
                                      </p:to>
                                    </p:set>
                                    <p:animEffect transition="in" filter="fade">
                                      <p:cBhvr>
                                        <p:cTn id="8" dur="500"/>
                                        <p:tgtEl>
                                          <p:spTgt spid="522"/>
                                        </p:tgtEl>
                                      </p:cBhvr>
                                    </p:animEffect>
                                  </p:childTnLst>
                                </p:cTn>
                              </p:par>
                              <p:par>
                                <p:cTn id="9" presetID="10" presetClass="entr" presetSubtype="0" fill="hold" nodeType="withEffect">
                                  <p:stCondLst>
                                    <p:cond delay="0"/>
                                  </p:stCondLst>
                                  <p:childTnLst>
                                    <p:set>
                                      <p:cBhvr>
                                        <p:cTn id="10" dur="1" fill="hold">
                                          <p:stCondLst>
                                            <p:cond delay="0"/>
                                          </p:stCondLst>
                                        </p:cTn>
                                        <p:tgtEl>
                                          <p:spTgt spid="538"/>
                                        </p:tgtEl>
                                        <p:attrNameLst>
                                          <p:attrName>style.visibility</p:attrName>
                                        </p:attrNameLst>
                                      </p:cBhvr>
                                      <p:to>
                                        <p:strVal val="visible"/>
                                      </p:to>
                                    </p:set>
                                    <p:animEffect transition="in" filter="fade">
                                      <p:cBhvr>
                                        <p:cTn id="11" dur="500"/>
                                        <p:tgtEl>
                                          <p:spTgt spid="53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19"/>
                                        </p:tgtEl>
                                        <p:attrNameLst>
                                          <p:attrName>style.visibility</p:attrName>
                                        </p:attrNameLst>
                                      </p:cBhvr>
                                      <p:to>
                                        <p:strVal val="visible"/>
                                      </p:to>
                                    </p:set>
                                    <p:animEffect transition="in" filter="fade">
                                      <p:cBhvr>
                                        <p:cTn id="16" dur="500"/>
                                        <p:tgtEl>
                                          <p:spTgt spid="519"/>
                                        </p:tgtEl>
                                      </p:cBhvr>
                                    </p:animEffect>
                                  </p:childTnLst>
                                </p:cTn>
                              </p:par>
                              <p:par>
                                <p:cTn id="17" presetID="10" presetClass="entr" presetSubtype="0" fill="hold" nodeType="withEffect">
                                  <p:stCondLst>
                                    <p:cond delay="0"/>
                                  </p:stCondLst>
                                  <p:childTnLst>
                                    <p:set>
                                      <p:cBhvr>
                                        <p:cTn id="18" dur="1" fill="hold">
                                          <p:stCondLst>
                                            <p:cond delay="0"/>
                                          </p:stCondLst>
                                        </p:cTn>
                                        <p:tgtEl>
                                          <p:spTgt spid="523"/>
                                        </p:tgtEl>
                                        <p:attrNameLst>
                                          <p:attrName>style.visibility</p:attrName>
                                        </p:attrNameLst>
                                      </p:cBhvr>
                                      <p:to>
                                        <p:strVal val="visible"/>
                                      </p:to>
                                    </p:set>
                                    <p:animEffect transition="in" filter="fade">
                                      <p:cBhvr>
                                        <p:cTn id="19" dur="500"/>
                                        <p:tgtEl>
                                          <p:spTgt spid="523"/>
                                        </p:tgtEl>
                                      </p:cBhvr>
                                    </p:animEffect>
                                  </p:childTnLst>
                                </p:cTn>
                              </p:par>
                              <p:par>
                                <p:cTn id="20" presetID="10" presetClass="entr" presetSubtype="0" fill="hold" nodeType="withEffect">
                                  <p:stCondLst>
                                    <p:cond delay="0"/>
                                  </p:stCondLst>
                                  <p:childTnLst>
                                    <p:set>
                                      <p:cBhvr>
                                        <p:cTn id="21" dur="1" fill="hold">
                                          <p:stCondLst>
                                            <p:cond delay="0"/>
                                          </p:stCondLst>
                                        </p:cTn>
                                        <p:tgtEl>
                                          <p:spTgt spid="539"/>
                                        </p:tgtEl>
                                        <p:attrNameLst>
                                          <p:attrName>style.visibility</p:attrName>
                                        </p:attrNameLst>
                                      </p:cBhvr>
                                      <p:to>
                                        <p:strVal val="visible"/>
                                      </p:to>
                                    </p:set>
                                    <p:animEffect transition="in" filter="fade">
                                      <p:cBhvr>
                                        <p:cTn id="22" dur="500"/>
                                        <p:tgtEl>
                                          <p:spTgt spid="539"/>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20"/>
                                        </p:tgtEl>
                                        <p:attrNameLst>
                                          <p:attrName>style.visibility</p:attrName>
                                        </p:attrNameLst>
                                      </p:cBhvr>
                                      <p:to>
                                        <p:strVal val="visible"/>
                                      </p:to>
                                    </p:set>
                                    <p:animEffect transition="in" filter="fade">
                                      <p:cBhvr>
                                        <p:cTn id="27" dur="500"/>
                                        <p:tgtEl>
                                          <p:spTgt spid="520"/>
                                        </p:tgtEl>
                                      </p:cBhvr>
                                    </p:animEffect>
                                  </p:childTnLst>
                                </p:cTn>
                              </p:par>
                              <p:par>
                                <p:cTn id="28" presetID="10" presetClass="entr" presetSubtype="0" fill="hold" nodeType="withEffect">
                                  <p:stCondLst>
                                    <p:cond delay="0"/>
                                  </p:stCondLst>
                                  <p:childTnLst>
                                    <p:set>
                                      <p:cBhvr>
                                        <p:cTn id="29" dur="1" fill="hold">
                                          <p:stCondLst>
                                            <p:cond delay="0"/>
                                          </p:stCondLst>
                                        </p:cTn>
                                        <p:tgtEl>
                                          <p:spTgt spid="524"/>
                                        </p:tgtEl>
                                        <p:attrNameLst>
                                          <p:attrName>style.visibility</p:attrName>
                                        </p:attrNameLst>
                                      </p:cBhvr>
                                      <p:to>
                                        <p:strVal val="visible"/>
                                      </p:to>
                                    </p:set>
                                    <p:animEffect transition="in" filter="fade">
                                      <p:cBhvr>
                                        <p:cTn id="30" dur="500"/>
                                        <p:tgtEl>
                                          <p:spTgt spid="524"/>
                                        </p:tgtEl>
                                      </p:cBhvr>
                                    </p:animEffect>
                                  </p:childTnLst>
                                </p:cTn>
                              </p:par>
                              <p:par>
                                <p:cTn id="31" presetID="10" presetClass="entr" presetSubtype="0" fill="hold" nodeType="withEffect">
                                  <p:stCondLst>
                                    <p:cond delay="0"/>
                                  </p:stCondLst>
                                  <p:childTnLst>
                                    <p:set>
                                      <p:cBhvr>
                                        <p:cTn id="32" dur="1" fill="hold">
                                          <p:stCondLst>
                                            <p:cond delay="0"/>
                                          </p:stCondLst>
                                        </p:cTn>
                                        <p:tgtEl>
                                          <p:spTgt spid="540"/>
                                        </p:tgtEl>
                                        <p:attrNameLst>
                                          <p:attrName>style.visibility</p:attrName>
                                        </p:attrNameLst>
                                      </p:cBhvr>
                                      <p:to>
                                        <p:strVal val="visible"/>
                                      </p:to>
                                    </p:set>
                                    <p:animEffect transition="in" filter="fade">
                                      <p:cBhvr>
                                        <p:cTn id="33" dur="500"/>
                                        <p:tgtEl>
                                          <p:spTgt spid="540"/>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21"/>
                                        </p:tgtEl>
                                        <p:attrNameLst>
                                          <p:attrName>style.visibility</p:attrName>
                                        </p:attrNameLst>
                                      </p:cBhvr>
                                      <p:to>
                                        <p:strVal val="visible"/>
                                      </p:to>
                                    </p:set>
                                    <p:animEffect transition="in" filter="fade">
                                      <p:cBhvr>
                                        <p:cTn id="38" dur="500"/>
                                        <p:tgtEl>
                                          <p:spTgt spid="521"/>
                                        </p:tgtEl>
                                      </p:cBhvr>
                                    </p:animEffect>
                                  </p:childTnLst>
                                </p:cTn>
                              </p:par>
                              <p:par>
                                <p:cTn id="39" presetID="10" presetClass="entr" presetSubtype="0" fill="hold" nodeType="withEffect">
                                  <p:stCondLst>
                                    <p:cond delay="0"/>
                                  </p:stCondLst>
                                  <p:childTnLst>
                                    <p:set>
                                      <p:cBhvr>
                                        <p:cTn id="40" dur="1" fill="hold">
                                          <p:stCondLst>
                                            <p:cond delay="0"/>
                                          </p:stCondLst>
                                        </p:cTn>
                                        <p:tgtEl>
                                          <p:spTgt spid="525"/>
                                        </p:tgtEl>
                                        <p:attrNameLst>
                                          <p:attrName>style.visibility</p:attrName>
                                        </p:attrNameLst>
                                      </p:cBhvr>
                                      <p:to>
                                        <p:strVal val="visible"/>
                                      </p:to>
                                    </p:set>
                                    <p:animEffect transition="in" filter="fade">
                                      <p:cBhvr>
                                        <p:cTn id="41" dur="500"/>
                                        <p:tgtEl>
                                          <p:spTgt spid="525"/>
                                        </p:tgtEl>
                                      </p:cBhvr>
                                    </p:animEffect>
                                  </p:childTnLst>
                                </p:cTn>
                              </p:par>
                              <p:par>
                                <p:cTn id="42" presetID="10" presetClass="entr" presetSubtype="0" fill="hold" nodeType="withEffect">
                                  <p:stCondLst>
                                    <p:cond delay="0"/>
                                  </p:stCondLst>
                                  <p:childTnLst>
                                    <p:set>
                                      <p:cBhvr>
                                        <p:cTn id="43" dur="1" fill="hold">
                                          <p:stCondLst>
                                            <p:cond delay="0"/>
                                          </p:stCondLst>
                                        </p:cTn>
                                        <p:tgtEl>
                                          <p:spTgt spid="541"/>
                                        </p:tgtEl>
                                        <p:attrNameLst>
                                          <p:attrName>style.visibility</p:attrName>
                                        </p:attrNameLst>
                                      </p:cBhvr>
                                      <p:to>
                                        <p:strVal val="visible"/>
                                      </p:to>
                                    </p:set>
                                    <p:animEffect transition="in" filter="fade">
                                      <p:cBhvr>
                                        <p:cTn id="44" dur="500"/>
                                        <p:tgtEl>
                                          <p:spTgt spid="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05F5E"/>
        </a:solidFill>
      </p:bgPr>
    </p:bg>
    <p:spTree>
      <p:nvGrpSpPr>
        <p:cNvPr id="306" name="Shape 306"/>
        <p:cNvGrpSpPr/>
        <p:nvPr/>
      </p:nvGrpSpPr>
      <p:grpSpPr>
        <a:xfrm>
          <a:off x="0" y="0"/>
          <a:ext cx="0" cy="0"/>
          <a:chOff x="0" y="0"/>
          <a:chExt cx="0" cy="0"/>
        </a:xfrm>
      </p:grpSpPr>
      <p:pic>
        <p:nvPicPr>
          <p:cNvPr id="307" name="Google Shape;307;p43"/>
          <p:cNvPicPr preferRelativeResize="0"/>
          <p:nvPr/>
        </p:nvPicPr>
        <p:blipFill rotWithShape="1">
          <a:blip r:embed="rId3">
            <a:alphaModFix/>
          </a:blip>
          <a:srcRect b="0" l="0" r="0" t="0"/>
          <a:stretch/>
        </p:blipFill>
        <p:spPr>
          <a:xfrm flipH="1" rot="5400000">
            <a:off x="0" y="0"/>
            <a:ext cx="2571750" cy="2571750"/>
          </a:xfrm>
          <a:prstGeom prst="rect">
            <a:avLst/>
          </a:prstGeom>
          <a:noFill/>
          <a:ln>
            <a:noFill/>
          </a:ln>
        </p:spPr>
      </p:pic>
      <p:pic>
        <p:nvPicPr>
          <p:cNvPr id="308" name="Google Shape;308;p43"/>
          <p:cNvPicPr preferRelativeResize="0"/>
          <p:nvPr/>
        </p:nvPicPr>
        <p:blipFill rotWithShape="1">
          <a:blip r:embed="rId4">
            <a:alphaModFix/>
          </a:blip>
          <a:srcRect b="0" l="0" r="0" t="0"/>
          <a:stretch/>
        </p:blipFill>
        <p:spPr>
          <a:xfrm rot="5400000">
            <a:off x="0" y="3792331"/>
            <a:ext cx="1351170" cy="1351169"/>
          </a:xfrm>
          <a:prstGeom prst="rect">
            <a:avLst/>
          </a:prstGeom>
          <a:noFill/>
          <a:ln>
            <a:noFill/>
          </a:ln>
        </p:spPr>
      </p:pic>
      <p:sp>
        <p:nvSpPr>
          <p:cNvPr id="309" name="Google Shape;309;p43"/>
          <p:cNvSpPr/>
          <p:nvPr/>
        </p:nvSpPr>
        <p:spPr>
          <a:xfrm>
            <a:off x="514350" y="514350"/>
            <a:ext cx="3808641" cy="4113621"/>
          </a:xfrm>
          <a:custGeom>
            <a:rect b="b" l="l" r="r" t="t"/>
            <a:pathLst>
              <a:path extrusionOk="0" h="2067146" w="1913890">
                <a:moveTo>
                  <a:pt x="1789430" y="2067146"/>
                </a:moveTo>
                <a:lnTo>
                  <a:pt x="124460" y="2067146"/>
                </a:lnTo>
                <a:cubicBezTo>
                  <a:pt x="55880" y="2067146"/>
                  <a:pt x="0" y="2011266"/>
                  <a:pt x="0" y="1942686"/>
                </a:cubicBezTo>
                <a:lnTo>
                  <a:pt x="0" y="124460"/>
                </a:lnTo>
                <a:cubicBezTo>
                  <a:pt x="0" y="55880"/>
                  <a:pt x="55880" y="0"/>
                  <a:pt x="124460" y="0"/>
                </a:cubicBezTo>
                <a:lnTo>
                  <a:pt x="1789430" y="0"/>
                </a:lnTo>
                <a:cubicBezTo>
                  <a:pt x="1858010" y="0"/>
                  <a:pt x="1913890" y="55880"/>
                  <a:pt x="1913890" y="124460"/>
                </a:cubicBezTo>
                <a:lnTo>
                  <a:pt x="1913890" y="1942686"/>
                </a:lnTo>
                <a:cubicBezTo>
                  <a:pt x="1913890" y="2011266"/>
                  <a:pt x="1858010" y="2067146"/>
                  <a:pt x="1789430" y="2067146"/>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313" name="Google Shape;313;p43"/>
          <p:cNvGrpSpPr/>
          <p:nvPr/>
        </p:nvGrpSpPr>
        <p:grpSpPr>
          <a:xfrm>
            <a:off x="7704129" y="4183226"/>
            <a:ext cx="915496" cy="471026"/>
            <a:chOff x="61924" y="79616"/>
            <a:chExt cx="2441323" cy="1256068"/>
          </a:xfrm>
        </p:grpSpPr>
        <p:sp>
          <p:nvSpPr>
            <p:cNvPr id="314" name="Google Shape;314;p43"/>
            <p:cNvSpPr/>
            <p:nvPr/>
          </p:nvSpPr>
          <p:spPr>
            <a:xfrm>
              <a:off x="61924" y="79616"/>
              <a:ext cx="2441323" cy="1256068"/>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315" name="Google Shape;315;p43"/>
            <p:cNvPicPr preferRelativeResize="0"/>
            <p:nvPr/>
          </p:nvPicPr>
          <p:blipFill rotWithShape="1">
            <a:blip r:embed="rId5">
              <a:alphaModFix/>
            </a:blip>
            <a:srcRect b="0" l="0" r="0" t="0"/>
            <a:stretch/>
          </p:blipFill>
          <p:spPr>
            <a:xfrm>
              <a:off x="1328489" y="190500"/>
              <a:ext cx="1034400" cy="1034400"/>
            </a:xfrm>
            <a:prstGeom prst="rect">
              <a:avLst/>
            </a:prstGeom>
            <a:noFill/>
            <a:ln>
              <a:noFill/>
            </a:ln>
          </p:spPr>
        </p:pic>
      </p:grpSp>
      <p:pic>
        <p:nvPicPr>
          <p:cNvPr id="316" name="Google Shape;316;p43"/>
          <p:cNvPicPr preferRelativeResize="0"/>
          <p:nvPr/>
        </p:nvPicPr>
        <p:blipFill rotWithShape="1">
          <a:blip r:embed="rId6">
            <a:alphaModFix/>
          </a:blip>
          <a:srcRect b="0" l="0" r="0" t="0"/>
          <a:stretch/>
        </p:blipFill>
        <p:spPr>
          <a:xfrm>
            <a:off x="8236813" y="4282529"/>
            <a:ext cx="272458" cy="272458"/>
          </a:xfrm>
          <a:prstGeom prst="rect">
            <a:avLst/>
          </a:prstGeom>
          <a:noFill/>
          <a:ln>
            <a:noFill/>
          </a:ln>
        </p:spPr>
      </p:pic>
      <p:pic>
        <p:nvPicPr>
          <p:cNvPr id="317" name="Google Shape;317;p43"/>
          <p:cNvPicPr preferRelativeResize="0"/>
          <p:nvPr/>
        </p:nvPicPr>
        <p:blipFill rotWithShape="1">
          <a:blip r:embed="rId7">
            <a:alphaModFix/>
          </a:blip>
          <a:srcRect b="0" l="0" r="0" t="0"/>
          <a:stretch/>
        </p:blipFill>
        <p:spPr>
          <a:xfrm>
            <a:off x="79132" y="4418758"/>
            <a:ext cx="1078263" cy="653248"/>
          </a:xfrm>
          <a:prstGeom prst="rect">
            <a:avLst/>
          </a:prstGeom>
          <a:noFill/>
          <a:ln>
            <a:noFill/>
          </a:ln>
        </p:spPr>
      </p:pic>
      <p:sp>
        <p:nvSpPr>
          <p:cNvPr id="318" name="Google Shape;318;p43"/>
          <p:cNvSpPr/>
          <p:nvPr/>
        </p:nvSpPr>
        <p:spPr>
          <a:xfrm>
            <a:off x="4740950" y="4554975"/>
            <a:ext cx="1374000" cy="1344900"/>
          </a:xfrm>
          <a:prstGeom prst="donut">
            <a:avLst>
              <a:gd fmla="val 13443" name="adj"/>
            </a:avLst>
          </a:prstGeom>
          <a:solidFill>
            <a:srgbClr val="C0C0C0"/>
          </a:solidFill>
          <a:ln cap="flat" cmpd="sng" w="9525">
            <a:solidFill>
              <a:srgbClr val="C0C0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Rounded Rectangle 318"/>
          <p:cNvSpPr/>
          <p:nvPr/>
        </p:nvSpPr>
        <p:spPr>
          <a:xfrm>
            <a:off x="960120" y="1097280"/>
            <a:ext cx="2926080" cy="2926080"/>
          </a:xfrm>
          <a:prstGeom prst="roundRect">
            <a:avLst/>
          </a:prstGeom>
          <a:solidFill>
            <a:srgbClr val="FFFFFF"/>
          </a:solidFill>
          <a:ln w="19050">
            <a:solidFill>
              <a:srgbClr val="96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60000"/>
                </a:solidFill>
                <a:latin typeface="Roboto"/>
              </a:rPr>
              <a:t>QR code for the Google Form
[FORM URL PLACEHOLDER]</a:t>
            </a:r>
          </a:p>
        </p:txBody>
      </p:sp>
      <p:sp>
        <p:nvSpPr>
          <p:cNvPr id="320" name="TextBox 319"/>
          <p:cNvSpPr txBox="1"/>
          <p:nvPr/>
        </p:nvSpPr>
        <p:spPr>
          <a:xfrm>
            <a:off x="4846320" y="685800"/>
            <a:ext cx="3840480" cy="548640"/>
          </a:xfrm>
          <a:prstGeom prst="rect">
            <a:avLst/>
          </a:prstGeom>
          <a:noFill/>
        </p:spPr>
        <p:txBody>
          <a:bodyPr wrap="square" anchor="t" lIns="0" rIns="0" tIns="0" bIns="0">
            <a:spAutoFit/>
          </a:bodyPr>
          <a:lstStyle/>
          <a:p>
            <a:pPr algn="l">
              <a:spcAft>
                <a:spcPts val="0"/>
              </a:spcAft>
            </a:pPr>
            <a:r>
              <a:rPr sz="3200" b="1" i="0">
                <a:solidFill>
                  <a:srgbClr val="FFFFFF"/>
                </a:solidFill>
                <a:latin typeface="League Spartan"/>
              </a:rPr>
              <a:t>Want the Code?</a:t>
            </a:r>
          </a:p>
        </p:txBody>
      </p:sp>
      <p:sp>
        <p:nvSpPr>
          <p:cNvPr id="321" name="TextBox 320"/>
          <p:cNvSpPr txBox="1"/>
          <p:nvPr/>
        </p:nvSpPr>
        <p:spPr>
          <a:xfrm>
            <a:off x="4846320" y="1417320"/>
            <a:ext cx="3749039" cy="2651760"/>
          </a:xfrm>
          <a:prstGeom prst="rect">
            <a:avLst/>
          </a:prstGeom>
          <a:noFill/>
        </p:spPr>
        <p:txBody>
          <a:bodyPr wrap="square" anchor="t" lIns="0" rIns="0" tIns="0" bIns="0">
            <a:spAutoFit/>
          </a:bodyPr>
          <a:lstStyle/>
          <a:p>
            <a:pPr algn="l">
              <a:spcAft>
                <a:spcPts val="600"/>
              </a:spcAft>
            </a:pPr>
            <a:r>
              <a:rPr sz="1400" b="0" i="0">
                <a:solidFill>
                  <a:srgbClr val="FFFFFF"/>
                </a:solidFill>
                <a:latin typeface="Roboto"/>
              </a:rPr>
              <a:t>Scan to get the code when we release it</a:t>
            </a:r>
          </a:p>
          <a:p>
            <a:pPr algn="l">
              <a:spcAft>
                <a:spcPts val="1200"/>
              </a:spcAft>
            </a:pPr>
            <a:r>
              <a:rPr sz="1400" b="1" i="0">
                <a:solidFill>
                  <a:srgbClr val="25AEFA"/>
                </a:solidFill>
                <a:latin typeface="Roboto"/>
              </a:rPr>
              <a:t>[short link]</a:t>
            </a:r>
          </a:p>
          <a:p>
            <a:pPr algn="l">
              <a:spcAft>
                <a:spcPts val="600"/>
              </a:spcAft>
            </a:pPr>
            <a:r>
              <a:rPr sz="1400" b="0" i="0">
                <a:solidFill>
                  <a:srgbClr val="FFFFFF"/>
                </a:solidFill>
                <a:latin typeface="Roboto"/>
              </a:rPr>
              <a:t>If you build zests, I want to trade</a:t>
            </a:r>
          </a:p>
          <a:p>
            <a:pPr algn="l">
              <a:spcAft>
                <a:spcPts val="1400"/>
              </a:spcAft>
            </a:pPr>
            <a:r>
              <a:rPr sz="1400" b="1" i="0">
                <a:solidFill>
                  <a:srgbClr val="FFFFFF"/>
                </a:solidFill>
                <a:latin typeface="Roboto"/>
              </a:rPr>
              <a:t>kyle.yancey@virtualarkansas.org</a:t>
            </a:r>
          </a:p>
          <a:p>
            <a:pPr algn="l">
              <a:spcAft>
                <a:spcPts val="600"/>
              </a:spcAft>
            </a:pPr>
            <a:r>
              <a:rPr sz="1800" b="1" i="0">
                <a:solidFill>
                  <a:srgbClr val="FFFFFF"/>
                </a:solidFill>
                <a:latin typeface="League Spartan"/>
              </a:rPr>
              <a:t>Thank you for your time 😊</a:t>
            </a:r>
          </a:p>
        </p:txBody>
      </p:sp>
      <p:sp>
        <p:nvSpPr>
          <p:cNvPr id="322" name="TextBox 321"/>
          <p:cNvSpPr txBox="1"/>
          <p:nvPr/>
        </p:nvSpPr>
        <p:spPr>
          <a:xfrm>
            <a:off x="4846320" y="3977639"/>
            <a:ext cx="2743200" cy="457200"/>
          </a:xfrm>
          <a:prstGeom prst="rect">
            <a:avLst/>
          </a:prstGeom>
          <a:noFill/>
        </p:spPr>
        <p:txBody>
          <a:bodyPr wrap="square" anchor="t" lIns="0" rIns="0" tIns="0" bIns="0">
            <a:spAutoFit/>
          </a:bodyPr>
          <a:lstStyle/>
          <a:p>
            <a:pPr algn="l">
              <a:spcAft>
                <a:spcPts val="600"/>
              </a:spcAft>
            </a:pPr>
            <a:r>
              <a:rPr sz="800" b="0" i="0">
                <a:solidFill>
                  <a:srgbClr val="FFFFFF"/>
                </a:solidFill>
                <a:latin typeface="Roboto"/>
              </a:rPr>
              <a:t>“Zest” and “Zestable” are trademarks of Virtual Arkansas (applications pending).</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05F5E"/>
        </a:solidFill>
      </p:bgPr>
    </p:bg>
    <p:spTree>
      <p:nvGrpSpPr>
        <p:cNvPr id="187" name="Shape 187"/>
        <p:cNvGrpSpPr/>
        <p:nvPr/>
      </p:nvGrpSpPr>
      <p:grpSpPr>
        <a:xfrm>
          <a:off x="0" y="0"/>
          <a:ext cx="0" cy="0"/>
          <a:chOff x="0" y="0"/>
          <a:chExt cx="0" cy="0"/>
        </a:xfrm>
      </p:grpSpPr>
      <p:sp>
        <p:nvSpPr>
          <p:cNvPr id="188" name="Google Shape;188;p38"/>
          <p:cNvSpPr/>
          <p:nvPr/>
        </p:nvSpPr>
        <p:spPr>
          <a:xfrm>
            <a:off x="7704129" y="4183226"/>
            <a:ext cx="916591" cy="471589"/>
          </a:xfrm>
          <a:custGeom>
            <a:rect b="b" l="l" r="r" t="t"/>
            <a:pathLst>
              <a:path extrusionOk="0" h="360680" w="701026">
                <a:moveTo>
                  <a:pt x="701026" y="180340"/>
                </a:moveTo>
                <a:cubicBezTo>
                  <a:pt x="701026" y="81280"/>
                  <a:pt x="621016" y="0"/>
                  <a:pt x="520686" y="0"/>
                </a:cubicBezTo>
                <a:lnTo>
                  <a:pt x="172720" y="0"/>
                </a:lnTo>
                <a:lnTo>
                  <a:pt x="172720" y="1270"/>
                </a:lnTo>
                <a:cubicBezTo>
                  <a:pt x="76200" y="5080"/>
                  <a:pt x="0" y="83820"/>
                  <a:pt x="0" y="180340"/>
                </a:cubicBezTo>
                <a:cubicBezTo>
                  <a:pt x="0" y="276860"/>
                  <a:pt x="77470" y="355600"/>
                  <a:pt x="172720" y="359410"/>
                </a:cubicBezTo>
                <a:lnTo>
                  <a:pt x="172720" y="360680"/>
                </a:lnTo>
                <a:lnTo>
                  <a:pt x="520685" y="360680"/>
                </a:lnTo>
                <a:cubicBezTo>
                  <a:pt x="619745" y="360680"/>
                  <a:pt x="701025" y="279400"/>
                  <a:pt x="701025" y="180340"/>
                </a:cubicBezTo>
                <a:close/>
              </a:path>
            </a:pathLst>
          </a:custGeom>
          <a:solidFill>
            <a:srgbClr val="C0C0C0">
              <a:alpha val="25490"/>
            </a:srgbClr>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grpSp>
        <p:nvGrpSpPr>
          <p:cNvPr id="189" name="Google Shape;189;p38"/>
          <p:cNvGrpSpPr/>
          <p:nvPr/>
        </p:nvGrpSpPr>
        <p:grpSpPr>
          <a:xfrm>
            <a:off x="8179092" y="4224808"/>
            <a:ext cx="387900" cy="387900"/>
            <a:chOff x="0" y="0"/>
            <a:chExt cx="1034400" cy="1034400"/>
          </a:xfrm>
        </p:grpSpPr>
        <p:pic>
          <p:nvPicPr>
            <p:cNvPr id="190" name="Google Shape;190;p38"/>
            <p:cNvPicPr preferRelativeResize="0"/>
            <p:nvPr/>
          </p:nvPicPr>
          <p:blipFill rotWithShape="1">
            <a:blip r:embed="rId3">
              <a:alphaModFix/>
            </a:blip>
            <a:srcRect b="0" l="0" r="0" t="0"/>
            <a:stretch/>
          </p:blipFill>
          <p:spPr>
            <a:xfrm>
              <a:off x="0" y="0"/>
              <a:ext cx="1034400" cy="1034400"/>
            </a:xfrm>
            <a:prstGeom prst="rect">
              <a:avLst/>
            </a:prstGeom>
            <a:noFill/>
            <a:ln>
              <a:noFill/>
            </a:ln>
          </p:spPr>
        </p:pic>
        <p:pic>
          <p:nvPicPr>
            <p:cNvPr id="191" name="Google Shape;191;p38"/>
            <p:cNvPicPr preferRelativeResize="0"/>
            <p:nvPr/>
          </p:nvPicPr>
          <p:blipFill rotWithShape="1">
            <a:blip r:embed="rId4">
              <a:alphaModFix/>
            </a:blip>
            <a:srcRect b="0" l="0" r="0" t="0"/>
            <a:stretch/>
          </p:blipFill>
          <p:spPr>
            <a:xfrm>
              <a:off x="153923" y="153923"/>
              <a:ext cx="726554" cy="726554"/>
            </a:xfrm>
            <a:prstGeom prst="rect">
              <a:avLst/>
            </a:prstGeom>
            <a:noFill/>
            <a:ln>
              <a:noFill/>
            </a:ln>
          </p:spPr>
        </p:pic>
      </p:grpSp>
      <p:pic>
        <p:nvPicPr>
          <p:cNvPr id="192" name="Google Shape;192;p38"/>
          <p:cNvPicPr preferRelativeResize="0"/>
          <p:nvPr/>
        </p:nvPicPr>
        <p:blipFill rotWithShape="1">
          <a:blip r:embed="rId5">
            <a:alphaModFix/>
          </a:blip>
          <a:srcRect b="0" l="0" r="0" t="0"/>
          <a:stretch/>
        </p:blipFill>
        <p:spPr>
          <a:xfrm flipH="1" rot="10800000">
            <a:off x="8414388" y="0"/>
            <a:ext cx="729613" cy="729613"/>
          </a:xfrm>
          <a:prstGeom prst="rect">
            <a:avLst/>
          </a:prstGeom>
          <a:noFill/>
          <a:ln>
            <a:noFill/>
          </a:ln>
        </p:spPr>
      </p:pic>
      <p:pic>
        <p:nvPicPr>
          <p:cNvPr id="193" name="Google Shape;193;p38"/>
          <p:cNvPicPr preferRelativeResize="0"/>
          <p:nvPr/>
        </p:nvPicPr>
        <p:blipFill rotWithShape="1">
          <a:blip r:embed="rId6">
            <a:alphaModFix/>
          </a:blip>
          <a:srcRect b="0" l="0" r="0" t="0"/>
          <a:stretch/>
        </p:blipFill>
        <p:spPr>
          <a:xfrm rot="5400000">
            <a:off x="0" y="3792331"/>
            <a:ext cx="1351170" cy="1351169"/>
          </a:xfrm>
          <a:prstGeom prst="rect">
            <a:avLst/>
          </a:prstGeom>
          <a:noFill/>
          <a:ln>
            <a:noFill/>
          </a:ln>
        </p:spPr>
      </p:pic>
      <p:sp>
        <p:nvSpPr>
          <p:cNvPr id="197" name="Google Shape;197;p38"/>
          <p:cNvSpPr/>
          <p:nvPr/>
        </p:nvSpPr>
        <p:spPr>
          <a:xfrm>
            <a:off x="526885" y="514350"/>
            <a:ext cx="4467261" cy="4113477"/>
          </a:xfrm>
          <a:custGeom>
            <a:rect b="b" l="l" r="r" t="t"/>
            <a:pathLst>
              <a:path extrusionOk="0" h="2527482" w="2744861">
                <a:moveTo>
                  <a:pt x="2620401" y="2527481"/>
                </a:moveTo>
                <a:lnTo>
                  <a:pt x="124460" y="2527481"/>
                </a:lnTo>
                <a:cubicBezTo>
                  <a:pt x="55880" y="2527481"/>
                  <a:pt x="0" y="2471601"/>
                  <a:pt x="0" y="2403021"/>
                </a:cubicBezTo>
                <a:lnTo>
                  <a:pt x="0" y="124460"/>
                </a:lnTo>
                <a:cubicBezTo>
                  <a:pt x="0" y="55880"/>
                  <a:pt x="55880" y="0"/>
                  <a:pt x="124460" y="0"/>
                </a:cubicBezTo>
                <a:lnTo>
                  <a:pt x="2620401" y="0"/>
                </a:lnTo>
                <a:cubicBezTo>
                  <a:pt x="2688981" y="0"/>
                  <a:pt x="2744861" y="55880"/>
                  <a:pt x="2744861" y="124460"/>
                </a:cubicBezTo>
                <a:lnTo>
                  <a:pt x="2744861" y="2403022"/>
                </a:lnTo>
                <a:cubicBezTo>
                  <a:pt x="2744861" y="2471601"/>
                  <a:pt x="2688981" y="2527482"/>
                  <a:pt x="2620401" y="2527482"/>
                </a:cubicBezTo>
                <a:close/>
              </a:path>
            </a:pathLst>
          </a:cu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pic>
        <p:nvPicPr>
          <p:cNvPr id="205" name="Google Shape;205;p38"/>
          <p:cNvPicPr preferRelativeResize="0"/>
          <p:nvPr/>
        </p:nvPicPr>
        <p:blipFill rotWithShape="1">
          <a:blip r:embed="rId7">
            <a:alphaModFix/>
          </a:blip>
          <a:srcRect b="0" l="0" r="0" t="0"/>
          <a:stretch/>
        </p:blipFill>
        <p:spPr>
          <a:xfrm>
            <a:off x="79132" y="4418758"/>
            <a:ext cx="1078263" cy="653248"/>
          </a:xfrm>
          <a:prstGeom prst="rect">
            <a:avLst/>
          </a:prstGeom>
          <a:noFill/>
          <a:ln>
            <a:noFill/>
          </a:ln>
        </p:spPr>
      </p:pic>
      <p:sp>
        <p:nvSpPr>
          <p:cNvPr id="206" name="Rounded Rectangle 205"/>
          <p:cNvSpPr/>
          <p:nvPr/>
        </p:nvSpPr>
        <p:spPr>
          <a:xfrm>
            <a:off x="1280160" y="1097280"/>
            <a:ext cx="2926080" cy="2926080"/>
          </a:xfrm>
          <a:prstGeom prst="roundRect">
            <a:avLst/>
          </a:prstGeom>
          <a:solidFill>
            <a:srgbClr val="FFFFFF"/>
          </a:solidFill>
          <a:ln w="19050">
            <a:solidFill>
              <a:srgbClr val="96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960000"/>
                </a:solidFill>
                <a:latin typeface="Roboto"/>
              </a:rPr>
              <a:t>Same QR code
[FORM URL PLACEHOLDER]</a:t>
            </a:r>
          </a:p>
        </p:txBody>
      </p:sp>
      <p:sp>
        <p:nvSpPr>
          <p:cNvPr id="207" name="TextBox 206"/>
          <p:cNvSpPr txBox="1"/>
          <p:nvPr/>
        </p:nvSpPr>
        <p:spPr>
          <a:xfrm>
            <a:off x="5486400" y="1280160"/>
            <a:ext cx="3108960" cy="914400"/>
          </a:xfrm>
          <a:prstGeom prst="rect">
            <a:avLst/>
          </a:prstGeom>
          <a:noFill/>
        </p:spPr>
        <p:txBody>
          <a:bodyPr wrap="square" anchor="t" lIns="0" rIns="0" tIns="0" bIns="0">
            <a:spAutoFit/>
          </a:bodyPr>
          <a:lstStyle/>
          <a:p>
            <a:pPr algn="l">
              <a:spcAft>
                <a:spcPts val="0"/>
              </a:spcAft>
            </a:pPr>
            <a:r>
              <a:rPr sz="3600" b="1" i="0">
                <a:solidFill>
                  <a:srgbClr val="FFFFFF"/>
                </a:solidFill>
                <a:latin typeface="League Spartan"/>
              </a:rPr>
              <a:t>Questions?</a:t>
            </a:r>
          </a:p>
        </p:txBody>
      </p:sp>
      <p:sp>
        <p:nvSpPr>
          <p:cNvPr id="208" name="TextBox 207"/>
          <p:cNvSpPr txBox="1"/>
          <p:nvPr/>
        </p:nvSpPr>
        <p:spPr>
          <a:xfrm>
            <a:off x="5486400" y="2194560"/>
            <a:ext cx="3017520" cy="914400"/>
          </a:xfrm>
          <a:prstGeom prst="rect">
            <a:avLst/>
          </a:prstGeom>
          <a:noFill/>
        </p:spPr>
        <p:txBody>
          <a:bodyPr wrap="square" anchor="t" lIns="0" rIns="0" tIns="0" bIns="0">
            <a:spAutoFit/>
          </a:bodyPr>
          <a:lstStyle/>
          <a:p>
            <a:pPr algn="l">
              <a:spcAft>
                <a:spcPts val="600"/>
              </a:spcAft>
            </a:pPr>
            <a:r>
              <a:rPr sz="1300" b="0" i="0">
                <a:solidFill>
                  <a:srgbClr val="FFFFFF"/>
                </a:solidFill>
                <a:latin typeface="Roboto"/>
              </a:rPr>
              <a:t>kyle.yancey@virtualarkansas.org</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